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1" r:id="rId2"/>
    <p:sldId id="337" r:id="rId3"/>
    <p:sldId id="335" r:id="rId4"/>
    <p:sldId id="354" r:id="rId5"/>
    <p:sldId id="351" r:id="rId6"/>
    <p:sldId id="341" r:id="rId7"/>
    <p:sldId id="348" r:id="rId8"/>
    <p:sldId id="339" r:id="rId9"/>
    <p:sldId id="342" r:id="rId10"/>
    <p:sldId id="361" r:id="rId11"/>
    <p:sldId id="362" r:id="rId12"/>
    <p:sldId id="363" r:id="rId13"/>
    <p:sldId id="344" r:id="rId14"/>
    <p:sldId id="343" r:id="rId15"/>
    <p:sldId id="352" r:id="rId16"/>
    <p:sldId id="358" r:id="rId17"/>
    <p:sldId id="357" r:id="rId18"/>
    <p:sldId id="359" r:id="rId19"/>
    <p:sldId id="355" r:id="rId20"/>
    <p:sldId id="349" r:id="rId21"/>
    <p:sldId id="35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D9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54"/>
    <p:restoredTop sz="88032"/>
  </p:normalViewPr>
  <p:slideViewPr>
    <p:cSldViewPr snapToGrid="0">
      <p:cViewPr varScale="1">
        <p:scale>
          <a:sx n="195" d="100"/>
          <a:sy n="195" d="100"/>
        </p:scale>
        <p:origin x="20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B Fernandes" userId="6d96ad7d-4ada-4a90-936f-060428e74a02" providerId="ADAL" clId="{EBAE36E1-9894-586F-B819-C899ECA05CC1}"/>
    <pc:docChg chg="delSld modSld">
      <pc:chgData name="Samuel B Fernandes" userId="6d96ad7d-4ada-4a90-936f-060428e74a02" providerId="ADAL" clId="{EBAE36E1-9894-586F-B819-C899ECA05CC1}" dt="2026-04-20T15:21:29.726" v="4" actId="2696"/>
      <pc:docMkLst>
        <pc:docMk/>
      </pc:docMkLst>
      <pc:sldChg chg="del">
        <pc:chgData name="Samuel B Fernandes" userId="6d96ad7d-4ada-4a90-936f-060428e74a02" providerId="ADAL" clId="{EBAE36E1-9894-586F-B819-C899ECA05CC1}" dt="2026-04-20T15:21:29.726" v="4" actId="2696"/>
        <pc:sldMkLst>
          <pc:docMk/>
          <pc:sldMk cId="3903830509" sldId="333"/>
        </pc:sldMkLst>
      </pc:sldChg>
      <pc:sldChg chg="modSp mod">
        <pc:chgData name="Samuel B Fernandes" userId="6d96ad7d-4ada-4a90-936f-060428e74a02" providerId="ADAL" clId="{EBAE36E1-9894-586F-B819-C899ECA05CC1}" dt="2026-04-20T15:16:36.895" v="3" actId="1035"/>
        <pc:sldMkLst>
          <pc:docMk/>
          <pc:sldMk cId="217786052" sldId="358"/>
        </pc:sldMkLst>
        <pc:picChg chg="mod">
          <ac:chgData name="Samuel B Fernandes" userId="6d96ad7d-4ada-4a90-936f-060428e74a02" providerId="ADAL" clId="{EBAE36E1-9894-586F-B819-C899ECA05CC1}" dt="2026-04-20T15:16:36.895" v="3" actId="1035"/>
          <ac:picMkLst>
            <pc:docMk/>
            <pc:sldMk cId="217786052" sldId="358"/>
            <ac:picMk id="6" creationId="{9CF63FB2-71F8-617C-F992-0478D460D336}"/>
          </ac:picMkLst>
        </pc:picChg>
      </pc:sldChg>
      <pc:sldChg chg="del">
        <pc:chgData name="Samuel B Fernandes" userId="6d96ad7d-4ada-4a90-936f-060428e74a02" providerId="ADAL" clId="{EBAE36E1-9894-586F-B819-C899ECA05CC1}" dt="2026-04-20T15:00:59.890" v="0" actId="2696"/>
        <pc:sldMkLst>
          <pc:docMk/>
          <pc:sldMk cId="627088108" sldId="3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76F276-EE6D-DF4F-8392-FA3E83168DD8}"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35B9D-3EDA-0B44-BE90-13B8E384F9BE}" type="slidenum">
              <a:rPr lang="en-US" smtClean="0"/>
              <a:t>‹#›</a:t>
            </a:fld>
            <a:endParaRPr lang="en-US"/>
          </a:p>
        </p:txBody>
      </p:sp>
    </p:spTree>
    <p:extLst>
      <p:ext uri="{BB962C8B-B14F-4D97-AF65-F5344CB8AC3E}">
        <p14:creationId xmlns:p14="http://schemas.microsoft.com/office/powerpoint/2010/main" val="282210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1</a:t>
            </a:fld>
            <a:endParaRPr lang="en-US"/>
          </a:p>
        </p:txBody>
      </p:sp>
    </p:spTree>
    <p:extLst>
      <p:ext uri="{BB962C8B-B14F-4D97-AF65-F5344CB8AC3E}">
        <p14:creationId xmlns:p14="http://schemas.microsoft.com/office/powerpoint/2010/main" val="480227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5</a:t>
            </a:fld>
            <a:endParaRPr lang="en-US"/>
          </a:p>
        </p:txBody>
      </p:sp>
    </p:spTree>
    <p:extLst>
      <p:ext uri="{BB962C8B-B14F-4D97-AF65-F5344CB8AC3E}">
        <p14:creationId xmlns:p14="http://schemas.microsoft.com/office/powerpoint/2010/main" val="1550458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435B9D-3EDA-0B44-BE90-13B8E384F9BE}" type="slidenum">
              <a:rPr lang="en-US" smtClean="0"/>
              <a:t>7</a:t>
            </a:fld>
            <a:endParaRPr lang="en-US"/>
          </a:p>
        </p:txBody>
      </p:sp>
    </p:spTree>
    <p:extLst>
      <p:ext uri="{BB962C8B-B14F-4D97-AF65-F5344CB8AC3E}">
        <p14:creationId xmlns:p14="http://schemas.microsoft.com/office/powerpoint/2010/main" val="2377368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replication in the factorial and axial part, more reps at the center provides better predictions</a:t>
            </a:r>
          </a:p>
        </p:txBody>
      </p:sp>
      <p:sp>
        <p:nvSpPr>
          <p:cNvPr id="4" name="Slide Number Placeholder 3"/>
          <p:cNvSpPr>
            <a:spLocks noGrp="1"/>
          </p:cNvSpPr>
          <p:nvPr>
            <p:ph type="sldNum" sz="quarter" idx="5"/>
          </p:nvPr>
        </p:nvSpPr>
        <p:spPr/>
        <p:txBody>
          <a:bodyPr/>
          <a:lstStyle/>
          <a:p>
            <a:fld id="{B6435B9D-3EDA-0B44-BE90-13B8E384F9BE}" type="slidenum">
              <a:rPr lang="en-US" smtClean="0"/>
              <a:t>8</a:t>
            </a:fld>
            <a:endParaRPr lang="en-US"/>
          </a:p>
        </p:txBody>
      </p:sp>
    </p:spTree>
    <p:extLst>
      <p:ext uri="{BB962C8B-B14F-4D97-AF65-F5344CB8AC3E}">
        <p14:creationId xmlns:p14="http://schemas.microsoft.com/office/powerpoint/2010/main" val="1629751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C9F5-46A5-E653-ACEB-98E3E8BCA1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18A73D-E705-8722-ABD6-4C3DC95779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E43EEB-BF3C-0C38-567A-EE22C3EB8DAA}"/>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1CE05733-F42D-587B-A3E9-FAADA814F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9F5F9E-66CF-FD89-ADA5-7DFF8F1BD7FA}"/>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823970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7E441-6BD7-0ECB-9CFF-B3E2CDF770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0D85AD-9B07-A82C-4456-4B0978DF32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882FD0-AC30-733B-65D7-42BC9B78DD2B}"/>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6B0EFF81-D8DB-8EF2-26B2-DEDF59651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AF5FB-E667-C6C6-9BAA-2D7779D8E4FC}"/>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912958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877C2-8C0C-CED4-2C3D-DC9A27B273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83ED89E-02F7-2213-D1E7-DA79F625A0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C65A36-7990-B9CD-BFAF-59603572CDBF}"/>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99948799-DFB5-F958-59AC-F4395C8D6A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E58546-3C9B-5272-BED6-9863BF3D97AC}"/>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785248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17884-3EF4-7C0C-C0F0-C89E4705DA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74C622-5669-D61A-4BA7-8C841C053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41514FC-7BA8-A86E-E1F6-C9C78AD432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3EC73C-9134-2336-771D-626E6273A1D5}"/>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6" name="Footer Placeholder 5">
            <a:extLst>
              <a:ext uri="{FF2B5EF4-FFF2-40B4-BE49-F238E27FC236}">
                <a16:creationId xmlns:a16="http://schemas.microsoft.com/office/drawing/2014/main" id="{B58D6D73-F61F-BBA0-2B42-B394CFAD1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B3EC6-87AA-2BAF-B417-3B7322FFA35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358628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3C3B-289F-A2BD-756F-E3DE140EC0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EA9B30-5D19-50A3-7E96-9C7F090E9F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D31310-634C-1E53-9F48-FE9AF1104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8B293D-0718-487B-F8BF-3D7C46E3C4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BA86BE-3680-095B-ABCC-4C73886965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2D3D9B-9CBF-A94E-6C16-ADB235B3B87F}"/>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8" name="Footer Placeholder 7">
            <a:extLst>
              <a:ext uri="{FF2B5EF4-FFF2-40B4-BE49-F238E27FC236}">
                <a16:creationId xmlns:a16="http://schemas.microsoft.com/office/drawing/2014/main" id="{F797E7B1-A571-70A9-8D8D-226AFC65C6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B4F61C-E138-EABD-149F-085314F1B9FB}"/>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3484031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1C6D-D7F2-0C84-3F85-39F036ADA1C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E28DE3-67E5-9048-7222-7E2F00AB4786}"/>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4" name="Footer Placeholder 3">
            <a:extLst>
              <a:ext uri="{FF2B5EF4-FFF2-40B4-BE49-F238E27FC236}">
                <a16:creationId xmlns:a16="http://schemas.microsoft.com/office/drawing/2014/main" id="{4A85064C-B08A-7C41-D193-B885D3D64C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C2875FA-D5F3-4CC0-468D-E437334D23F8}"/>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4064267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C8E29-A532-A4CD-6681-1996D63792C2}"/>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3" name="Footer Placeholder 2">
            <a:extLst>
              <a:ext uri="{FF2B5EF4-FFF2-40B4-BE49-F238E27FC236}">
                <a16:creationId xmlns:a16="http://schemas.microsoft.com/office/drawing/2014/main" id="{0BABECE6-813E-63D5-980D-78EE0965E4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C56F51-1710-F337-9CD2-D879676EE77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632366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C4F62-4911-E925-4BB6-C9EB17379E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B2E16F-93E1-CB4C-34F3-37E8A9F439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C0CC38-AE8A-6866-52E4-7A672074FE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DA3583-CA7E-E3ED-B59E-1C6757C06542}"/>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6" name="Footer Placeholder 5">
            <a:extLst>
              <a:ext uri="{FF2B5EF4-FFF2-40B4-BE49-F238E27FC236}">
                <a16:creationId xmlns:a16="http://schemas.microsoft.com/office/drawing/2014/main" id="{5AD924C6-E994-45B4-275B-9DC613B13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6B10EA-A019-90CF-D6D5-56E93C5A0F02}"/>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66122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92496-3C36-F69C-1DAC-A9C08487A4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03F93A-8BE5-4BF6-786F-F4260C6DE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295FF9-DB0F-D67B-33DE-5DC9F2A53F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1A3AD1-29CD-3EEB-E109-802D19329D87}"/>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6" name="Footer Placeholder 5">
            <a:extLst>
              <a:ext uri="{FF2B5EF4-FFF2-40B4-BE49-F238E27FC236}">
                <a16:creationId xmlns:a16="http://schemas.microsoft.com/office/drawing/2014/main" id="{ADC5F187-76B5-C72E-080C-AB66C3B23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19D24-7EA0-8C42-7CA0-ED5C815993AD}"/>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4035737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E508E-BF84-2AD1-BA10-960B878582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D1C68A-979D-A4FA-948F-CA98958B86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CC600E-B5D6-C0A3-C323-DA78E1868354}"/>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B5945821-134F-9EDC-BFCC-192D192F5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82C268-062F-5CAA-9750-AA507AC6A79F}"/>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2663384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52EB96-BEB0-FBB0-B366-CE26CA86F8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DA2736-26C5-9EA6-9864-7D814B99EA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EC0A9-5C86-DBDC-82D3-3F45CFFD6B99}"/>
              </a:ext>
            </a:extLst>
          </p:cNvPr>
          <p:cNvSpPr>
            <a:spLocks noGrp="1"/>
          </p:cNvSpPr>
          <p:nvPr>
            <p:ph type="dt" sz="half" idx="10"/>
          </p:nvPr>
        </p:nvSpPr>
        <p:spPr/>
        <p:txBody>
          <a:body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C85FCC23-3A20-12BC-3AA3-D4023D46DA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2EF4D-A3D2-63D8-8EC2-6A6D8688C041}"/>
              </a:ext>
            </a:extLst>
          </p:cNvPr>
          <p:cNvSpPr>
            <a:spLocks noGrp="1"/>
          </p:cNvSpPr>
          <p:nvPr>
            <p:ph type="sldNum" sz="quarter" idx="12"/>
          </p:nvPr>
        </p:nvSpPr>
        <p:spPr/>
        <p:txBody>
          <a:bodyPr/>
          <a:lstStyle/>
          <a:p>
            <a:fld id="{7B41AA28-2B82-134A-9AA5-8F4AA40272FE}" type="slidenum">
              <a:rPr lang="en-US" smtClean="0"/>
              <a:t>‹#›</a:t>
            </a:fld>
            <a:endParaRPr lang="en-US"/>
          </a:p>
        </p:txBody>
      </p:sp>
    </p:spTree>
    <p:extLst>
      <p:ext uri="{BB962C8B-B14F-4D97-AF65-F5344CB8AC3E}">
        <p14:creationId xmlns:p14="http://schemas.microsoft.com/office/powerpoint/2010/main" val="1591437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2D9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081CB6-BF24-BC74-3EEA-5896BC9122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089A131-00FF-7B74-AFB9-D3922CB2FC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95DC1C6-B3A4-1D64-CE8C-F7D6B74953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1399A-5209-EB4E-8D86-43B52F9A823B}" type="datetimeFigureOut">
              <a:rPr lang="en-US" smtClean="0"/>
              <a:t>4/20/26</a:t>
            </a:fld>
            <a:endParaRPr lang="en-US"/>
          </a:p>
        </p:txBody>
      </p:sp>
      <p:sp>
        <p:nvSpPr>
          <p:cNvPr id="5" name="Footer Placeholder 4">
            <a:extLst>
              <a:ext uri="{FF2B5EF4-FFF2-40B4-BE49-F238E27FC236}">
                <a16:creationId xmlns:a16="http://schemas.microsoft.com/office/drawing/2014/main" id="{1D42A13B-57FE-44A8-3DBB-60FBC9C2ED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F9D596A-5314-C5B6-EE69-4BA3E5A482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41AA28-2B82-134A-9AA5-8F4AA40272FE}" type="slidenum">
              <a:rPr lang="en-US" smtClean="0"/>
              <a:t>‹#›</a:t>
            </a:fld>
            <a:endParaRPr lang="en-US"/>
          </a:p>
        </p:txBody>
      </p:sp>
    </p:spTree>
    <p:extLst>
      <p:ext uri="{BB962C8B-B14F-4D97-AF65-F5344CB8AC3E}">
        <p14:creationId xmlns:p14="http://schemas.microsoft.com/office/powerpoint/2010/main" val="3339629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amuelbf@uark.ed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oursera.org/learn/response-surfaces-mixtures-model-building" TargetMode="External"/><Relationship Id="rId2" Type="http://schemas.openxmlformats.org/officeDocument/2006/relationships/hyperlink" Target="https://statdoe.com/rs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AFD8B-91DA-157E-01E6-E68C0246D475}"/>
              </a:ext>
            </a:extLst>
          </p:cNvPr>
          <p:cNvSpPr>
            <a:spLocks noGrp="1"/>
          </p:cNvSpPr>
          <p:nvPr>
            <p:ph type="ctrTitle"/>
          </p:nvPr>
        </p:nvSpPr>
        <p:spPr>
          <a:xfrm>
            <a:off x="635211" y="3764129"/>
            <a:ext cx="10916365" cy="1637306"/>
          </a:xfrm>
        </p:spPr>
        <p:txBody>
          <a:bodyPr>
            <a:normAutofit fontScale="90000"/>
          </a:bodyPr>
          <a:lstStyle/>
          <a:p>
            <a:r>
              <a:rPr lang="en-US" b="1" i="0" dirty="0">
                <a:solidFill>
                  <a:schemeClr val="bg2">
                    <a:lumMod val="25000"/>
                  </a:schemeClr>
                </a:solidFill>
                <a:effectLst/>
                <a:latin typeface="Helvetica" pitchFamily="2" charset="0"/>
              </a:rPr>
              <a:t>AGST  50104</a:t>
            </a:r>
            <a:br>
              <a:rPr lang="en-US" b="1" i="0" dirty="0">
                <a:solidFill>
                  <a:schemeClr val="bg2">
                    <a:lumMod val="25000"/>
                  </a:schemeClr>
                </a:solidFill>
                <a:effectLst/>
                <a:latin typeface="Helvetica" pitchFamily="2" charset="0"/>
              </a:rPr>
            </a:br>
            <a:r>
              <a:rPr lang="en-US" b="1" i="0" dirty="0">
                <a:solidFill>
                  <a:schemeClr val="bg2">
                    <a:lumMod val="25000"/>
                  </a:schemeClr>
                </a:solidFill>
                <a:effectLst/>
                <a:latin typeface="Helvetica" pitchFamily="2" charset="0"/>
              </a:rPr>
              <a:t> Experimental Design</a:t>
            </a:r>
          </a:p>
        </p:txBody>
      </p:sp>
      <p:sp>
        <p:nvSpPr>
          <p:cNvPr id="3" name="Subtitle 2">
            <a:extLst>
              <a:ext uri="{FF2B5EF4-FFF2-40B4-BE49-F238E27FC236}">
                <a16:creationId xmlns:a16="http://schemas.microsoft.com/office/drawing/2014/main" id="{D009207E-67F5-6F20-4B70-1C5C3B98149F}"/>
              </a:ext>
            </a:extLst>
          </p:cNvPr>
          <p:cNvSpPr>
            <a:spLocks noGrp="1"/>
          </p:cNvSpPr>
          <p:nvPr>
            <p:ph type="subTitle" idx="1"/>
          </p:nvPr>
        </p:nvSpPr>
        <p:spPr>
          <a:xfrm>
            <a:off x="1267688" y="5401435"/>
            <a:ext cx="9653792" cy="814809"/>
          </a:xfrm>
        </p:spPr>
        <p:txBody>
          <a:bodyPr>
            <a:normAutofit fontScale="92500"/>
          </a:bodyPr>
          <a:lstStyle/>
          <a:p>
            <a:pPr>
              <a:lnSpc>
                <a:spcPct val="110000"/>
              </a:lnSpc>
            </a:pPr>
            <a:r>
              <a:rPr lang="en-US" b="0" i="0">
                <a:solidFill>
                  <a:schemeClr val="bg2">
                    <a:lumMod val="25000"/>
                  </a:schemeClr>
                </a:solidFill>
                <a:effectLst/>
                <a:latin typeface="Helvetica" pitchFamily="2" charset="0"/>
              </a:rPr>
              <a:t>Samuel B. Fernandes, Ph.D.</a:t>
            </a:r>
            <a:br>
              <a:rPr lang="en-US">
                <a:solidFill>
                  <a:schemeClr val="bg2">
                    <a:lumMod val="25000"/>
                  </a:schemeClr>
                </a:solidFill>
                <a:latin typeface="Helvetica" pitchFamily="2" charset="0"/>
              </a:rPr>
            </a:br>
            <a:r>
              <a:rPr lang="en-US" b="0" i="0">
                <a:solidFill>
                  <a:schemeClr val="bg2">
                    <a:lumMod val="25000"/>
                  </a:schemeClr>
                </a:solidFill>
                <a:effectLst/>
                <a:latin typeface="Helvetica" pitchFamily="2" charset="0"/>
              </a:rPr>
              <a:t>E-mail: </a:t>
            </a:r>
            <a:r>
              <a:rPr lang="en-US" b="0" i="0" u="none" strike="noStrike">
                <a:solidFill>
                  <a:schemeClr val="bg2">
                    <a:lumMod val="25000"/>
                  </a:schemeClr>
                </a:solidFill>
                <a:effectLst/>
                <a:latin typeface="Helvetica" pitchFamily="2" charset="0"/>
                <a:hlinkClick r:id="rId3">
                  <a:extLst>
                    <a:ext uri="{A12FA001-AC4F-418D-AE19-62706E023703}">
                      <ahyp:hlinkClr xmlns:ahyp="http://schemas.microsoft.com/office/drawing/2018/hyperlinkcolor" val="tx"/>
                    </a:ext>
                  </a:extLst>
                </a:hlinkClick>
              </a:rPr>
              <a:t>samuelbf@uark.edu</a:t>
            </a:r>
            <a:endParaRPr lang="en-US">
              <a:solidFill>
                <a:schemeClr val="bg2">
                  <a:lumMod val="25000"/>
                </a:schemeClr>
              </a:solidFill>
              <a:latin typeface="Helvetica" pitchFamily="2" charset="0"/>
            </a:endParaRPr>
          </a:p>
        </p:txBody>
      </p:sp>
      <p:pic>
        <p:nvPicPr>
          <p:cNvPr id="7" name="Graphic 6" descr="Test Plan">
            <a:extLst>
              <a:ext uri="{FF2B5EF4-FFF2-40B4-BE49-F238E27FC236}">
                <a16:creationId xmlns:a16="http://schemas.microsoft.com/office/drawing/2014/main" id="{DF8DBBA5-BA5F-3617-3EC1-B8CEE4F602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36412" y="932016"/>
            <a:ext cx="2506511" cy="2506511"/>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66798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B442-AD21-5705-CB79-332B0B231616}"/>
              </a:ext>
            </a:extLst>
          </p:cNvPr>
          <p:cNvSpPr>
            <a:spLocks noGrp="1"/>
          </p:cNvSpPr>
          <p:nvPr>
            <p:ph type="title"/>
          </p:nvPr>
        </p:nvSpPr>
        <p:spPr/>
        <p:txBody>
          <a:bodyPr>
            <a:normAutofit/>
          </a:bodyPr>
          <a:lstStyle/>
          <a:p>
            <a:r>
              <a:rPr lang="en-US" dirty="0"/>
              <a:t>Consistency of chocolate chip cookie</a:t>
            </a:r>
          </a:p>
        </p:txBody>
      </p:sp>
      <p:sp>
        <p:nvSpPr>
          <p:cNvPr id="3" name="Content Placeholder 2">
            <a:extLst>
              <a:ext uri="{FF2B5EF4-FFF2-40B4-BE49-F238E27FC236}">
                <a16:creationId xmlns:a16="http://schemas.microsoft.com/office/drawing/2014/main" id="{28DCCD11-B7AC-9BAA-FBA7-993AA5D8F6CC}"/>
              </a:ext>
            </a:extLst>
          </p:cNvPr>
          <p:cNvSpPr>
            <a:spLocks noGrp="1"/>
          </p:cNvSpPr>
          <p:nvPr>
            <p:ph idx="1"/>
          </p:nvPr>
        </p:nvSpPr>
        <p:spPr/>
        <p:txBody>
          <a:bodyPr>
            <a:normAutofit fontScale="92500"/>
          </a:bodyPr>
          <a:lstStyle/>
          <a:p>
            <a:r>
              <a:rPr lang="en-US" dirty="0"/>
              <a:t>Factors: temperature (3 levels) and amount of baking soda (4 levels)</a:t>
            </a:r>
          </a:p>
          <a:p>
            <a:r>
              <a:rPr lang="en-US" dirty="0"/>
              <a:t>Design 1:</a:t>
            </a:r>
          </a:p>
          <a:p>
            <a:pPr marL="0" indent="0">
              <a:buNone/>
            </a:pPr>
            <a:r>
              <a:rPr lang="en-US" b="1" dirty="0"/>
              <a:t>12 combinations </a:t>
            </a:r>
            <a:r>
              <a:rPr lang="en-US" dirty="0"/>
              <a:t>of temp and baking soda are replicated three times. You mix up cookie dough and then cook it 36 times.</a:t>
            </a:r>
          </a:p>
          <a:p>
            <a:r>
              <a:rPr lang="en-US" dirty="0"/>
              <a:t>Design 2:</a:t>
            </a:r>
          </a:p>
          <a:p>
            <a:pPr marL="0" indent="0">
              <a:buNone/>
            </a:pPr>
            <a:r>
              <a:rPr lang="en-US" dirty="0"/>
              <a:t>Four batches of dough are created, each with a different amount of baking soda. Oven is heated to specific temp and the four doughs are put in the oven at the same time. Repeat for the other temperatures This means we make 36 batches of dough but only run 9 cooking trials.</a:t>
            </a:r>
          </a:p>
          <a:p>
            <a:endParaRPr lang="en-US" dirty="0"/>
          </a:p>
        </p:txBody>
      </p:sp>
    </p:spTree>
    <p:extLst>
      <p:ext uri="{BB962C8B-B14F-4D97-AF65-F5344CB8AC3E}">
        <p14:creationId xmlns:p14="http://schemas.microsoft.com/office/powerpoint/2010/main" val="152433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9C1F2-9E2D-E2B4-ACB5-EBFA3D5E6A26}"/>
              </a:ext>
            </a:extLst>
          </p:cNvPr>
          <p:cNvSpPr>
            <a:spLocks noGrp="1"/>
          </p:cNvSpPr>
          <p:nvPr>
            <p:ph type="title"/>
          </p:nvPr>
        </p:nvSpPr>
        <p:spPr>
          <a:xfrm>
            <a:off x="838200" y="365125"/>
            <a:ext cx="10717530" cy="1325563"/>
          </a:xfrm>
        </p:spPr>
        <p:txBody>
          <a:bodyPr>
            <a:normAutofit/>
          </a:bodyPr>
          <a:lstStyle/>
          <a:p>
            <a:r>
              <a:rPr lang="en-US" sz="3600" dirty="0"/>
              <a:t>Example: Irrigation (2), cultivar (4), fertilizer, herbicide, …</a:t>
            </a:r>
          </a:p>
        </p:txBody>
      </p:sp>
      <p:graphicFrame>
        <p:nvGraphicFramePr>
          <p:cNvPr id="7" name="Content Placeholder 6">
            <a:extLst>
              <a:ext uri="{FF2B5EF4-FFF2-40B4-BE49-F238E27FC236}">
                <a16:creationId xmlns:a16="http://schemas.microsoft.com/office/drawing/2014/main" id="{F704BF28-68D0-7832-8611-8B3A186D09B2}"/>
              </a:ext>
            </a:extLst>
          </p:cNvPr>
          <p:cNvGraphicFramePr>
            <a:graphicFrameLocks noGrp="1"/>
          </p:cNvGraphicFramePr>
          <p:nvPr>
            <p:ph idx="1"/>
          </p:nvPr>
        </p:nvGraphicFramePr>
        <p:xfrm>
          <a:off x="992505" y="2151442"/>
          <a:ext cx="4709160" cy="1845788"/>
        </p:xfrm>
        <a:graphic>
          <a:graphicData uri="http://schemas.openxmlformats.org/drawingml/2006/table">
            <a:tbl>
              <a:tblPr/>
              <a:tblGrid>
                <a:gridCol w="784860">
                  <a:extLst>
                    <a:ext uri="{9D8B030D-6E8A-4147-A177-3AD203B41FA5}">
                      <a16:colId xmlns:a16="http://schemas.microsoft.com/office/drawing/2014/main" val="1603981367"/>
                    </a:ext>
                  </a:extLst>
                </a:gridCol>
                <a:gridCol w="784860">
                  <a:extLst>
                    <a:ext uri="{9D8B030D-6E8A-4147-A177-3AD203B41FA5}">
                      <a16:colId xmlns:a16="http://schemas.microsoft.com/office/drawing/2014/main" val="2816082042"/>
                    </a:ext>
                  </a:extLst>
                </a:gridCol>
                <a:gridCol w="784860">
                  <a:extLst>
                    <a:ext uri="{9D8B030D-6E8A-4147-A177-3AD203B41FA5}">
                      <a16:colId xmlns:a16="http://schemas.microsoft.com/office/drawing/2014/main" val="2902301604"/>
                    </a:ext>
                  </a:extLst>
                </a:gridCol>
                <a:gridCol w="784860">
                  <a:extLst>
                    <a:ext uri="{9D8B030D-6E8A-4147-A177-3AD203B41FA5}">
                      <a16:colId xmlns:a16="http://schemas.microsoft.com/office/drawing/2014/main" val="2223923432"/>
                    </a:ext>
                  </a:extLst>
                </a:gridCol>
                <a:gridCol w="784860">
                  <a:extLst>
                    <a:ext uri="{9D8B030D-6E8A-4147-A177-3AD203B41FA5}">
                      <a16:colId xmlns:a16="http://schemas.microsoft.com/office/drawing/2014/main" val="82333891"/>
                    </a:ext>
                  </a:extLst>
                </a:gridCol>
                <a:gridCol w="784860">
                  <a:extLst>
                    <a:ext uri="{9D8B030D-6E8A-4147-A177-3AD203B41FA5}">
                      <a16:colId xmlns:a16="http://schemas.microsoft.com/office/drawing/2014/main" val="758289354"/>
                    </a:ext>
                  </a:extLst>
                </a:gridCol>
              </a:tblGrid>
              <a:tr h="1845788">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p>
                      <a:pPr algn="l" fontAlgn="b"/>
                      <a:r>
                        <a:rPr lang="en-US" sz="12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331379681"/>
                  </a:ext>
                </a:extLst>
              </a:tr>
            </a:tbl>
          </a:graphicData>
        </a:graphic>
      </p:graphicFrame>
      <p:grpSp>
        <p:nvGrpSpPr>
          <p:cNvPr id="5" name="Group 4">
            <a:extLst>
              <a:ext uri="{FF2B5EF4-FFF2-40B4-BE49-F238E27FC236}">
                <a16:creationId xmlns:a16="http://schemas.microsoft.com/office/drawing/2014/main" id="{BFB18B4B-F184-EDDD-53FD-7B6A746CE667}"/>
              </a:ext>
            </a:extLst>
          </p:cNvPr>
          <p:cNvGrpSpPr/>
          <p:nvPr/>
        </p:nvGrpSpPr>
        <p:grpSpPr>
          <a:xfrm>
            <a:off x="6714415" y="1727090"/>
            <a:ext cx="5663079" cy="3780667"/>
            <a:chOff x="6791812" y="1825625"/>
            <a:chExt cx="5663079" cy="3780667"/>
          </a:xfrm>
        </p:grpSpPr>
        <p:pic>
          <p:nvPicPr>
            <p:cNvPr id="1026" name="Picture 2" descr="Irrigation in EU agriculture [Policy podcast]">
              <a:extLst>
                <a:ext uri="{FF2B5EF4-FFF2-40B4-BE49-F238E27FC236}">
                  <a16:creationId xmlns:a16="http://schemas.microsoft.com/office/drawing/2014/main" id="{D123ACA0-BB69-8569-92E9-6AC0F024A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1812" y="1825625"/>
              <a:ext cx="5274253" cy="35129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4C38CD5-A18C-948D-BC89-FFEB85A0A18F}"/>
                </a:ext>
              </a:extLst>
            </p:cNvPr>
            <p:cNvSpPr txBox="1"/>
            <p:nvPr/>
          </p:nvSpPr>
          <p:spPr>
            <a:xfrm>
              <a:off x="9475471" y="5267738"/>
              <a:ext cx="2979420" cy="338554"/>
            </a:xfrm>
            <a:prstGeom prst="rect">
              <a:avLst/>
            </a:prstGeom>
            <a:noFill/>
          </p:spPr>
          <p:txBody>
            <a:bodyPr wrap="square" rtlCol="0">
              <a:spAutoFit/>
            </a:bodyPr>
            <a:lstStyle/>
            <a:p>
              <a:r>
                <a:rPr lang="en-US" sz="1600" b="0" i="0" dirty="0">
                  <a:solidFill>
                    <a:srgbClr val="314158"/>
                  </a:solidFill>
                  <a:effectLst/>
                  <a:latin typeface="myriad-pro"/>
                </a:rPr>
                <a:t>© nd3000 / </a:t>
              </a:r>
              <a:r>
                <a:rPr lang="en-US" sz="1600" b="0" i="0" dirty="0" err="1">
                  <a:solidFill>
                    <a:srgbClr val="314158"/>
                  </a:solidFill>
                  <a:effectLst/>
                  <a:latin typeface="myriad-pro"/>
                </a:rPr>
                <a:t>Shutterstock.com</a:t>
              </a:r>
              <a:endParaRPr lang="en-US" sz="1600" dirty="0"/>
            </a:p>
          </p:txBody>
        </p:sp>
      </p:grpSp>
      <p:sp>
        <p:nvSpPr>
          <p:cNvPr id="9" name="TextBox 8">
            <a:extLst>
              <a:ext uri="{FF2B5EF4-FFF2-40B4-BE49-F238E27FC236}">
                <a16:creationId xmlns:a16="http://schemas.microsoft.com/office/drawing/2014/main" id="{9A4BAF1D-CA81-2C63-CAD3-4A6CE3E3ADE9}"/>
              </a:ext>
            </a:extLst>
          </p:cNvPr>
          <p:cNvSpPr txBox="1"/>
          <p:nvPr/>
        </p:nvSpPr>
        <p:spPr>
          <a:xfrm>
            <a:off x="2428517" y="1250036"/>
            <a:ext cx="2014539" cy="954107"/>
          </a:xfrm>
          <a:prstGeom prst="rect">
            <a:avLst/>
          </a:prstGeom>
          <a:noFill/>
        </p:spPr>
        <p:txBody>
          <a:bodyPr wrap="square">
            <a:spAutoFit/>
          </a:bodyPr>
          <a:lstStyle/>
          <a:p>
            <a:pPr algn="ctr"/>
            <a:r>
              <a:rPr lang="en-US" sz="2800" dirty="0"/>
              <a:t>Irrigation (whole plot)</a:t>
            </a:r>
            <a:endParaRPr lang="en-US" dirty="0"/>
          </a:p>
        </p:txBody>
      </p:sp>
      <p:graphicFrame>
        <p:nvGraphicFramePr>
          <p:cNvPr id="11" name="Table 10">
            <a:extLst>
              <a:ext uri="{FF2B5EF4-FFF2-40B4-BE49-F238E27FC236}">
                <a16:creationId xmlns:a16="http://schemas.microsoft.com/office/drawing/2014/main" id="{787BC381-CD6E-E584-4CBC-87A242A32879}"/>
              </a:ext>
            </a:extLst>
          </p:cNvPr>
          <p:cNvGraphicFramePr>
            <a:graphicFrameLocks noGrp="1"/>
          </p:cNvGraphicFramePr>
          <p:nvPr/>
        </p:nvGraphicFramePr>
        <p:xfrm>
          <a:off x="992505" y="4971440"/>
          <a:ext cx="4709160" cy="1845788"/>
        </p:xfrm>
        <a:graphic>
          <a:graphicData uri="http://schemas.openxmlformats.org/drawingml/2006/table">
            <a:tbl>
              <a:tblPr/>
              <a:tblGrid>
                <a:gridCol w="784860">
                  <a:extLst>
                    <a:ext uri="{9D8B030D-6E8A-4147-A177-3AD203B41FA5}">
                      <a16:colId xmlns:a16="http://schemas.microsoft.com/office/drawing/2014/main" val="1248933877"/>
                    </a:ext>
                  </a:extLst>
                </a:gridCol>
                <a:gridCol w="784860">
                  <a:extLst>
                    <a:ext uri="{9D8B030D-6E8A-4147-A177-3AD203B41FA5}">
                      <a16:colId xmlns:a16="http://schemas.microsoft.com/office/drawing/2014/main" val="849755100"/>
                    </a:ext>
                  </a:extLst>
                </a:gridCol>
                <a:gridCol w="784860">
                  <a:extLst>
                    <a:ext uri="{9D8B030D-6E8A-4147-A177-3AD203B41FA5}">
                      <a16:colId xmlns:a16="http://schemas.microsoft.com/office/drawing/2014/main" val="1117674542"/>
                    </a:ext>
                  </a:extLst>
                </a:gridCol>
                <a:gridCol w="784860">
                  <a:extLst>
                    <a:ext uri="{9D8B030D-6E8A-4147-A177-3AD203B41FA5}">
                      <a16:colId xmlns:a16="http://schemas.microsoft.com/office/drawing/2014/main" val="3682133875"/>
                    </a:ext>
                  </a:extLst>
                </a:gridCol>
                <a:gridCol w="784860">
                  <a:extLst>
                    <a:ext uri="{9D8B030D-6E8A-4147-A177-3AD203B41FA5}">
                      <a16:colId xmlns:a16="http://schemas.microsoft.com/office/drawing/2014/main" val="158318820"/>
                    </a:ext>
                  </a:extLst>
                </a:gridCol>
                <a:gridCol w="784860">
                  <a:extLst>
                    <a:ext uri="{9D8B030D-6E8A-4147-A177-3AD203B41FA5}">
                      <a16:colId xmlns:a16="http://schemas.microsoft.com/office/drawing/2014/main" val="1193193321"/>
                    </a:ext>
                  </a:extLst>
                </a:gridCol>
              </a:tblGrid>
              <a:tr h="461447">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710226818"/>
                  </a:ext>
                </a:extLst>
              </a:tr>
              <a:tr h="461447">
                <a:tc>
                  <a:txBody>
                    <a:bodyPr/>
                    <a:lstStyle/>
                    <a:p>
                      <a:pPr algn="ctr" fontAlgn="b"/>
                      <a:r>
                        <a:rPr lang="en-US" sz="28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646409476"/>
                  </a:ext>
                </a:extLst>
              </a:tr>
              <a:tr h="461447">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590101683"/>
                  </a:ext>
                </a:extLst>
              </a:tr>
              <a:tr h="461447">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2800" b="0" i="0" u="none" strike="noStrike" dirty="0">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US" sz="28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3069451809"/>
                  </a:ext>
                </a:extLst>
              </a:tr>
            </a:tbl>
          </a:graphicData>
        </a:graphic>
      </p:graphicFrame>
      <p:sp>
        <p:nvSpPr>
          <p:cNvPr id="12" name="TextBox 11">
            <a:extLst>
              <a:ext uri="{FF2B5EF4-FFF2-40B4-BE49-F238E27FC236}">
                <a16:creationId xmlns:a16="http://schemas.microsoft.com/office/drawing/2014/main" id="{5380EA50-5B4C-41A9-CFF4-086E8FE6BC02}"/>
              </a:ext>
            </a:extLst>
          </p:cNvPr>
          <p:cNvSpPr txBox="1"/>
          <p:nvPr/>
        </p:nvSpPr>
        <p:spPr>
          <a:xfrm>
            <a:off x="2511742" y="4017333"/>
            <a:ext cx="1674495" cy="954107"/>
          </a:xfrm>
          <a:prstGeom prst="rect">
            <a:avLst/>
          </a:prstGeom>
          <a:noFill/>
        </p:spPr>
        <p:txBody>
          <a:bodyPr wrap="square">
            <a:spAutoFit/>
          </a:bodyPr>
          <a:lstStyle/>
          <a:p>
            <a:pPr algn="ctr"/>
            <a:r>
              <a:rPr lang="en-US" sz="2800" dirty="0"/>
              <a:t>Cultivar (split plot)</a:t>
            </a:r>
            <a:endParaRPr lang="en-US" dirty="0"/>
          </a:p>
        </p:txBody>
      </p:sp>
      <p:sp>
        <p:nvSpPr>
          <p:cNvPr id="13" name="TextBox 12">
            <a:extLst>
              <a:ext uri="{FF2B5EF4-FFF2-40B4-BE49-F238E27FC236}">
                <a16:creationId xmlns:a16="http://schemas.microsoft.com/office/drawing/2014/main" id="{D7CBD001-5DA8-F753-D619-8EC8A351FE97}"/>
              </a:ext>
            </a:extLst>
          </p:cNvPr>
          <p:cNvSpPr txBox="1"/>
          <p:nvPr/>
        </p:nvSpPr>
        <p:spPr>
          <a:xfrm>
            <a:off x="2043395" y="2942371"/>
            <a:ext cx="1683089" cy="369332"/>
          </a:xfrm>
          <a:prstGeom prst="rect">
            <a:avLst/>
          </a:prstGeom>
          <a:solidFill>
            <a:schemeClr val="accent2"/>
          </a:solidFill>
        </p:spPr>
        <p:txBody>
          <a:bodyPr wrap="none" rtlCol="0">
            <a:spAutoFit/>
          </a:bodyPr>
          <a:lstStyle/>
          <a:p>
            <a:r>
              <a:rPr lang="en-US" dirty="0"/>
              <a:t>Just like a block</a:t>
            </a:r>
          </a:p>
        </p:txBody>
      </p:sp>
    </p:spTree>
    <p:extLst>
      <p:ext uri="{BB962C8B-B14F-4D97-AF65-F5344CB8AC3E}">
        <p14:creationId xmlns:p14="http://schemas.microsoft.com/office/powerpoint/2010/main" val="129053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3604-A4D4-F9BC-18D6-49F24A8B7D1C}"/>
              </a:ext>
            </a:extLst>
          </p:cNvPr>
          <p:cNvSpPr>
            <a:spLocks noGrp="1"/>
          </p:cNvSpPr>
          <p:nvPr>
            <p:ph type="title"/>
          </p:nvPr>
        </p:nvSpPr>
        <p:spPr/>
        <p:txBody>
          <a:bodyPr/>
          <a:lstStyle/>
          <a:p>
            <a:pPr algn="ctr"/>
            <a:r>
              <a:rPr lang="en-US" dirty="0"/>
              <a:t>Response surface methodology (RSM)</a:t>
            </a:r>
          </a:p>
        </p:txBody>
      </p:sp>
      <p:sp>
        <p:nvSpPr>
          <p:cNvPr id="3" name="Content Placeholder 2">
            <a:extLst>
              <a:ext uri="{FF2B5EF4-FFF2-40B4-BE49-F238E27FC236}">
                <a16:creationId xmlns:a16="http://schemas.microsoft.com/office/drawing/2014/main" id="{F7937D38-992C-BA6B-B6A6-2C994CAFEE78}"/>
              </a:ext>
            </a:extLst>
          </p:cNvPr>
          <p:cNvSpPr>
            <a:spLocks noGrp="1"/>
          </p:cNvSpPr>
          <p:nvPr>
            <p:ph idx="1"/>
          </p:nvPr>
        </p:nvSpPr>
        <p:spPr/>
        <p:txBody>
          <a:bodyPr>
            <a:normAutofit lnSpcReduction="10000"/>
          </a:bodyPr>
          <a:lstStyle/>
          <a:p>
            <a:r>
              <a:rPr lang="en-US" dirty="0">
                <a:sym typeface="Wingdings" pitchFamily="2" charset="2"/>
              </a:rPr>
              <a:t>After we </a:t>
            </a:r>
            <a:r>
              <a:rPr lang="en-US" b="0" i="0" dirty="0">
                <a:effectLst/>
              </a:rPr>
              <a:t>determine the significant factors</a:t>
            </a:r>
          </a:p>
          <a:p>
            <a:r>
              <a:rPr lang="en-US" dirty="0"/>
              <a:t>Determine the optimal combination of factors to obtain the best response within the experimental region (max, min)</a:t>
            </a:r>
            <a:endParaRPr lang="en-US" b="0" i="0" dirty="0">
              <a:effectLst/>
            </a:endParaRPr>
          </a:p>
          <a:p>
            <a:r>
              <a:rPr lang="en-US" altLang="en-US" dirty="0"/>
              <a:t>Each response surface is typically a simple regression polynomial</a:t>
            </a:r>
          </a:p>
          <a:p>
            <a:r>
              <a:rPr lang="en-US" dirty="0"/>
              <a:t>You can use first–order designs that fit a linear approximation</a:t>
            </a:r>
          </a:p>
          <a:p>
            <a:pPr lvl="1"/>
            <a:r>
              <a:rPr lang="en-US" dirty="0"/>
              <a:t>When you are a long way from the top of the mountain, a slope may be a good approximation</a:t>
            </a:r>
          </a:p>
          <a:p>
            <a:r>
              <a:rPr lang="en-US" dirty="0"/>
              <a:t>When you are close to an optimum you need quadratic models and second–order designs to model curvature</a:t>
            </a:r>
          </a:p>
        </p:txBody>
      </p:sp>
    </p:spTree>
    <p:extLst>
      <p:ext uri="{BB962C8B-B14F-4D97-AF65-F5344CB8AC3E}">
        <p14:creationId xmlns:p14="http://schemas.microsoft.com/office/powerpoint/2010/main" val="7125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21F7-B509-8F94-CDA6-21472B7D00A9}"/>
              </a:ext>
            </a:extLst>
          </p:cNvPr>
          <p:cNvSpPr>
            <a:spLocks noGrp="1"/>
          </p:cNvSpPr>
          <p:nvPr>
            <p:ph type="title"/>
          </p:nvPr>
        </p:nvSpPr>
        <p:spPr/>
        <p:txBody>
          <a:bodyPr/>
          <a:lstStyle/>
          <a:p>
            <a:pPr algn="ctr"/>
            <a:r>
              <a:rPr lang="en-US" dirty="0"/>
              <a:t>Approach</a:t>
            </a:r>
          </a:p>
        </p:txBody>
      </p:sp>
      <p:sp>
        <p:nvSpPr>
          <p:cNvPr id="3" name="Content Placeholder 2">
            <a:extLst>
              <a:ext uri="{FF2B5EF4-FFF2-40B4-BE49-F238E27FC236}">
                <a16:creationId xmlns:a16="http://schemas.microsoft.com/office/drawing/2014/main" id="{0A30D0BA-A649-DD93-D38B-ABC8A4E0839B}"/>
              </a:ext>
            </a:extLst>
          </p:cNvPr>
          <p:cNvSpPr>
            <a:spLocks noGrp="1"/>
          </p:cNvSpPr>
          <p:nvPr>
            <p:ph idx="1"/>
          </p:nvPr>
        </p:nvSpPr>
        <p:spPr/>
        <p:txBody>
          <a:bodyPr/>
          <a:lstStyle/>
          <a:p>
            <a:r>
              <a:rPr lang="en-US" i="0" dirty="0">
                <a:effectLst/>
                <a:latin typeface="-apple-system"/>
              </a:rPr>
              <a:t>First-order designs (start here)</a:t>
            </a:r>
          </a:p>
          <a:p>
            <a:endParaRPr lang="en-US" dirty="0">
              <a:latin typeface="-apple-system"/>
            </a:endParaRPr>
          </a:p>
          <a:p>
            <a:endParaRPr lang="en-US" i="0" dirty="0">
              <a:effectLst/>
              <a:latin typeface="-apple-system"/>
            </a:endParaRPr>
          </a:p>
          <a:p>
            <a:endParaRPr lang="en-US" dirty="0">
              <a:latin typeface="-apple-system"/>
            </a:endParaRPr>
          </a:p>
          <a:p>
            <a:r>
              <a:rPr lang="en-US" i="0" dirty="0">
                <a:effectLst/>
                <a:latin typeface="-apple-system"/>
              </a:rPr>
              <a:t>Second-order designs</a:t>
            </a:r>
          </a:p>
          <a:p>
            <a:endParaRPr lang="en-US" i="0" dirty="0">
              <a:effectLst/>
              <a:latin typeface="-apple-system"/>
            </a:endParaRPr>
          </a:p>
          <a:p>
            <a:endParaRPr lang="en-US" dirty="0"/>
          </a:p>
        </p:txBody>
      </p:sp>
      <p:pic>
        <p:nvPicPr>
          <p:cNvPr id="9218" name="Picture 2">
            <a:extLst>
              <a:ext uri="{FF2B5EF4-FFF2-40B4-BE49-F238E27FC236}">
                <a16:creationId xmlns:a16="http://schemas.microsoft.com/office/drawing/2014/main" id="{D733817C-20E3-7549-9AA3-D23615AEF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24" y="2314015"/>
            <a:ext cx="4000500" cy="14732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1584F987-E470-8833-4AA7-5D53E6889E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96" y="4981306"/>
            <a:ext cx="7734300" cy="1549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A6B4DA9-C6DA-E079-74D0-A7A44A5B1192}"/>
              </a:ext>
            </a:extLst>
          </p:cNvPr>
          <p:cNvSpPr txBox="1"/>
          <p:nvPr/>
        </p:nvSpPr>
        <p:spPr>
          <a:xfrm>
            <a:off x="5679948" y="1849604"/>
            <a:ext cx="6860490" cy="830997"/>
          </a:xfrm>
          <a:prstGeom prst="rect">
            <a:avLst/>
          </a:prstGeom>
          <a:noFill/>
        </p:spPr>
        <p:txBody>
          <a:bodyPr wrap="square">
            <a:spAutoFit/>
          </a:bodyPr>
          <a:lstStyle/>
          <a:p>
            <a:pPr algn="ctr"/>
            <a:r>
              <a:rPr lang="en-US" sz="2400" b="0" i="0" dirty="0">
                <a:effectLst/>
              </a:rPr>
              <a:t>looking for the experimental region where the curvature is found</a:t>
            </a:r>
            <a:endParaRPr lang="en-US" sz="2400" dirty="0"/>
          </a:p>
        </p:txBody>
      </p:sp>
    </p:spTree>
    <p:extLst>
      <p:ext uri="{BB962C8B-B14F-4D97-AF65-F5344CB8AC3E}">
        <p14:creationId xmlns:p14="http://schemas.microsoft.com/office/powerpoint/2010/main" val="333710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20"/>
                                        </p:tgtEl>
                                        <p:attrNameLst>
                                          <p:attrName>style.visibility</p:attrName>
                                        </p:attrNameLst>
                                      </p:cBhvr>
                                      <p:to>
                                        <p:strVal val="visible"/>
                                      </p:to>
                                    </p:set>
                                    <p:animEffect transition="in" filter="fade">
                                      <p:cBhvr>
                                        <p:cTn id="10" dur="5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5ED361E-6C59-F28F-24EB-CC65C3BAA55B}"/>
              </a:ext>
            </a:extLst>
          </p:cNvPr>
          <p:cNvGrpSpPr/>
          <p:nvPr/>
        </p:nvGrpSpPr>
        <p:grpSpPr>
          <a:xfrm>
            <a:off x="3102016" y="2707109"/>
            <a:ext cx="2409705" cy="2293645"/>
            <a:chOff x="3543392" y="2622620"/>
            <a:chExt cx="2409705" cy="2293645"/>
          </a:xfrm>
        </p:grpSpPr>
        <p:sp>
          <p:nvSpPr>
            <p:cNvPr id="15" name="Rectangle 4">
              <a:extLst>
                <a:ext uri="{FF2B5EF4-FFF2-40B4-BE49-F238E27FC236}">
                  <a16:creationId xmlns:a16="http://schemas.microsoft.com/office/drawing/2014/main" id="{2C8D5F4B-F224-E617-A6C9-41899D9C148D}"/>
                </a:ext>
              </a:extLst>
            </p:cNvPr>
            <p:cNvSpPr>
              <a:spLocks noChangeArrowheads="1"/>
            </p:cNvSpPr>
            <p:nvPr/>
          </p:nvSpPr>
          <p:spPr bwMode="auto">
            <a:xfrm>
              <a:off x="3793980" y="2622620"/>
              <a:ext cx="190852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r>
                <a:rPr lang="en-US" altLang="en-US" sz="1800" b="1" dirty="0">
                  <a:latin typeface="Arial" panose="020B0604020202020204" pitchFamily="34" charset="0"/>
                </a:rPr>
                <a:t>Minimum</a:t>
              </a:r>
            </a:p>
          </p:txBody>
        </p:sp>
        <p:pic>
          <p:nvPicPr>
            <p:cNvPr id="18" name="Picture 7">
              <a:extLst>
                <a:ext uri="{FF2B5EF4-FFF2-40B4-BE49-F238E27FC236}">
                  <a16:creationId xmlns:a16="http://schemas.microsoft.com/office/drawing/2014/main" id="{E8FA18F9-1707-9EE0-E33D-B6AC2867358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3392" y="2977906"/>
              <a:ext cx="2409705" cy="19383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 name="Group 25">
            <a:extLst>
              <a:ext uri="{FF2B5EF4-FFF2-40B4-BE49-F238E27FC236}">
                <a16:creationId xmlns:a16="http://schemas.microsoft.com/office/drawing/2014/main" id="{4295109C-419E-04D0-259A-602420E75F05}"/>
              </a:ext>
            </a:extLst>
          </p:cNvPr>
          <p:cNvGrpSpPr/>
          <p:nvPr/>
        </p:nvGrpSpPr>
        <p:grpSpPr>
          <a:xfrm>
            <a:off x="6123765" y="2741242"/>
            <a:ext cx="2516016" cy="2253384"/>
            <a:chOff x="5547636" y="2739081"/>
            <a:chExt cx="2516016" cy="2253384"/>
          </a:xfrm>
        </p:grpSpPr>
        <p:sp>
          <p:nvSpPr>
            <p:cNvPr id="16" name="Rectangle 5">
              <a:extLst>
                <a:ext uri="{FF2B5EF4-FFF2-40B4-BE49-F238E27FC236}">
                  <a16:creationId xmlns:a16="http://schemas.microsoft.com/office/drawing/2014/main" id="{1A950060-537B-4C6E-2039-D7BC6668B115}"/>
                </a:ext>
              </a:extLst>
            </p:cNvPr>
            <p:cNvSpPr>
              <a:spLocks noChangeArrowheads="1"/>
            </p:cNvSpPr>
            <p:nvPr/>
          </p:nvSpPr>
          <p:spPr bwMode="auto">
            <a:xfrm>
              <a:off x="5547636" y="2739081"/>
              <a:ext cx="251601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r>
                <a:rPr lang="en-US" altLang="en-US" sz="1800" b="1" dirty="0">
                  <a:latin typeface="Arial" panose="020B0604020202020204" pitchFamily="34" charset="0"/>
                </a:rPr>
                <a:t>Saddle Point</a:t>
              </a:r>
            </a:p>
          </p:txBody>
        </p:sp>
        <p:pic>
          <p:nvPicPr>
            <p:cNvPr id="19" name="Picture 8">
              <a:extLst>
                <a:ext uri="{FF2B5EF4-FFF2-40B4-BE49-F238E27FC236}">
                  <a16:creationId xmlns:a16="http://schemas.microsoft.com/office/drawing/2014/main" id="{A2862B95-3996-D157-0ACB-1AFB54DB63F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0792" y="3054106"/>
              <a:ext cx="2409705" cy="193835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5" name="Group 24">
            <a:extLst>
              <a:ext uri="{FF2B5EF4-FFF2-40B4-BE49-F238E27FC236}">
                <a16:creationId xmlns:a16="http://schemas.microsoft.com/office/drawing/2014/main" id="{A616015D-EA29-2891-3F49-9CFB1E2FC03D}"/>
              </a:ext>
            </a:extLst>
          </p:cNvPr>
          <p:cNvGrpSpPr/>
          <p:nvPr/>
        </p:nvGrpSpPr>
        <p:grpSpPr>
          <a:xfrm>
            <a:off x="8626265" y="2700981"/>
            <a:ext cx="3204504" cy="2244161"/>
            <a:chOff x="7492286" y="2700981"/>
            <a:chExt cx="3204504" cy="2244161"/>
          </a:xfrm>
        </p:grpSpPr>
        <p:sp>
          <p:nvSpPr>
            <p:cNvPr id="17" name="Rectangle 6">
              <a:extLst>
                <a:ext uri="{FF2B5EF4-FFF2-40B4-BE49-F238E27FC236}">
                  <a16:creationId xmlns:a16="http://schemas.microsoft.com/office/drawing/2014/main" id="{12C2CB4D-0378-18DD-46F4-ED778E4427B9}"/>
                </a:ext>
              </a:extLst>
            </p:cNvPr>
            <p:cNvSpPr>
              <a:spLocks noChangeArrowheads="1"/>
            </p:cNvSpPr>
            <p:nvPr/>
          </p:nvSpPr>
          <p:spPr bwMode="auto">
            <a:xfrm>
              <a:off x="7492286" y="2700981"/>
              <a:ext cx="320450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r>
                <a:rPr lang="en-US" altLang="en-US" sz="1800" b="1" dirty="0">
                  <a:latin typeface="Arial" panose="020B0604020202020204" pitchFamily="34" charset="0"/>
                </a:rPr>
                <a:t>Stationary Ridge</a:t>
              </a:r>
            </a:p>
          </p:txBody>
        </p:sp>
        <p:pic>
          <p:nvPicPr>
            <p:cNvPr id="20" name="Picture 9">
              <a:extLst>
                <a:ext uri="{FF2B5EF4-FFF2-40B4-BE49-F238E27FC236}">
                  <a16:creationId xmlns:a16="http://schemas.microsoft.com/office/drawing/2014/main" id="{6B57AC58-4FD3-2394-254E-F5C3A8202D28}"/>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0185" y="3117546"/>
              <a:ext cx="2328707" cy="182759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 name="Group 27">
            <a:extLst>
              <a:ext uri="{FF2B5EF4-FFF2-40B4-BE49-F238E27FC236}">
                <a16:creationId xmlns:a16="http://schemas.microsoft.com/office/drawing/2014/main" id="{39C4F5DB-775C-887E-C0FA-647C0BFEA212}"/>
              </a:ext>
            </a:extLst>
          </p:cNvPr>
          <p:cNvGrpSpPr/>
          <p:nvPr/>
        </p:nvGrpSpPr>
        <p:grpSpPr>
          <a:xfrm>
            <a:off x="361231" y="2634770"/>
            <a:ext cx="2267958" cy="2405595"/>
            <a:chOff x="861715" y="2622620"/>
            <a:chExt cx="2267958" cy="2405595"/>
          </a:xfrm>
        </p:grpSpPr>
        <p:sp>
          <p:nvSpPr>
            <p:cNvPr id="14" name="Rectangle 3">
              <a:extLst>
                <a:ext uri="{FF2B5EF4-FFF2-40B4-BE49-F238E27FC236}">
                  <a16:creationId xmlns:a16="http://schemas.microsoft.com/office/drawing/2014/main" id="{38F8F866-0C1E-4C86-A8BB-A9699DD8D6A0}"/>
                </a:ext>
              </a:extLst>
            </p:cNvPr>
            <p:cNvSpPr>
              <a:spLocks noChangeArrowheads="1"/>
            </p:cNvSpPr>
            <p:nvPr/>
          </p:nvSpPr>
          <p:spPr bwMode="auto">
            <a:xfrm>
              <a:off x="1000931" y="2622620"/>
              <a:ext cx="198952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a:r>
                <a:rPr lang="en-US" altLang="en-US" sz="1800" b="1">
                  <a:latin typeface="Arial" panose="020B0604020202020204" pitchFamily="34" charset="0"/>
                </a:rPr>
                <a:t>Maximum</a:t>
              </a:r>
            </a:p>
          </p:txBody>
        </p:sp>
        <p:pic>
          <p:nvPicPr>
            <p:cNvPr id="21" name="Picture 10">
              <a:extLst>
                <a:ext uri="{FF2B5EF4-FFF2-40B4-BE49-F238E27FC236}">
                  <a16:creationId xmlns:a16="http://schemas.microsoft.com/office/drawing/2014/main" id="{85144E74-C2AE-933D-0D8A-2BFF04093C2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1715" y="3034474"/>
              <a:ext cx="2267958" cy="19937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4" name="Title 1">
            <a:extLst>
              <a:ext uri="{FF2B5EF4-FFF2-40B4-BE49-F238E27FC236}">
                <a16:creationId xmlns:a16="http://schemas.microsoft.com/office/drawing/2014/main" id="{BF43F9B2-A6F2-9263-3A6B-62C95DB790BF}"/>
              </a:ext>
            </a:extLst>
          </p:cNvPr>
          <p:cNvSpPr>
            <a:spLocks noGrp="1"/>
          </p:cNvSpPr>
          <p:nvPr>
            <p:ph type="title"/>
          </p:nvPr>
        </p:nvSpPr>
        <p:spPr>
          <a:xfrm>
            <a:off x="838200" y="365125"/>
            <a:ext cx="10515600" cy="1325563"/>
          </a:xfrm>
        </p:spPr>
        <p:txBody>
          <a:bodyPr>
            <a:normAutofit/>
          </a:bodyPr>
          <a:lstStyle/>
          <a:p>
            <a:pPr algn="ctr"/>
            <a:r>
              <a:rPr lang="en-US" altLang="en-US" dirty="0"/>
              <a:t>Quadratic (second order) Models:</a:t>
            </a:r>
            <a:endParaRPr lang="en-US" dirty="0"/>
          </a:p>
        </p:txBody>
      </p:sp>
    </p:spTree>
    <p:extLst>
      <p:ext uri="{BB962C8B-B14F-4D97-AF65-F5344CB8AC3E}">
        <p14:creationId xmlns:p14="http://schemas.microsoft.com/office/powerpoint/2010/main" val="256504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E3E4A-3594-FF20-4361-A9C35DE159CC}"/>
              </a:ext>
            </a:extLst>
          </p:cNvPr>
          <p:cNvSpPr>
            <a:spLocks noGrp="1"/>
          </p:cNvSpPr>
          <p:nvPr>
            <p:ph type="title"/>
          </p:nvPr>
        </p:nvSpPr>
        <p:spPr/>
        <p:txBody>
          <a:bodyPr/>
          <a:lstStyle/>
          <a:p>
            <a:pPr algn="ctr"/>
            <a:r>
              <a:rPr lang="en-US" dirty="0"/>
              <a:t>RSM designs</a:t>
            </a:r>
          </a:p>
        </p:txBody>
      </p:sp>
      <p:sp>
        <p:nvSpPr>
          <p:cNvPr id="3" name="Content Placeholder 2">
            <a:extLst>
              <a:ext uri="{FF2B5EF4-FFF2-40B4-BE49-F238E27FC236}">
                <a16:creationId xmlns:a16="http://schemas.microsoft.com/office/drawing/2014/main" id="{B6E2745B-EA8B-888B-BA39-F90638DA4632}"/>
              </a:ext>
            </a:extLst>
          </p:cNvPr>
          <p:cNvSpPr>
            <a:spLocks noGrp="1"/>
          </p:cNvSpPr>
          <p:nvPr>
            <p:ph idx="1"/>
          </p:nvPr>
        </p:nvSpPr>
        <p:spPr/>
        <p:txBody>
          <a:bodyPr/>
          <a:lstStyle/>
          <a:p>
            <a:r>
              <a:rPr lang="en-US" altLang="en-US" sz="2800" dirty="0"/>
              <a:t>Three Level Factorial Experiments</a:t>
            </a:r>
          </a:p>
          <a:p>
            <a:endParaRPr lang="en-US" altLang="en-US" sz="2800" dirty="0"/>
          </a:p>
          <a:p>
            <a:r>
              <a:rPr lang="en-US" altLang="en-US" sz="2800" dirty="0"/>
              <a:t>Central Composite Designs (CCD)</a:t>
            </a:r>
          </a:p>
          <a:p>
            <a:endParaRPr lang="en-US" altLang="en-US" sz="2800" dirty="0"/>
          </a:p>
          <a:p>
            <a:r>
              <a:rPr lang="en-US" altLang="en-US" sz="2800" dirty="0"/>
              <a:t>Box Behnken Designs</a:t>
            </a:r>
          </a:p>
        </p:txBody>
      </p:sp>
    </p:spTree>
    <p:extLst>
      <p:ext uri="{BB962C8B-B14F-4D97-AF65-F5344CB8AC3E}">
        <p14:creationId xmlns:p14="http://schemas.microsoft.com/office/powerpoint/2010/main" val="164614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2" end="2"/>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4F2CF-F98D-3B91-776B-42B5924DA352}"/>
              </a:ext>
            </a:extLst>
          </p:cNvPr>
          <p:cNvSpPr>
            <a:spLocks noGrp="1"/>
          </p:cNvSpPr>
          <p:nvPr>
            <p:ph type="title"/>
          </p:nvPr>
        </p:nvSpPr>
        <p:spPr/>
        <p:txBody>
          <a:bodyPr/>
          <a:lstStyle/>
          <a:p>
            <a:r>
              <a:rPr lang="en-US" dirty="0"/>
              <a:t>Central Composite Design (CCD)</a:t>
            </a:r>
          </a:p>
        </p:txBody>
      </p:sp>
      <p:pic>
        <p:nvPicPr>
          <p:cNvPr id="4" name="Picture 3">
            <a:extLst>
              <a:ext uri="{FF2B5EF4-FFF2-40B4-BE49-F238E27FC236}">
                <a16:creationId xmlns:a16="http://schemas.microsoft.com/office/drawing/2014/main" id="{99DB5E80-5099-6549-1874-25B5380B0EBA}"/>
              </a:ext>
            </a:extLst>
          </p:cNvPr>
          <p:cNvPicPr>
            <a:picLocks noChangeAspect="1"/>
          </p:cNvPicPr>
          <p:nvPr/>
        </p:nvPicPr>
        <p:blipFill>
          <a:blip r:embed="rId3"/>
          <a:stretch>
            <a:fillRect/>
          </a:stretch>
        </p:blipFill>
        <p:spPr>
          <a:xfrm>
            <a:off x="9416250" y="1669407"/>
            <a:ext cx="2400300" cy="3568700"/>
          </a:xfrm>
          <a:prstGeom prst="rect">
            <a:avLst/>
          </a:prstGeom>
        </p:spPr>
      </p:pic>
      <p:sp>
        <p:nvSpPr>
          <p:cNvPr id="5" name="TextBox 4">
            <a:extLst>
              <a:ext uri="{FF2B5EF4-FFF2-40B4-BE49-F238E27FC236}">
                <a16:creationId xmlns:a16="http://schemas.microsoft.com/office/drawing/2014/main" id="{5990F663-AAEE-0238-9CFF-982BE98F9B5D}"/>
              </a:ext>
            </a:extLst>
          </p:cNvPr>
          <p:cNvSpPr txBox="1"/>
          <p:nvPr/>
        </p:nvSpPr>
        <p:spPr>
          <a:xfrm>
            <a:off x="213740" y="1669408"/>
            <a:ext cx="2038700" cy="584775"/>
          </a:xfrm>
          <a:prstGeom prst="rect">
            <a:avLst/>
          </a:prstGeom>
          <a:noFill/>
        </p:spPr>
        <p:txBody>
          <a:bodyPr wrap="none" rtlCol="0">
            <a:spAutoFit/>
          </a:bodyPr>
          <a:lstStyle/>
          <a:p>
            <a:r>
              <a:rPr lang="en-US" sz="3200" dirty="0"/>
              <a:t>2</a:t>
            </a:r>
            <a:r>
              <a:rPr lang="en-US" sz="3200" baseline="30000" dirty="0"/>
              <a:t>k</a:t>
            </a:r>
            <a:r>
              <a:rPr lang="en-US" sz="3200" dirty="0"/>
              <a:t> Factorial</a:t>
            </a:r>
          </a:p>
        </p:txBody>
      </p:sp>
      <p:sp>
        <p:nvSpPr>
          <p:cNvPr id="6" name="TextBox 5">
            <a:extLst>
              <a:ext uri="{FF2B5EF4-FFF2-40B4-BE49-F238E27FC236}">
                <a16:creationId xmlns:a16="http://schemas.microsoft.com/office/drawing/2014/main" id="{C7B9E290-741A-BBFA-E814-4F53428A4CEF}"/>
              </a:ext>
            </a:extLst>
          </p:cNvPr>
          <p:cNvSpPr txBox="1"/>
          <p:nvPr/>
        </p:nvSpPr>
        <p:spPr>
          <a:xfrm>
            <a:off x="2481297" y="1669408"/>
            <a:ext cx="1473480" cy="584775"/>
          </a:xfrm>
          <a:prstGeom prst="rect">
            <a:avLst/>
          </a:prstGeom>
          <a:noFill/>
        </p:spPr>
        <p:txBody>
          <a:bodyPr wrap="none" rtlCol="0">
            <a:spAutoFit/>
          </a:bodyPr>
          <a:lstStyle/>
          <a:p>
            <a:r>
              <a:rPr lang="en-US" sz="3200" dirty="0"/>
              <a:t>2k Axial</a:t>
            </a:r>
          </a:p>
        </p:txBody>
      </p:sp>
      <p:sp>
        <p:nvSpPr>
          <p:cNvPr id="7" name="TextBox 6">
            <a:extLst>
              <a:ext uri="{FF2B5EF4-FFF2-40B4-BE49-F238E27FC236}">
                <a16:creationId xmlns:a16="http://schemas.microsoft.com/office/drawing/2014/main" id="{AA26A232-0C46-12F7-2453-49C22D7C6104}"/>
              </a:ext>
            </a:extLst>
          </p:cNvPr>
          <p:cNvSpPr txBox="1"/>
          <p:nvPr/>
        </p:nvSpPr>
        <p:spPr>
          <a:xfrm>
            <a:off x="4417527" y="1669407"/>
            <a:ext cx="1678473" cy="584775"/>
          </a:xfrm>
          <a:prstGeom prst="rect">
            <a:avLst/>
          </a:prstGeom>
          <a:noFill/>
        </p:spPr>
        <p:txBody>
          <a:bodyPr wrap="none" rtlCol="0">
            <a:spAutoFit/>
          </a:bodyPr>
          <a:lstStyle/>
          <a:p>
            <a:r>
              <a:rPr lang="en-US" sz="3200" dirty="0" err="1"/>
              <a:t>n</a:t>
            </a:r>
            <a:r>
              <a:rPr lang="en-US" sz="3200" baseline="-25000" dirty="0" err="1"/>
              <a:t>c</a:t>
            </a:r>
            <a:r>
              <a:rPr lang="en-US" sz="3200" dirty="0"/>
              <a:t> center</a:t>
            </a:r>
          </a:p>
        </p:txBody>
      </p:sp>
      <p:graphicFrame>
        <p:nvGraphicFramePr>
          <p:cNvPr id="8" name="Table 7">
            <a:extLst>
              <a:ext uri="{FF2B5EF4-FFF2-40B4-BE49-F238E27FC236}">
                <a16:creationId xmlns:a16="http://schemas.microsoft.com/office/drawing/2014/main" id="{B8819F30-FFD1-D1CD-58BC-D9826EBED62A}"/>
              </a:ext>
            </a:extLst>
          </p:cNvPr>
          <p:cNvGraphicFramePr>
            <a:graphicFrameLocks/>
          </p:cNvGraphicFramePr>
          <p:nvPr>
            <p:extLst>
              <p:ext uri="{D42A27DB-BD31-4B8C-83A1-F6EECF244321}">
                <p14:modId xmlns:p14="http://schemas.microsoft.com/office/powerpoint/2010/main" val="909782813"/>
              </p:ext>
            </p:extLst>
          </p:nvPr>
        </p:nvGraphicFramePr>
        <p:xfrm>
          <a:off x="488545" y="2361398"/>
          <a:ext cx="1280606" cy="3470227"/>
        </p:xfrm>
        <a:graphic>
          <a:graphicData uri="http://schemas.openxmlformats.org/drawingml/2006/table">
            <a:tbl>
              <a:tblPr firstRow="1" bandRow="1">
                <a:tableStyleId>{C083E6E3-FA7D-4D7B-A595-EF9225AFEA82}</a:tableStyleId>
              </a:tblPr>
              <a:tblGrid>
                <a:gridCol w="435293">
                  <a:extLst>
                    <a:ext uri="{9D8B030D-6E8A-4147-A177-3AD203B41FA5}">
                      <a16:colId xmlns:a16="http://schemas.microsoft.com/office/drawing/2014/main" val="2138890702"/>
                    </a:ext>
                  </a:extLst>
                </a:gridCol>
                <a:gridCol w="428943">
                  <a:extLst>
                    <a:ext uri="{9D8B030D-6E8A-4147-A177-3AD203B41FA5}">
                      <a16:colId xmlns:a16="http://schemas.microsoft.com/office/drawing/2014/main" val="2722608914"/>
                    </a:ext>
                  </a:extLst>
                </a:gridCol>
                <a:gridCol w="416370">
                  <a:extLst>
                    <a:ext uri="{9D8B030D-6E8A-4147-A177-3AD203B41FA5}">
                      <a16:colId xmlns:a16="http://schemas.microsoft.com/office/drawing/2014/main" val="459564461"/>
                    </a:ext>
                  </a:extLst>
                </a:gridCol>
              </a:tblGrid>
              <a:tr h="503507">
                <a:tc>
                  <a:txBody>
                    <a:bodyPr/>
                    <a:lstStyle/>
                    <a:p>
                      <a:r>
                        <a:rPr lang="en-US" dirty="0"/>
                        <a:t>X</a:t>
                      </a:r>
                      <a:r>
                        <a:rPr lang="en-US" baseline="-25000" dirty="0"/>
                        <a:t>A</a:t>
                      </a:r>
                    </a:p>
                  </a:txBody>
                  <a:tcPr/>
                </a:tc>
                <a:tc>
                  <a:txBody>
                    <a:bodyPr/>
                    <a:lstStyle/>
                    <a:p>
                      <a:r>
                        <a:rPr lang="en-US" dirty="0"/>
                        <a:t>X</a:t>
                      </a:r>
                      <a:r>
                        <a:rPr lang="en-US" baseline="-25000" dirty="0"/>
                        <a:t>B</a:t>
                      </a:r>
                    </a:p>
                  </a:txBody>
                  <a:tcPr/>
                </a:tc>
                <a:tc>
                  <a:txBody>
                    <a:bodyPr/>
                    <a:lstStyle/>
                    <a:p>
                      <a:r>
                        <a:rPr lang="en-US" dirty="0"/>
                        <a:t>X</a:t>
                      </a:r>
                      <a:r>
                        <a:rPr lang="en-US" baseline="-25000" dirty="0"/>
                        <a:t>C</a:t>
                      </a:r>
                    </a:p>
                  </a:txBody>
                  <a:tcPr/>
                </a:tc>
                <a:extLst>
                  <a:ext uri="{0D108BD9-81ED-4DB2-BD59-A6C34878D82A}">
                    <a16:rowId xmlns:a16="http://schemas.microsoft.com/office/drawing/2014/main" val="2729323938"/>
                  </a:ext>
                </a:extLst>
              </a:tr>
              <a:tr h="370840">
                <a:tc>
                  <a:txBody>
                    <a:bodyPr/>
                    <a:lstStyle/>
                    <a:p>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tc>
                <a:tc>
                  <a:txBody>
                    <a:bodyPr/>
                    <a:lstStyle/>
                    <a:p>
                      <a:r>
                        <a:rPr lang="en-US" dirty="0"/>
                        <a:t>-</a:t>
                      </a:r>
                    </a:p>
                  </a:txBody>
                  <a:tcPr/>
                </a:tc>
                <a:extLst>
                  <a:ext uri="{0D108BD9-81ED-4DB2-BD59-A6C34878D82A}">
                    <a16:rowId xmlns:a16="http://schemas.microsoft.com/office/drawing/2014/main" val="2569090493"/>
                  </a:ext>
                </a:extLst>
              </a:tr>
              <a:tr h="370840">
                <a:tc>
                  <a:txBody>
                    <a:bodyPr/>
                    <a:lstStyle/>
                    <a:p>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tc>
                <a:tc>
                  <a:txBody>
                    <a:bodyPr/>
                    <a:lstStyle/>
                    <a:p>
                      <a:r>
                        <a:rPr lang="en-US" dirty="0"/>
                        <a:t>+</a:t>
                      </a:r>
                    </a:p>
                  </a:txBody>
                  <a:tcPr/>
                </a:tc>
                <a:extLst>
                  <a:ext uri="{0D108BD9-81ED-4DB2-BD59-A6C34878D82A}">
                    <a16:rowId xmlns:a16="http://schemas.microsoft.com/office/drawing/2014/main" val="928414733"/>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466228499"/>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437977027"/>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2958917342"/>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1072497465"/>
                  </a:ext>
                </a:extLst>
              </a:tr>
              <a:tr h="370840">
                <a:tc>
                  <a:txBody>
                    <a:bodyPr/>
                    <a:lstStyle/>
                    <a:p>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7880740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883039741"/>
                  </a:ext>
                </a:extLst>
              </a:tr>
            </a:tbl>
          </a:graphicData>
        </a:graphic>
      </p:graphicFrame>
      <p:graphicFrame>
        <p:nvGraphicFramePr>
          <p:cNvPr id="9" name="Table 8">
            <a:extLst>
              <a:ext uri="{FF2B5EF4-FFF2-40B4-BE49-F238E27FC236}">
                <a16:creationId xmlns:a16="http://schemas.microsoft.com/office/drawing/2014/main" id="{6B77F03B-7266-6E93-DDFC-D09BFC74B337}"/>
              </a:ext>
            </a:extLst>
          </p:cNvPr>
          <p:cNvGraphicFramePr>
            <a:graphicFrameLocks/>
          </p:cNvGraphicFramePr>
          <p:nvPr>
            <p:extLst>
              <p:ext uri="{D42A27DB-BD31-4B8C-83A1-F6EECF244321}">
                <p14:modId xmlns:p14="http://schemas.microsoft.com/office/powerpoint/2010/main" val="162623782"/>
              </p:ext>
            </p:extLst>
          </p:nvPr>
        </p:nvGraphicFramePr>
        <p:xfrm>
          <a:off x="2496042" y="2361398"/>
          <a:ext cx="1443990" cy="2728547"/>
        </p:xfrm>
        <a:graphic>
          <a:graphicData uri="http://schemas.openxmlformats.org/drawingml/2006/table">
            <a:tbl>
              <a:tblPr firstRow="1" bandRow="1">
                <a:tableStyleId>{C083E6E3-FA7D-4D7B-A595-EF9225AFEA82}</a:tableStyleId>
              </a:tblPr>
              <a:tblGrid>
                <a:gridCol w="481330">
                  <a:extLst>
                    <a:ext uri="{9D8B030D-6E8A-4147-A177-3AD203B41FA5}">
                      <a16:colId xmlns:a16="http://schemas.microsoft.com/office/drawing/2014/main" val="2138890702"/>
                    </a:ext>
                  </a:extLst>
                </a:gridCol>
                <a:gridCol w="481330">
                  <a:extLst>
                    <a:ext uri="{9D8B030D-6E8A-4147-A177-3AD203B41FA5}">
                      <a16:colId xmlns:a16="http://schemas.microsoft.com/office/drawing/2014/main" val="2722608914"/>
                    </a:ext>
                  </a:extLst>
                </a:gridCol>
                <a:gridCol w="481330">
                  <a:extLst>
                    <a:ext uri="{9D8B030D-6E8A-4147-A177-3AD203B41FA5}">
                      <a16:colId xmlns:a16="http://schemas.microsoft.com/office/drawing/2014/main" val="459564461"/>
                    </a:ext>
                  </a:extLst>
                </a:gridCol>
              </a:tblGrid>
              <a:tr h="503507">
                <a:tc>
                  <a:txBody>
                    <a:bodyPr/>
                    <a:lstStyle/>
                    <a:p>
                      <a:r>
                        <a:rPr lang="en-US" dirty="0"/>
                        <a:t>X</a:t>
                      </a:r>
                      <a:r>
                        <a:rPr lang="en-US" baseline="-25000" dirty="0"/>
                        <a:t>A</a:t>
                      </a:r>
                    </a:p>
                  </a:txBody>
                  <a:tcPr/>
                </a:tc>
                <a:tc>
                  <a:txBody>
                    <a:bodyPr/>
                    <a:lstStyle/>
                    <a:p>
                      <a:r>
                        <a:rPr lang="en-US" dirty="0"/>
                        <a:t>X</a:t>
                      </a:r>
                      <a:r>
                        <a:rPr lang="en-US" baseline="-25000" dirty="0"/>
                        <a:t>B</a:t>
                      </a:r>
                    </a:p>
                  </a:txBody>
                  <a:tcPr/>
                </a:tc>
                <a:tc>
                  <a:txBody>
                    <a:bodyPr/>
                    <a:lstStyle/>
                    <a:p>
                      <a:r>
                        <a:rPr lang="en-US" dirty="0"/>
                        <a:t>X</a:t>
                      </a:r>
                      <a:r>
                        <a:rPr lang="en-US" baseline="-25000" dirty="0"/>
                        <a:t>C</a:t>
                      </a:r>
                    </a:p>
                  </a:txBody>
                  <a:tcPr/>
                </a:tc>
                <a:extLst>
                  <a:ext uri="{0D108BD9-81ED-4DB2-BD59-A6C34878D82A}">
                    <a16:rowId xmlns:a16="http://schemas.microsoft.com/office/drawing/2014/main" val="2729323938"/>
                  </a:ext>
                </a:extLst>
              </a:tr>
              <a:tr h="370840">
                <a:tc>
                  <a:txBody>
                    <a:bodyPr/>
                    <a:lstStyle/>
                    <a:p>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p>
                  </a:txBody>
                  <a:tcPr/>
                </a:tc>
                <a:extLst>
                  <a:ext uri="{0D108BD9-81ED-4DB2-BD59-A6C34878D82A}">
                    <a16:rowId xmlns:a16="http://schemas.microsoft.com/office/drawing/2014/main" val="2569090493"/>
                  </a:ext>
                </a:extLst>
              </a:tr>
              <a:tr h="370840">
                <a:tc>
                  <a:txBody>
                    <a:bodyPr/>
                    <a:lstStyle/>
                    <a:p>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p>
                  </a:txBody>
                  <a:tcPr/>
                </a:tc>
                <a:extLst>
                  <a:ext uri="{0D108BD9-81ED-4DB2-BD59-A6C34878D82A}">
                    <a16:rowId xmlns:a16="http://schemas.microsoft.com/office/drawing/2014/main" val="928414733"/>
                  </a:ext>
                </a:extLst>
              </a:tr>
              <a:tr h="370840">
                <a:tc>
                  <a:txBody>
                    <a:bodyPr/>
                    <a:lstStyle/>
                    <a:p>
                      <a:r>
                        <a:rPr lang="en-US" dirty="0"/>
                        <a:t>0</a:t>
                      </a:r>
                    </a:p>
                  </a:txBody>
                  <a:tcPr/>
                </a:tc>
                <a:tc>
                  <a:txBody>
                    <a:bodyPr/>
                    <a:lstStyle/>
                    <a:p>
                      <a:r>
                        <a:rPr lang="en-US" dirty="0"/>
                        <a:t>-⍺</a:t>
                      </a:r>
                    </a:p>
                  </a:txBody>
                  <a:tcPr/>
                </a:tc>
                <a:tc>
                  <a:txBody>
                    <a:bodyPr/>
                    <a:lstStyle/>
                    <a:p>
                      <a:r>
                        <a:rPr lang="en-US" dirty="0"/>
                        <a:t>0</a:t>
                      </a:r>
                    </a:p>
                  </a:txBody>
                  <a:tcPr/>
                </a:tc>
                <a:extLst>
                  <a:ext uri="{0D108BD9-81ED-4DB2-BD59-A6C34878D82A}">
                    <a16:rowId xmlns:a16="http://schemas.microsoft.com/office/drawing/2014/main" val="1466228499"/>
                  </a:ext>
                </a:extLst>
              </a:tr>
              <a:tr h="370840">
                <a:tc>
                  <a:txBody>
                    <a:bodyPr/>
                    <a:lstStyle/>
                    <a:p>
                      <a:r>
                        <a:rPr lang="en-US" dirty="0"/>
                        <a:t>0</a:t>
                      </a:r>
                    </a:p>
                  </a:txBody>
                  <a:tcPr/>
                </a:tc>
                <a:tc>
                  <a:txBody>
                    <a:bodyPr/>
                    <a:lstStyle/>
                    <a:p>
                      <a:r>
                        <a:rPr lang="en-US" dirty="0"/>
                        <a:t>+⍺</a:t>
                      </a:r>
                    </a:p>
                  </a:txBody>
                  <a:tcPr/>
                </a:tc>
                <a:tc>
                  <a:txBody>
                    <a:bodyPr/>
                    <a:lstStyle/>
                    <a:p>
                      <a:r>
                        <a:rPr lang="en-US" dirty="0"/>
                        <a:t>0</a:t>
                      </a:r>
                    </a:p>
                  </a:txBody>
                  <a:tcPr/>
                </a:tc>
                <a:extLst>
                  <a:ext uri="{0D108BD9-81ED-4DB2-BD59-A6C34878D82A}">
                    <a16:rowId xmlns:a16="http://schemas.microsoft.com/office/drawing/2014/main" val="437977027"/>
                  </a:ext>
                </a:extLst>
              </a:tr>
              <a:tr h="370840">
                <a:tc>
                  <a:txBody>
                    <a:bodyPr/>
                    <a:lstStyle/>
                    <a:p>
                      <a:r>
                        <a:rPr lang="en-US" dirty="0"/>
                        <a:t>0</a:t>
                      </a:r>
                    </a:p>
                  </a:txBody>
                  <a:tcPr/>
                </a:tc>
                <a:tc>
                  <a:txBody>
                    <a:bodyPr/>
                    <a:lstStyle/>
                    <a:p>
                      <a:r>
                        <a:rPr lang="en-US" dirty="0"/>
                        <a:t>0</a:t>
                      </a:r>
                    </a:p>
                  </a:txBody>
                  <a:tcPr/>
                </a:tc>
                <a:tc>
                  <a:txBody>
                    <a:bodyPr/>
                    <a:lstStyle/>
                    <a:p>
                      <a:r>
                        <a:rPr lang="en-US" dirty="0"/>
                        <a:t>-⍺</a:t>
                      </a:r>
                    </a:p>
                  </a:txBody>
                  <a:tcPr/>
                </a:tc>
                <a:extLst>
                  <a:ext uri="{0D108BD9-81ED-4DB2-BD59-A6C34878D82A}">
                    <a16:rowId xmlns:a16="http://schemas.microsoft.com/office/drawing/2014/main" val="2958917342"/>
                  </a:ext>
                </a:extLst>
              </a:tr>
              <a:tr h="370840">
                <a:tc>
                  <a:txBody>
                    <a:bodyPr/>
                    <a:lstStyle/>
                    <a:p>
                      <a:r>
                        <a:rPr lang="en-US" dirty="0"/>
                        <a:t>0</a:t>
                      </a:r>
                    </a:p>
                  </a:txBody>
                  <a:tcPr/>
                </a:tc>
                <a:tc>
                  <a:txBody>
                    <a:bodyPr/>
                    <a:lstStyle/>
                    <a:p>
                      <a:r>
                        <a:rPr lang="en-US" dirty="0"/>
                        <a:t>0</a:t>
                      </a:r>
                    </a:p>
                  </a:txBody>
                  <a:tcPr/>
                </a:tc>
                <a:tc>
                  <a:txBody>
                    <a:bodyPr/>
                    <a:lstStyle/>
                    <a:p>
                      <a:r>
                        <a:rPr lang="en-US" dirty="0"/>
                        <a:t>+⍺</a:t>
                      </a:r>
                    </a:p>
                  </a:txBody>
                  <a:tcPr/>
                </a:tc>
                <a:extLst>
                  <a:ext uri="{0D108BD9-81ED-4DB2-BD59-A6C34878D82A}">
                    <a16:rowId xmlns:a16="http://schemas.microsoft.com/office/drawing/2014/main" val="1072497465"/>
                  </a:ext>
                </a:extLst>
              </a:tr>
            </a:tbl>
          </a:graphicData>
        </a:graphic>
      </p:graphicFrame>
      <p:graphicFrame>
        <p:nvGraphicFramePr>
          <p:cNvPr id="10" name="Table 9">
            <a:extLst>
              <a:ext uri="{FF2B5EF4-FFF2-40B4-BE49-F238E27FC236}">
                <a16:creationId xmlns:a16="http://schemas.microsoft.com/office/drawing/2014/main" id="{9C25ECF0-C684-BF81-BCEC-12F2AC2057CF}"/>
              </a:ext>
            </a:extLst>
          </p:cNvPr>
          <p:cNvGraphicFramePr>
            <a:graphicFrameLocks/>
          </p:cNvGraphicFramePr>
          <p:nvPr>
            <p:extLst>
              <p:ext uri="{D42A27DB-BD31-4B8C-83A1-F6EECF244321}">
                <p14:modId xmlns:p14="http://schemas.microsoft.com/office/powerpoint/2010/main" val="2049832604"/>
              </p:ext>
            </p:extLst>
          </p:nvPr>
        </p:nvGraphicFramePr>
        <p:xfrm>
          <a:off x="4666923" y="2361398"/>
          <a:ext cx="1280606" cy="1616027"/>
        </p:xfrm>
        <a:graphic>
          <a:graphicData uri="http://schemas.openxmlformats.org/drawingml/2006/table">
            <a:tbl>
              <a:tblPr firstRow="1" bandRow="1">
                <a:tableStyleId>{C083E6E3-FA7D-4D7B-A595-EF9225AFEA82}</a:tableStyleId>
              </a:tblPr>
              <a:tblGrid>
                <a:gridCol w="435293">
                  <a:extLst>
                    <a:ext uri="{9D8B030D-6E8A-4147-A177-3AD203B41FA5}">
                      <a16:colId xmlns:a16="http://schemas.microsoft.com/office/drawing/2014/main" val="2138890702"/>
                    </a:ext>
                  </a:extLst>
                </a:gridCol>
                <a:gridCol w="428943">
                  <a:extLst>
                    <a:ext uri="{9D8B030D-6E8A-4147-A177-3AD203B41FA5}">
                      <a16:colId xmlns:a16="http://schemas.microsoft.com/office/drawing/2014/main" val="2722608914"/>
                    </a:ext>
                  </a:extLst>
                </a:gridCol>
                <a:gridCol w="416370">
                  <a:extLst>
                    <a:ext uri="{9D8B030D-6E8A-4147-A177-3AD203B41FA5}">
                      <a16:colId xmlns:a16="http://schemas.microsoft.com/office/drawing/2014/main" val="459564461"/>
                    </a:ext>
                  </a:extLst>
                </a:gridCol>
              </a:tblGrid>
              <a:tr h="503507">
                <a:tc>
                  <a:txBody>
                    <a:bodyPr/>
                    <a:lstStyle/>
                    <a:p>
                      <a:r>
                        <a:rPr lang="en-US" dirty="0"/>
                        <a:t>X</a:t>
                      </a:r>
                      <a:r>
                        <a:rPr lang="en-US" baseline="-25000" dirty="0"/>
                        <a:t>A</a:t>
                      </a:r>
                    </a:p>
                  </a:txBody>
                  <a:tcPr/>
                </a:tc>
                <a:tc>
                  <a:txBody>
                    <a:bodyPr/>
                    <a:lstStyle/>
                    <a:p>
                      <a:r>
                        <a:rPr lang="en-US" dirty="0"/>
                        <a:t>X</a:t>
                      </a:r>
                      <a:r>
                        <a:rPr lang="en-US" baseline="-25000" dirty="0"/>
                        <a:t>B</a:t>
                      </a:r>
                    </a:p>
                  </a:txBody>
                  <a:tcPr/>
                </a:tc>
                <a:tc>
                  <a:txBody>
                    <a:bodyPr/>
                    <a:lstStyle/>
                    <a:p>
                      <a:r>
                        <a:rPr lang="en-US" dirty="0"/>
                        <a:t>X</a:t>
                      </a:r>
                      <a:r>
                        <a:rPr lang="en-US" baseline="-25000" dirty="0"/>
                        <a:t>C</a:t>
                      </a:r>
                    </a:p>
                  </a:txBody>
                  <a:tcPr/>
                </a:tc>
                <a:extLst>
                  <a:ext uri="{0D108BD9-81ED-4DB2-BD59-A6C34878D82A}">
                    <a16:rowId xmlns:a16="http://schemas.microsoft.com/office/drawing/2014/main" val="2729323938"/>
                  </a:ext>
                </a:extLst>
              </a:tr>
              <a:tr h="370840">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p>
                  </a:txBody>
                  <a:tcPr/>
                </a:tc>
                <a:extLst>
                  <a:ext uri="{0D108BD9-81ED-4DB2-BD59-A6C34878D82A}">
                    <a16:rowId xmlns:a16="http://schemas.microsoft.com/office/drawing/2014/main" val="2569090493"/>
                  </a:ext>
                </a:extLst>
              </a:tr>
              <a:tr h="370840">
                <a:tc>
                  <a:txBody>
                    <a:bodyPr/>
                    <a:lstStyle/>
                    <a:p>
                      <a:r>
                        <a:rPr lang="en-US" dirty="0"/>
                        <a:t>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0</a:t>
                      </a:r>
                    </a:p>
                  </a:txBody>
                  <a:tcPr/>
                </a:tc>
                <a:tc>
                  <a:txBody>
                    <a:bodyPr/>
                    <a:lstStyle/>
                    <a:p>
                      <a:r>
                        <a:rPr lang="en-US" dirty="0"/>
                        <a:t>0</a:t>
                      </a:r>
                    </a:p>
                  </a:txBody>
                  <a:tcPr/>
                </a:tc>
                <a:extLst>
                  <a:ext uri="{0D108BD9-81ED-4DB2-BD59-A6C34878D82A}">
                    <a16:rowId xmlns:a16="http://schemas.microsoft.com/office/drawing/2014/main" val="928414733"/>
                  </a:ext>
                </a:extLst>
              </a:tr>
              <a:tr h="370840">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466228499"/>
                  </a:ext>
                </a:extLst>
              </a:tr>
            </a:tbl>
          </a:graphicData>
        </a:graphic>
      </p:graphicFrame>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75A5E60-4664-6833-2D38-7001F54A196B}"/>
                  </a:ext>
                </a:extLst>
              </p:cNvPr>
              <p:cNvSpPr txBox="1"/>
              <p:nvPr/>
            </p:nvSpPr>
            <p:spPr>
              <a:xfrm>
                <a:off x="2386530" y="5482394"/>
                <a:ext cx="1952009" cy="6984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3600" dirty="0" smtClean="0"/>
                        <m:t>⍺</m:t>
                      </m:r>
                      <m:r>
                        <a:rPr lang="en-US" sz="3600" b="0" i="1" dirty="0" smtClean="0">
                          <a:latin typeface="Cambria Math" panose="02040503050406030204" pitchFamily="18" charset="0"/>
                        </a:rPr>
                        <m:t>= </m:t>
                      </m:r>
                      <m:rad>
                        <m:radPr>
                          <m:ctrlPr>
                            <a:rPr lang="en-US" sz="3600" i="1" smtClean="0">
                              <a:latin typeface="Cambria Math" panose="02040503050406030204" pitchFamily="18" charset="0"/>
                            </a:rPr>
                          </m:ctrlPr>
                        </m:radPr>
                        <m:deg>
                          <m:r>
                            <m:rPr>
                              <m:brk m:alnAt="7"/>
                            </m:rPr>
                            <a:rPr lang="en-US" sz="3600" b="0" i="1" smtClean="0">
                              <a:latin typeface="Cambria Math" panose="02040503050406030204" pitchFamily="18" charset="0"/>
                            </a:rPr>
                            <m:t>4</m:t>
                          </m:r>
                        </m:deg>
                        <m:e>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2</m:t>
                              </m:r>
                            </m:e>
                            <m:sup>
                              <m:r>
                                <a:rPr lang="en-US" sz="3600" b="0" i="1" smtClean="0">
                                  <a:latin typeface="Cambria Math" panose="02040503050406030204" pitchFamily="18" charset="0"/>
                                </a:rPr>
                                <m:t>𝑘</m:t>
                              </m:r>
                            </m:sup>
                          </m:sSup>
                        </m:e>
                      </m:rad>
                    </m:oMath>
                  </m:oMathPara>
                </a14:m>
                <a:endParaRPr lang="en-US" sz="3600" dirty="0"/>
              </a:p>
            </p:txBody>
          </p:sp>
        </mc:Choice>
        <mc:Fallback xmlns="">
          <p:sp>
            <p:nvSpPr>
              <p:cNvPr id="12" name="TextBox 11">
                <a:extLst>
                  <a:ext uri="{FF2B5EF4-FFF2-40B4-BE49-F238E27FC236}">
                    <a16:creationId xmlns:a16="http://schemas.microsoft.com/office/drawing/2014/main" id="{C75A5E60-4664-6833-2D38-7001F54A196B}"/>
                  </a:ext>
                </a:extLst>
              </p:cNvPr>
              <p:cNvSpPr txBox="1">
                <a:spLocks noRot="1" noChangeAspect="1" noMove="1" noResize="1" noEditPoints="1" noAdjustHandles="1" noChangeArrowheads="1" noChangeShapeType="1" noTextEdit="1"/>
              </p:cNvSpPr>
              <p:nvPr/>
            </p:nvSpPr>
            <p:spPr>
              <a:xfrm>
                <a:off x="2386530" y="5482394"/>
                <a:ext cx="1952009" cy="698461"/>
              </a:xfrm>
              <a:prstGeom prst="rect">
                <a:avLst/>
              </a:prstGeom>
              <a:blipFill>
                <a:blip r:embed="rId4"/>
                <a:stretch>
                  <a:fillRect l="-2581" r="-1290" b="-30357"/>
                </a:stretch>
              </a:blipFill>
            </p:spPr>
            <p:txBody>
              <a:bodyPr/>
              <a:lstStyle/>
              <a:p>
                <a:r>
                  <a:rPr lang="en-US">
                    <a:noFill/>
                  </a:rPr>
                  <a:t> </a:t>
                </a:r>
              </a:p>
            </p:txBody>
          </p:sp>
        </mc:Fallback>
      </mc:AlternateContent>
      <p:sp>
        <p:nvSpPr>
          <p:cNvPr id="13" name="Frame 12">
            <a:extLst>
              <a:ext uri="{FF2B5EF4-FFF2-40B4-BE49-F238E27FC236}">
                <a16:creationId xmlns:a16="http://schemas.microsoft.com/office/drawing/2014/main" id="{6998376D-7990-0279-52D6-97E92B346D41}"/>
              </a:ext>
            </a:extLst>
          </p:cNvPr>
          <p:cNvSpPr/>
          <p:nvPr/>
        </p:nvSpPr>
        <p:spPr>
          <a:xfrm>
            <a:off x="6824546" y="4884232"/>
            <a:ext cx="1371600" cy="1371600"/>
          </a:xfrm>
          <a:prstGeom prst="frame">
            <a:avLst>
              <a:gd name="adj1" fmla="val 27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Frame 13">
            <a:extLst>
              <a:ext uri="{FF2B5EF4-FFF2-40B4-BE49-F238E27FC236}">
                <a16:creationId xmlns:a16="http://schemas.microsoft.com/office/drawing/2014/main" id="{75FE5B2B-6C72-0589-1D8D-C618BB9D20EC}"/>
              </a:ext>
            </a:extLst>
          </p:cNvPr>
          <p:cNvSpPr/>
          <p:nvPr/>
        </p:nvSpPr>
        <p:spPr>
          <a:xfrm rot="2700000">
            <a:off x="6824545" y="4884232"/>
            <a:ext cx="1371600" cy="1371600"/>
          </a:xfrm>
          <a:prstGeom prst="frame">
            <a:avLst>
              <a:gd name="adj1" fmla="val 274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1628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500" fill="hold"/>
                                        <p:tgtEl>
                                          <p:spTgt spid="14"/>
                                        </p:tgtEl>
                                        <p:attrNameLst>
                                          <p:attrName>ppt_w</p:attrName>
                                        </p:attrNameLst>
                                      </p:cBhvr>
                                      <p:tavLst>
                                        <p:tav tm="0">
                                          <p:val>
                                            <p:fltVal val="0"/>
                                          </p:val>
                                        </p:tav>
                                        <p:tav tm="100000">
                                          <p:val>
                                            <p:strVal val="#ppt_w"/>
                                          </p:val>
                                        </p:tav>
                                      </p:tavLst>
                                    </p:anim>
                                    <p:anim calcmode="lin" valueType="num">
                                      <p:cBhvr>
                                        <p:cTn id="32" dur="500" fill="hold"/>
                                        <p:tgtEl>
                                          <p:spTgt spid="14"/>
                                        </p:tgtEl>
                                        <p:attrNameLst>
                                          <p:attrName>ppt_h</p:attrName>
                                        </p:attrNameLst>
                                      </p:cBhvr>
                                      <p:tavLst>
                                        <p:tav tm="0">
                                          <p:val>
                                            <p:fltVal val="0"/>
                                          </p:val>
                                        </p:tav>
                                        <p:tav tm="100000">
                                          <p:val>
                                            <p:strVal val="#ppt_h"/>
                                          </p:val>
                                        </p:tav>
                                      </p:tavLst>
                                    </p:anim>
                                    <p:anim calcmode="lin" valueType="num">
                                      <p:cBhvr>
                                        <p:cTn id="33" dur="500" fill="hold"/>
                                        <p:tgtEl>
                                          <p:spTgt spid="14"/>
                                        </p:tgtEl>
                                        <p:attrNameLst>
                                          <p:attrName>style.rotation</p:attrName>
                                        </p:attrNameLst>
                                      </p:cBhvr>
                                      <p:tavLst>
                                        <p:tav tm="0">
                                          <p:val>
                                            <p:fltVal val="360"/>
                                          </p:val>
                                        </p:tav>
                                        <p:tav tm="100000">
                                          <p:val>
                                            <p:fltVal val="0"/>
                                          </p:val>
                                        </p:tav>
                                      </p:tavLst>
                                    </p:anim>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itle 69">
            <a:extLst>
              <a:ext uri="{FF2B5EF4-FFF2-40B4-BE49-F238E27FC236}">
                <a16:creationId xmlns:a16="http://schemas.microsoft.com/office/drawing/2014/main" id="{77FF2F3F-652F-5C3A-848B-C9CD8CEA6B2A}"/>
              </a:ext>
            </a:extLst>
          </p:cNvPr>
          <p:cNvSpPr>
            <a:spLocks noGrp="1"/>
          </p:cNvSpPr>
          <p:nvPr>
            <p:ph type="title"/>
          </p:nvPr>
        </p:nvSpPr>
        <p:spPr/>
        <p:txBody>
          <a:bodyPr/>
          <a:lstStyle/>
          <a:p>
            <a:pPr algn="ctr"/>
            <a:r>
              <a:rPr lang="en-US" altLang="en-US" dirty="0"/>
              <a:t>Sequentially designed experiment</a:t>
            </a:r>
            <a:endParaRPr lang="en-US" dirty="0"/>
          </a:p>
        </p:txBody>
      </p:sp>
      <p:grpSp>
        <p:nvGrpSpPr>
          <p:cNvPr id="72" name="Group 71">
            <a:extLst>
              <a:ext uri="{FF2B5EF4-FFF2-40B4-BE49-F238E27FC236}">
                <a16:creationId xmlns:a16="http://schemas.microsoft.com/office/drawing/2014/main" id="{A1E2049D-2B43-312B-53E7-F21B6F3B4B55}"/>
              </a:ext>
            </a:extLst>
          </p:cNvPr>
          <p:cNvGrpSpPr/>
          <p:nvPr/>
        </p:nvGrpSpPr>
        <p:grpSpPr>
          <a:xfrm>
            <a:off x="1151343" y="2261986"/>
            <a:ext cx="2909888" cy="2535216"/>
            <a:chOff x="726492" y="2133600"/>
            <a:chExt cx="2909888" cy="2535216"/>
          </a:xfrm>
        </p:grpSpPr>
        <p:sp>
          <p:nvSpPr>
            <p:cNvPr id="5" name="Rectangle 6">
              <a:extLst>
                <a:ext uri="{FF2B5EF4-FFF2-40B4-BE49-F238E27FC236}">
                  <a16:creationId xmlns:a16="http://schemas.microsoft.com/office/drawing/2014/main" id="{BE50B9A4-B2CC-21B9-CFB1-AF161A76356F}"/>
                </a:ext>
              </a:extLst>
            </p:cNvPr>
            <p:cNvSpPr>
              <a:spLocks noChangeArrowheads="1"/>
            </p:cNvSpPr>
            <p:nvPr/>
          </p:nvSpPr>
          <p:spPr bwMode="auto">
            <a:xfrm>
              <a:off x="726492" y="3836966"/>
              <a:ext cx="2909888" cy="831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en-US" b="1" dirty="0"/>
                <a:t>Fractional Factorial</a:t>
              </a:r>
              <a:endParaRPr lang="en-US" altLang="en-US" dirty="0"/>
            </a:p>
            <a:p>
              <a:pPr>
                <a:buFontTx/>
                <a:buChar char="•"/>
              </a:pPr>
              <a:r>
                <a:rPr lang="en-US" altLang="en-US" dirty="0"/>
                <a:t>Linear model</a:t>
              </a:r>
            </a:p>
          </p:txBody>
        </p:sp>
        <p:grpSp>
          <p:nvGrpSpPr>
            <p:cNvPr id="8" name="Group 29">
              <a:extLst>
                <a:ext uri="{FF2B5EF4-FFF2-40B4-BE49-F238E27FC236}">
                  <a16:creationId xmlns:a16="http://schemas.microsoft.com/office/drawing/2014/main" id="{38984033-0690-AB6A-A3CB-F92D8C9E58CA}"/>
                </a:ext>
              </a:extLst>
            </p:cNvPr>
            <p:cNvGrpSpPr>
              <a:grpSpLocks/>
            </p:cNvGrpSpPr>
            <p:nvPr/>
          </p:nvGrpSpPr>
          <p:grpSpPr bwMode="auto">
            <a:xfrm>
              <a:off x="838200" y="2133600"/>
              <a:ext cx="1447800" cy="1428750"/>
              <a:chOff x="402" y="1202"/>
              <a:chExt cx="1170" cy="1155"/>
            </a:xfrm>
          </p:grpSpPr>
          <p:sp>
            <p:nvSpPr>
              <p:cNvPr id="9" name="Rectangle 10">
                <a:extLst>
                  <a:ext uri="{FF2B5EF4-FFF2-40B4-BE49-F238E27FC236}">
                    <a16:creationId xmlns:a16="http://schemas.microsoft.com/office/drawing/2014/main" id="{4D3688AB-921F-C96E-DDE0-991174292722}"/>
                  </a:ext>
                </a:extLst>
              </p:cNvPr>
              <p:cNvSpPr>
                <a:spLocks noChangeArrowheads="1"/>
              </p:cNvSpPr>
              <p:nvPr/>
            </p:nvSpPr>
            <p:spPr bwMode="auto">
              <a:xfrm>
                <a:off x="759" y="1281"/>
                <a:ext cx="739" cy="731"/>
              </a:xfrm>
              <a:prstGeom prst="rect">
                <a:avLst/>
              </a:prstGeom>
              <a:solidFill>
                <a:srgbClr val="FFFFFF"/>
              </a:solidFill>
              <a:ln w="7938">
                <a:solidFill>
                  <a:srgbClr val="000000"/>
                </a:solidFill>
                <a:miter lim="800000"/>
                <a:headEnd/>
                <a:tailEnd/>
              </a:ln>
            </p:spPr>
            <p:txBody>
              <a:bodyPr/>
              <a:lstStyle/>
              <a:p>
                <a:endParaRPr lang="en-US"/>
              </a:p>
            </p:txBody>
          </p:sp>
          <p:sp>
            <p:nvSpPr>
              <p:cNvPr id="10" name="Line 11">
                <a:extLst>
                  <a:ext uri="{FF2B5EF4-FFF2-40B4-BE49-F238E27FC236}">
                    <a16:creationId xmlns:a16="http://schemas.microsoft.com/office/drawing/2014/main" id="{244F8009-5C6B-7507-0F6F-11EC14615C5B}"/>
                  </a:ext>
                </a:extLst>
              </p:cNvPr>
              <p:cNvSpPr>
                <a:spLocks noChangeShapeType="1"/>
              </p:cNvSpPr>
              <p:nvPr/>
            </p:nvSpPr>
            <p:spPr bwMode="auto">
              <a:xfrm flipH="1">
                <a:off x="490" y="2009"/>
                <a:ext cx="267" cy="26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12">
                <a:extLst>
                  <a:ext uri="{FF2B5EF4-FFF2-40B4-BE49-F238E27FC236}">
                    <a16:creationId xmlns:a16="http://schemas.microsoft.com/office/drawing/2014/main" id="{9ED0F8EE-C608-F1F2-0CF9-FC621072B81E}"/>
                  </a:ext>
                </a:extLst>
              </p:cNvPr>
              <p:cNvSpPr>
                <a:spLocks noChangeShapeType="1"/>
              </p:cNvSpPr>
              <p:nvPr/>
            </p:nvSpPr>
            <p:spPr bwMode="auto">
              <a:xfrm flipH="1">
                <a:off x="1292" y="2009"/>
                <a:ext cx="203" cy="26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3">
                <a:extLst>
                  <a:ext uri="{FF2B5EF4-FFF2-40B4-BE49-F238E27FC236}">
                    <a16:creationId xmlns:a16="http://schemas.microsoft.com/office/drawing/2014/main" id="{7C717194-CDD0-D412-768C-8C9529FE573F}"/>
                  </a:ext>
                </a:extLst>
              </p:cNvPr>
              <p:cNvSpPr>
                <a:spLocks noChangeShapeType="1"/>
              </p:cNvSpPr>
              <p:nvPr/>
            </p:nvSpPr>
            <p:spPr bwMode="auto">
              <a:xfrm flipH="1">
                <a:off x="490" y="1279"/>
                <a:ext cx="267" cy="19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14">
                <a:extLst>
                  <a:ext uri="{FF2B5EF4-FFF2-40B4-BE49-F238E27FC236}">
                    <a16:creationId xmlns:a16="http://schemas.microsoft.com/office/drawing/2014/main" id="{7995E6EC-138D-799E-7C4F-F1BDF78553F2}"/>
                  </a:ext>
                </a:extLst>
              </p:cNvPr>
              <p:cNvSpPr>
                <a:spLocks noChangeShapeType="1"/>
              </p:cNvSpPr>
              <p:nvPr/>
            </p:nvSpPr>
            <p:spPr bwMode="auto">
              <a:xfrm flipH="1">
                <a:off x="1292" y="1279"/>
                <a:ext cx="203" cy="19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Oval 16">
                <a:extLst>
                  <a:ext uri="{FF2B5EF4-FFF2-40B4-BE49-F238E27FC236}">
                    <a16:creationId xmlns:a16="http://schemas.microsoft.com/office/drawing/2014/main" id="{8F66D415-E57C-FA5C-F89C-8F39C2B74272}"/>
                  </a:ext>
                </a:extLst>
              </p:cNvPr>
              <p:cNvSpPr>
                <a:spLocks noChangeArrowheads="1"/>
              </p:cNvSpPr>
              <p:nvPr/>
            </p:nvSpPr>
            <p:spPr bwMode="auto">
              <a:xfrm>
                <a:off x="1403" y="1202"/>
                <a:ext cx="169" cy="164"/>
              </a:xfrm>
              <a:prstGeom prst="ellipse">
                <a:avLst/>
              </a:prstGeom>
              <a:solidFill>
                <a:srgbClr val="000000"/>
              </a:solidFill>
              <a:ln w="7938">
                <a:solidFill>
                  <a:srgbClr val="000000"/>
                </a:solidFill>
                <a:round/>
                <a:headEnd/>
                <a:tailEnd/>
              </a:ln>
            </p:spPr>
            <p:txBody>
              <a:bodyPr/>
              <a:lstStyle/>
              <a:p>
                <a:endParaRPr lang="en-US"/>
              </a:p>
            </p:txBody>
          </p:sp>
          <p:sp>
            <p:nvSpPr>
              <p:cNvPr id="15" name="Oval 18">
                <a:extLst>
                  <a:ext uri="{FF2B5EF4-FFF2-40B4-BE49-F238E27FC236}">
                    <a16:creationId xmlns:a16="http://schemas.microsoft.com/office/drawing/2014/main" id="{D0263A0F-53E4-C77A-D5FB-78ECF891D484}"/>
                  </a:ext>
                </a:extLst>
              </p:cNvPr>
              <p:cNvSpPr>
                <a:spLocks noChangeArrowheads="1"/>
              </p:cNvSpPr>
              <p:nvPr/>
            </p:nvSpPr>
            <p:spPr bwMode="auto">
              <a:xfrm>
                <a:off x="680" y="1917"/>
                <a:ext cx="164" cy="169"/>
              </a:xfrm>
              <a:prstGeom prst="ellipse">
                <a:avLst/>
              </a:prstGeom>
              <a:solidFill>
                <a:srgbClr val="000000"/>
              </a:solidFill>
              <a:ln w="7938">
                <a:solidFill>
                  <a:srgbClr val="000000"/>
                </a:solidFill>
                <a:round/>
                <a:headEnd/>
                <a:tailEnd/>
              </a:ln>
            </p:spPr>
            <p:txBody>
              <a:bodyPr/>
              <a:lstStyle/>
              <a:p>
                <a:endParaRPr lang="en-US"/>
              </a:p>
            </p:txBody>
          </p:sp>
          <p:sp>
            <p:nvSpPr>
              <p:cNvPr id="16" name="Rectangle 19">
                <a:extLst>
                  <a:ext uri="{FF2B5EF4-FFF2-40B4-BE49-F238E27FC236}">
                    <a16:creationId xmlns:a16="http://schemas.microsoft.com/office/drawing/2014/main" id="{1D117DA8-3C3D-25D9-1F68-47D2D3B91238}"/>
                  </a:ext>
                </a:extLst>
              </p:cNvPr>
              <p:cNvSpPr>
                <a:spLocks noChangeArrowheads="1"/>
              </p:cNvSpPr>
              <p:nvPr/>
            </p:nvSpPr>
            <p:spPr bwMode="auto">
              <a:xfrm>
                <a:off x="727" y="1457"/>
                <a:ext cx="79" cy="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 name="Rectangle 20">
                <a:extLst>
                  <a:ext uri="{FF2B5EF4-FFF2-40B4-BE49-F238E27FC236}">
                    <a16:creationId xmlns:a16="http://schemas.microsoft.com/office/drawing/2014/main" id="{5F3EB5CE-47B6-1110-16BB-0DF73AB4FF74}"/>
                  </a:ext>
                </a:extLst>
              </p:cNvPr>
              <p:cNvSpPr>
                <a:spLocks noChangeArrowheads="1"/>
              </p:cNvSpPr>
              <p:nvPr/>
            </p:nvSpPr>
            <p:spPr bwMode="auto">
              <a:xfrm>
                <a:off x="1257" y="1989"/>
                <a:ext cx="84" cy="5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 name="Rectangle 21">
                <a:extLst>
                  <a:ext uri="{FF2B5EF4-FFF2-40B4-BE49-F238E27FC236}">
                    <a16:creationId xmlns:a16="http://schemas.microsoft.com/office/drawing/2014/main" id="{A93C9A5C-7C0F-6553-3290-EDFDF9838696}"/>
                  </a:ext>
                </a:extLst>
              </p:cNvPr>
              <p:cNvSpPr>
                <a:spLocks noChangeArrowheads="1"/>
              </p:cNvSpPr>
              <p:nvPr/>
            </p:nvSpPr>
            <p:spPr bwMode="auto">
              <a:xfrm>
                <a:off x="492" y="1478"/>
                <a:ext cx="803" cy="800"/>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9" name="Oval 22">
                <a:extLst>
                  <a:ext uri="{FF2B5EF4-FFF2-40B4-BE49-F238E27FC236}">
                    <a16:creationId xmlns:a16="http://schemas.microsoft.com/office/drawing/2014/main" id="{F52D9C66-4D37-5FAF-2D58-2D224166386D}"/>
                  </a:ext>
                </a:extLst>
              </p:cNvPr>
              <p:cNvSpPr>
                <a:spLocks noChangeArrowheads="1"/>
              </p:cNvSpPr>
              <p:nvPr/>
            </p:nvSpPr>
            <p:spPr bwMode="auto">
              <a:xfrm>
                <a:off x="402" y="1399"/>
                <a:ext cx="170" cy="169"/>
              </a:xfrm>
              <a:prstGeom prst="ellipse">
                <a:avLst/>
              </a:prstGeom>
              <a:solidFill>
                <a:srgbClr val="000000"/>
              </a:solidFill>
              <a:ln w="7938">
                <a:solidFill>
                  <a:srgbClr val="000000"/>
                </a:solidFill>
                <a:round/>
                <a:headEnd/>
                <a:tailEnd/>
              </a:ln>
            </p:spPr>
            <p:txBody>
              <a:bodyPr/>
              <a:lstStyle/>
              <a:p>
                <a:endParaRPr lang="en-US"/>
              </a:p>
            </p:txBody>
          </p:sp>
          <p:sp>
            <p:nvSpPr>
              <p:cNvPr id="20" name="Oval 24">
                <a:extLst>
                  <a:ext uri="{FF2B5EF4-FFF2-40B4-BE49-F238E27FC236}">
                    <a16:creationId xmlns:a16="http://schemas.microsoft.com/office/drawing/2014/main" id="{5962F313-F09C-5603-407C-32BFCC89FC5F}"/>
                  </a:ext>
                </a:extLst>
              </p:cNvPr>
              <p:cNvSpPr>
                <a:spLocks noChangeArrowheads="1"/>
              </p:cNvSpPr>
              <p:nvPr/>
            </p:nvSpPr>
            <p:spPr bwMode="auto">
              <a:xfrm>
                <a:off x="1205" y="2189"/>
                <a:ext cx="169" cy="168"/>
              </a:xfrm>
              <a:prstGeom prst="ellipse">
                <a:avLst/>
              </a:prstGeom>
              <a:solidFill>
                <a:srgbClr val="000000"/>
              </a:solidFill>
              <a:ln w="7938">
                <a:solidFill>
                  <a:srgbClr val="000000"/>
                </a:solidFill>
                <a:round/>
                <a:headEnd/>
                <a:tailEnd/>
              </a:ln>
            </p:spPr>
            <p:txBody>
              <a:bodyPr/>
              <a:lstStyle/>
              <a:p>
                <a:endParaRPr lang="en-US"/>
              </a:p>
            </p:txBody>
          </p:sp>
        </p:grpSp>
      </p:grpSp>
      <p:grpSp>
        <p:nvGrpSpPr>
          <p:cNvPr id="74" name="Group 73">
            <a:extLst>
              <a:ext uri="{FF2B5EF4-FFF2-40B4-BE49-F238E27FC236}">
                <a16:creationId xmlns:a16="http://schemas.microsoft.com/office/drawing/2014/main" id="{E3107A84-1F43-0C64-6E18-8A7104EA1DFA}"/>
              </a:ext>
            </a:extLst>
          </p:cNvPr>
          <p:cNvGrpSpPr/>
          <p:nvPr/>
        </p:nvGrpSpPr>
        <p:grpSpPr>
          <a:xfrm>
            <a:off x="8304273" y="1776994"/>
            <a:ext cx="3621707" cy="3567538"/>
            <a:chOff x="5715000" y="1600200"/>
            <a:chExt cx="3621707" cy="3567538"/>
          </a:xfrm>
        </p:grpSpPr>
        <p:sp>
          <p:nvSpPr>
            <p:cNvPr id="7" name="Rectangle 8">
              <a:extLst>
                <a:ext uri="{FF2B5EF4-FFF2-40B4-BE49-F238E27FC236}">
                  <a16:creationId xmlns:a16="http://schemas.microsoft.com/office/drawing/2014/main" id="{F999DF57-2967-46B9-2DD1-6F241171026E}"/>
                </a:ext>
              </a:extLst>
            </p:cNvPr>
            <p:cNvSpPr>
              <a:spLocks noChangeArrowheads="1"/>
            </p:cNvSpPr>
            <p:nvPr/>
          </p:nvSpPr>
          <p:spPr bwMode="auto">
            <a:xfrm>
              <a:off x="5721970" y="4335888"/>
              <a:ext cx="3614737" cy="831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b="1" dirty="0"/>
                <a:t>Central Composite Design</a:t>
              </a:r>
              <a:endParaRPr lang="en-US" altLang="en-US" dirty="0"/>
            </a:p>
            <a:p>
              <a:pPr>
                <a:buFontTx/>
                <a:buChar char="•"/>
              </a:pPr>
              <a:r>
                <a:rPr lang="en-US" altLang="en-US" dirty="0"/>
                <a:t>Full quadratic model</a:t>
              </a:r>
            </a:p>
          </p:txBody>
        </p:sp>
        <p:grpSp>
          <p:nvGrpSpPr>
            <p:cNvPr id="21" name="Group 82">
              <a:extLst>
                <a:ext uri="{FF2B5EF4-FFF2-40B4-BE49-F238E27FC236}">
                  <a16:creationId xmlns:a16="http://schemas.microsoft.com/office/drawing/2014/main" id="{D362CC8D-BBD1-494A-95DB-B4EA7599690E}"/>
                </a:ext>
              </a:extLst>
            </p:cNvPr>
            <p:cNvGrpSpPr>
              <a:grpSpLocks/>
            </p:cNvGrpSpPr>
            <p:nvPr/>
          </p:nvGrpSpPr>
          <p:grpSpPr bwMode="auto">
            <a:xfrm>
              <a:off x="5715000" y="1600200"/>
              <a:ext cx="2514600" cy="2667000"/>
              <a:chOff x="3600" y="1008"/>
              <a:chExt cx="1584" cy="1680"/>
            </a:xfrm>
          </p:grpSpPr>
          <p:sp>
            <p:nvSpPr>
              <p:cNvPr id="22" name="Rectangle 52">
                <a:extLst>
                  <a:ext uri="{FF2B5EF4-FFF2-40B4-BE49-F238E27FC236}">
                    <a16:creationId xmlns:a16="http://schemas.microsoft.com/office/drawing/2014/main" id="{5CAF121E-082C-C44D-8B0A-5E4C2930A4D1}"/>
                  </a:ext>
                </a:extLst>
              </p:cNvPr>
              <p:cNvSpPr>
                <a:spLocks noChangeArrowheads="1"/>
              </p:cNvSpPr>
              <p:nvPr/>
            </p:nvSpPr>
            <p:spPr bwMode="auto">
              <a:xfrm>
                <a:off x="4166" y="1406"/>
                <a:ext cx="576" cy="569"/>
              </a:xfrm>
              <a:prstGeom prst="rect">
                <a:avLst/>
              </a:prstGeom>
              <a:solidFill>
                <a:srgbClr val="FFFFFF"/>
              </a:solidFill>
              <a:ln w="7938">
                <a:solidFill>
                  <a:srgbClr val="000000"/>
                </a:solidFill>
                <a:miter lim="800000"/>
                <a:headEnd/>
                <a:tailEnd/>
              </a:ln>
            </p:spPr>
            <p:txBody>
              <a:bodyPr/>
              <a:lstStyle/>
              <a:p>
                <a:endParaRPr lang="en-US"/>
              </a:p>
            </p:txBody>
          </p:sp>
          <p:sp>
            <p:nvSpPr>
              <p:cNvPr id="23" name="Line 53">
                <a:extLst>
                  <a:ext uri="{FF2B5EF4-FFF2-40B4-BE49-F238E27FC236}">
                    <a16:creationId xmlns:a16="http://schemas.microsoft.com/office/drawing/2014/main" id="{8C5DFFF4-62AB-4EAA-884A-EBFFF7750E19}"/>
                  </a:ext>
                </a:extLst>
              </p:cNvPr>
              <p:cNvSpPr>
                <a:spLocks noChangeShapeType="1"/>
              </p:cNvSpPr>
              <p:nvPr/>
            </p:nvSpPr>
            <p:spPr bwMode="auto">
              <a:xfrm flipH="1">
                <a:off x="3957" y="1973"/>
                <a:ext cx="208" cy="20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54">
                <a:extLst>
                  <a:ext uri="{FF2B5EF4-FFF2-40B4-BE49-F238E27FC236}">
                    <a16:creationId xmlns:a16="http://schemas.microsoft.com/office/drawing/2014/main" id="{8E506530-067C-216D-F12A-2F4458D47137}"/>
                  </a:ext>
                </a:extLst>
              </p:cNvPr>
              <p:cNvSpPr>
                <a:spLocks noChangeShapeType="1"/>
              </p:cNvSpPr>
              <p:nvPr/>
            </p:nvSpPr>
            <p:spPr bwMode="auto">
              <a:xfrm flipH="1">
                <a:off x="4582" y="1973"/>
                <a:ext cx="158" cy="20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55">
                <a:extLst>
                  <a:ext uri="{FF2B5EF4-FFF2-40B4-BE49-F238E27FC236}">
                    <a16:creationId xmlns:a16="http://schemas.microsoft.com/office/drawing/2014/main" id="{F3DBB48A-728B-BF32-1950-98542F2A640A}"/>
                  </a:ext>
                </a:extLst>
              </p:cNvPr>
              <p:cNvSpPr>
                <a:spLocks noChangeShapeType="1"/>
              </p:cNvSpPr>
              <p:nvPr/>
            </p:nvSpPr>
            <p:spPr bwMode="auto">
              <a:xfrm flipH="1">
                <a:off x="3957" y="1404"/>
                <a:ext cx="208" cy="15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56">
                <a:extLst>
                  <a:ext uri="{FF2B5EF4-FFF2-40B4-BE49-F238E27FC236}">
                    <a16:creationId xmlns:a16="http://schemas.microsoft.com/office/drawing/2014/main" id="{99D3FA73-8CAE-DD60-1823-9C5048F79451}"/>
                  </a:ext>
                </a:extLst>
              </p:cNvPr>
              <p:cNvSpPr>
                <a:spLocks noChangeShapeType="1"/>
              </p:cNvSpPr>
              <p:nvPr/>
            </p:nvSpPr>
            <p:spPr bwMode="auto">
              <a:xfrm flipH="1">
                <a:off x="4582" y="1404"/>
                <a:ext cx="158" cy="15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Oval 57">
                <a:extLst>
                  <a:ext uri="{FF2B5EF4-FFF2-40B4-BE49-F238E27FC236}">
                    <a16:creationId xmlns:a16="http://schemas.microsoft.com/office/drawing/2014/main" id="{2460748F-A9AD-3ED9-8A38-1279CA3D61B9}"/>
                  </a:ext>
                </a:extLst>
              </p:cNvPr>
              <p:cNvSpPr>
                <a:spLocks noChangeArrowheads="1"/>
              </p:cNvSpPr>
              <p:nvPr/>
            </p:nvSpPr>
            <p:spPr bwMode="auto">
              <a:xfrm>
                <a:off x="4668" y="1344"/>
                <a:ext cx="132" cy="128"/>
              </a:xfrm>
              <a:prstGeom prst="ellipse">
                <a:avLst/>
              </a:prstGeom>
              <a:solidFill>
                <a:srgbClr val="000000"/>
              </a:solidFill>
              <a:ln w="7938">
                <a:solidFill>
                  <a:srgbClr val="000000"/>
                </a:solidFill>
                <a:round/>
                <a:headEnd/>
                <a:tailEnd/>
              </a:ln>
            </p:spPr>
            <p:txBody>
              <a:bodyPr/>
              <a:lstStyle/>
              <a:p>
                <a:endParaRPr lang="en-US"/>
              </a:p>
            </p:txBody>
          </p:sp>
          <p:sp>
            <p:nvSpPr>
              <p:cNvPr id="28" name="Oval 58">
                <a:extLst>
                  <a:ext uri="{FF2B5EF4-FFF2-40B4-BE49-F238E27FC236}">
                    <a16:creationId xmlns:a16="http://schemas.microsoft.com/office/drawing/2014/main" id="{634040CA-D785-DA51-E4EF-14EAC5FED018}"/>
                  </a:ext>
                </a:extLst>
              </p:cNvPr>
              <p:cNvSpPr>
                <a:spLocks noChangeArrowheads="1"/>
              </p:cNvSpPr>
              <p:nvPr/>
            </p:nvSpPr>
            <p:spPr bwMode="auto">
              <a:xfrm>
                <a:off x="4105" y="1901"/>
                <a:ext cx="128" cy="132"/>
              </a:xfrm>
              <a:prstGeom prst="ellipse">
                <a:avLst/>
              </a:prstGeom>
              <a:solidFill>
                <a:srgbClr val="000000"/>
              </a:solidFill>
              <a:ln w="7938">
                <a:solidFill>
                  <a:srgbClr val="000000"/>
                </a:solidFill>
                <a:round/>
                <a:headEnd/>
                <a:tailEnd/>
              </a:ln>
            </p:spPr>
            <p:txBody>
              <a:bodyPr/>
              <a:lstStyle/>
              <a:p>
                <a:endParaRPr lang="en-US"/>
              </a:p>
            </p:txBody>
          </p:sp>
          <p:sp>
            <p:nvSpPr>
              <p:cNvPr id="29" name="Rectangle 59">
                <a:extLst>
                  <a:ext uri="{FF2B5EF4-FFF2-40B4-BE49-F238E27FC236}">
                    <a16:creationId xmlns:a16="http://schemas.microsoft.com/office/drawing/2014/main" id="{F37116F4-3F9E-7928-84AC-E90F8F5A789B}"/>
                  </a:ext>
                </a:extLst>
              </p:cNvPr>
              <p:cNvSpPr>
                <a:spLocks noChangeArrowheads="1"/>
              </p:cNvSpPr>
              <p:nvPr/>
            </p:nvSpPr>
            <p:spPr bwMode="auto">
              <a:xfrm>
                <a:off x="4141" y="1543"/>
                <a:ext cx="62" cy="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 name="Rectangle 60">
                <a:extLst>
                  <a:ext uri="{FF2B5EF4-FFF2-40B4-BE49-F238E27FC236}">
                    <a16:creationId xmlns:a16="http://schemas.microsoft.com/office/drawing/2014/main" id="{D9BC4FA7-9983-9ECE-B77C-094E0794C16F}"/>
                  </a:ext>
                </a:extLst>
              </p:cNvPr>
              <p:cNvSpPr>
                <a:spLocks noChangeArrowheads="1"/>
              </p:cNvSpPr>
              <p:nvPr/>
            </p:nvSpPr>
            <p:spPr bwMode="auto">
              <a:xfrm>
                <a:off x="4554" y="1957"/>
                <a:ext cx="66" cy="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1" name="Rectangle 61">
                <a:extLst>
                  <a:ext uri="{FF2B5EF4-FFF2-40B4-BE49-F238E27FC236}">
                    <a16:creationId xmlns:a16="http://schemas.microsoft.com/office/drawing/2014/main" id="{DABA1FBD-0814-1B4D-971E-9476555A88DC}"/>
                  </a:ext>
                </a:extLst>
              </p:cNvPr>
              <p:cNvSpPr>
                <a:spLocks noChangeArrowheads="1"/>
              </p:cNvSpPr>
              <p:nvPr/>
            </p:nvSpPr>
            <p:spPr bwMode="auto">
              <a:xfrm>
                <a:off x="3958" y="1559"/>
                <a:ext cx="626" cy="623"/>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2" name="Oval 62">
                <a:extLst>
                  <a:ext uri="{FF2B5EF4-FFF2-40B4-BE49-F238E27FC236}">
                    <a16:creationId xmlns:a16="http://schemas.microsoft.com/office/drawing/2014/main" id="{440CC16A-A488-C898-1F7E-DE6A72441936}"/>
                  </a:ext>
                </a:extLst>
              </p:cNvPr>
              <p:cNvSpPr>
                <a:spLocks noChangeArrowheads="1"/>
              </p:cNvSpPr>
              <p:nvPr/>
            </p:nvSpPr>
            <p:spPr bwMode="auto">
              <a:xfrm>
                <a:off x="3888" y="1498"/>
                <a:ext cx="133" cy="131"/>
              </a:xfrm>
              <a:prstGeom prst="ellipse">
                <a:avLst/>
              </a:prstGeom>
              <a:solidFill>
                <a:srgbClr val="000000"/>
              </a:solidFill>
              <a:ln w="7938">
                <a:solidFill>
                  <a:srgbClr val="000000"/>
                </a:solidFill>
                <a:round/>
                <a:headEnd/>
                <a:tailEnd/>
              </a:ln>
            </p:spPr>
            <p:txBody>
              <a:bodyPr/>
              <a:lstStyle/>
              <a:p>
                <a:endParaRPr lang="en-US"/>
              </a:p>
            </p:txBody>
          </p:sp>
          <p:sp>
            <p:nvSpPr>
              <p:cNvPr id="33" name="Oval 63">
                <a:extLst>
                  <a:ext uri="{FF2B5EF4-FFF2-40B4-BE49-F238E27FC236}">
                    <a16:creationId xmlns:a16="http://schemas.microsoft.com/office/drawing/2014/main" id="{01BB7487-9BC8-7E87-9C4A-6FF49A676CE4}"/>
                  </a:ext>
                </a:extLst>
              </p:cNvPr>
              <p:cNvSpPr>
                <a:spLocks noChangeArrowheads="1"/>
              </p:cNvSpPr>
              <p:nvPr/>
            </p:nvSpPr>
            <p:spPr bwMode="auto">
              <a:xfrm>
                <a:off x="4514" y="2113"/>
                <a:ext cx="132" cy="131"/>
              </a:xfrm>
              <a:prstGeom prst="ellipse">
                <a:avLst/>
              </a:prstGeom>
              <a:solidFill>
                <a:srgbClr val="000000"/>
              </a:solidFill>
              <a:ln w="7938">
                <a:solidFill>
                  <a:srgbClr val="000000"/>
                </a:solidFill>
                <a:round/>
                <a:headEnd/>
                <a:tailEnd/>
              </a:ln>
            </p:spPr>
            <p:txBody>
              <a:bodyPr/>
              <a:lstStyle/>
              <a:p>
                <a:endParaRPr lang="en-US"/>
              </a:p>
            </p:txBody>
          </p:sp>
          <p:sp>
            <p:nvSpPr>
              <p:cNvPr id="34" name="Oval 64">
                <a:extLst>
                  <a:ext uri="{FF2B5EF4-FFF2-40B4-BE49-F238E27FC236}">
                    <a16:creationId xmlns:a16="http://schemas.microsoft.com/office/drawing/2014/main" id="{225B96EB-17FC-A6D7-53B5-0F48BE64BBFD}"/>
                  </a:ext>
                </a:extLst>
              </p:cNvPr>
              <p:cNvSpPr>
                <a:spLocks noChangeArrowheads="1"/>
              </p:cNvSpPr>
              <p:nvPr/>
            </p:nvSpPr>
            <p:spPr bwMode="auto">
              <a:xfrm>
                <a:off x="4320" y="1680"/>
                <a:ext cx="96" cy="96"/>
              </a:xfrm>
              <a:prstGeom prst="ellipse">
                <a:avLst/>
              </a:prstGeom>
              <a:solidFill>
                <a:srgbClr val="000000"/>
              </a:solidFill>
              <a:ln w="7938">
                <a:solidFill>
                  <a:srgbClr val="000000"/>
                </a:solidFill>
                <a:round/>
                <a:headEnd/>
                <a:tailEnd/>
              </a:ln>
            </p:spPr>
            <p:txBody>
              <a:bodyPr/>
              <a:lstStyle/>
              <a:p>
                <a:endParaRPr lang="en-US"/>
              </a:p>
            </p:txBody>
          </p:sp>
          <p:sp>
            <p:nvSpPr>
              <p:cNvPr id="35" name="Oval 65">
                <a:extLst>
                  <a:ext uri="{FF2B5EF4-FFF2-40B4-BE49-F238E27FC236}">
                    <a16:creationId xmlns:a16="http://schemas.microsoft.com/office/drawing/2014/main" id="{B9F73EF4-451E-CD1D-35A2-E8B0453EF1DD}"/>
                  </a:ext>
                </a:extLst>
              </p:cNvPr>
              <p:cNvSpPr>
                <a:spLocks noChangeArrowheads="1"/>
              </p:cNvSpPr>
              <p:nvPr/>
            </p:nvSpPr>
            <p:spPr bwMode="auto">
              <a:xfrm>
                <a:off x="4080" y="1344"/>
                <a:ext cx="132" cy="131"/>
              </a:xfrm>
              <a:prstGeom prst="ellipse">
                <a:avLst/>
              </a:prstGeom>
              <a:solidFill>
                <a:srgbClr val="000000"/>
              </a:solidFill>
              <a:ln w="7938">
                <a:solidFill>
                  <a:srgbClr val="000000"/>
                </a:solidFill>
                <a:round/>
                <a:headEnd/>
                <a:tailEnd/>
              </a:ln>
            </p:spPr>
            <p:txBody>
              <a:bodyPr/>
              <a:lstStyle/>
              <a:p>
                <a:endParaRPr lang="en-US"/>
              </a:p>
            </p:txBody>
          </p:sp>
          <p:sp>
            <p:nvSpPr>
              <p:cNvPr id="36" name="Oval 66">
                <a:extLst>
                  <a:ext uri="{FF2B5EF4-FFF2-40B4-BE49-F238E27FC236}">
                    <a16:creationId xmlns:a16="http://schemas.microsoft.com/office/drawing/2014/main" id="{2FA378EA-EA19-2DD0-FCDC-4776CDDD882F}"/>
                  </a:ext>
                </a:extLst>
              </p:cNvPr>
              <p:cNvSpPr>
                <a:spLocks noChangeArrowheads="1"/>
              </p:cNvSpPr>
              <p:nvPr/>
            </p:nvSpPr>
            <p:spPr bwMode="auto">
              <a:xfrm>
                <a:off x="3888" y="2112"/>
                <a:ext cx="132" cy="131"/>
              </a:xfrm>
              <a:prstGeom prst="ellipse">
                <a:avLst/>
              </a:prstGeom>
              <a:solidFill>
                <a:srgbClr val="000000"/>
              </a:solidFill>
              <a:ln w="7938">
                <a:solidFill>
                  <a:srgbClr val="000000"/>
                </a:solidFill>
                <a:round/>
                <a:headEnd/>
                <a:tailEnd/>
              </a:ln>
            </p:spPr>
            <p:txBody>
              <a:bodyPr/>
              <a:lstStyle/>
              <a:p>
                <a:endParaRPr lang="en-US"/>
              </a:p>
            </p:txBody>
          </p:sp>
          <p:sp>
            <p:nvSpPr>
              <p:cNvPr id="37" name="Oval 67">
                <a:extLst>
                  <a:ext uri="{FF2B5EF4-FFF2-40B4-BE49-F238E27FC236}">
                    <a16:creationId xmlns:a16="http://schemas.microsoft.com/office/drawing/2014/main" id="{57828B54-D8E7-D214-307D-3DBF207A4CD7}"/>
                  </a:ext>
                </a:extLst>
              </p:cNvPr>
              <p:cNvSpPr>
                <a:spLocks noChangeArrowheads="1"/>
              </p:cNvSpPr>
              <p:nvPr/>
            </p:nvSpPr>
            <p:spPr bwMode="auto">
              <a:xfrm>
                <a:off x="4656" y="1920"/>
                <a:ext cx="132" cy="131"/>
              </a:xfrm>
              <a:prstGeom prst="ellipse">
                <a:avLst/>
              </a:prstGeom>
              <a:solidFill>
                <a:srgbClr val="000000"/>
              </a:solidFill>
              <a:ln w="7938">
                <a:solidFill>
                  <a:srgbClr val="000000"/>
                </a:solidFill>
                <a:round/>
                <a:headEnd/>
                <a:tailEnd/>
              </a:ln>
            </p:spPr>
            <p:txBody>
              <a:bodyPr/>
              <a:lstStyle/>
              <a:p>
                <a:endParaRPr lang="en-US"/>
              </a:p>
            </p:txBody>
          </p:sp>
          <p:sp>
            <p:nvSpPr>
              <p:cNvPr id="38" name="Oval 68">
                <a:extLst>
                  <a:ext uri="{FF2B5EF4-FFF2-40B4-BE49-F238E27FC236}">
                    <a16:creationId xmlns:a16="http://schemas.microsoft.com/office/drawing/2014/main" id="{A73AB7C2-17EF-758B-B27A-580C3B511EFA}"/>
                  </a:ext>
                </a:extLst>
              </p:cNvPr>
              <p:cNvSpPr>
                <a:spLocks noChangeArrowheads="1"/>
              </p:cNvSpPr>
              <p:nvPr/>
            </p:nvSpPr>
            <p:spPr bwMode="auto">
              <a:xfrm>
                <a:off x="4272" y="1776"/>
                <a:ext cx="96" cy="96"/>
              </a:xfrm>
              <a:prstGeom prst="ellipse">
                <a:avLst/>
              </a:prstGeom>
              <a:solidFill>
                <a:srgbClr val="000000"/>
              </a:solidFill>
              <a:ln w="7938">
                <a:solidFill>
                  <a:srgbClr val="000000"/>
                </a:solidFill>
                <a:round/>
                <a:headEnd/>
                <a:tailEnd/>
              </a:ln>
            </p:spPr>
            <p:txBody>
              <a:bodyPr/>
              <a:lstStyle/>
              <a:p>
                <a:endParaRPr lang="en-US"/>
              </a:p>
            </p:txBody>
          </p:sp>
          <p:sp>
            <p:nvSpPr>
              <p:cNvPr id="39" name="Oval 69">
                <a:extLst>
                  <a:ext uri="{FF2B5EF4-FFF2-40B4-BE49-F238E27FC236}">
                    <a16:creationId xmlns:a16="http://schemas.microsoft.com/office/drawing/2014/main" id="{C7930D24-0306-BF43-5D09-78D3B7DB74A7}"/>
                  </a:ext>
                </a:extLst>
              </p:cNvPr>
              <p:cNvSpPr>
                <a:spLocks noChangeArrowheads="1"/>
              </p:cNvSpPr>
              <p:nvPr/>
            </p:nvSpPr>
            <p:spPr bwMode="auto">
              <a:xfrm>
                <a:off x="4368" y="1776"/>
                <a:ext cx="96" cy="96"/>
              </a:xfrm>
              <a:prstGeom prst="ellipse">
                <a:avLst/>
              </a:prstGeom>
              <a:solidFill>
                <a:srgbClr val="000000"/>
              </a:solidFill>
              <a:ln w="7938">
                <a:solidFill>
                  <a:srgbClr val="000000"/>
                </a:solidFill>
                <a:round/>
                <a:headEnd/>
                <a:tailEnd/>
              </a:ln>
            </p:spPr>
            <p:txBody>
              <a:bodyPr/>
              <a:lstStyle/>
              <a:p>
                <a:endParaRPr lang="en-US"/>
              </a:p>
            </p:txBody>
          </p:sp>
          <p:sp>
            <p:nvSpPr>
              <p:cNvPr id="40" name="Line 70">
                <a:extLst>
                  <a:ext uri="{FF2B5EF4-FFF2-40B4-BE49-F238E27FC236}">
                    <a16:creationId xmlns:a16="http://schemas.microsoft.com/office/drawing/2014/main" id="{F75DA3B3-8B03-0890-BBED-D4D9D5D5E11F}"/>
                  </a:ext>
                </a:extLst>
              </p:cNvPr>
              <p:cNvSpPr>
                <a:spLocks noChangeShapeType="1"/>
              </p:cNvSpPr>
              <p:nvPr/>
            </p:nvSpPr>
            <p:spPr bwMode="auto">
              <a:xfrm flipH="1">
                <a:off x="4080" y="1344"/>
                <a:ext cx="480" cy="9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 name="Line 71">
                <a:extLst>
                  <a:ext uri="{FF2B5EF4-FFF2-40B4-BE49-F238E27FC236}">
                    <a16:creationId xmlns:a16="http://schemas.microsoft.com/office/drawing/2014/main" id="{26A6B865-FC60-A7AB-3EB2-40E301CF46E7}"/>
                  </a:ext>
                </a:extLst>
              </p:cNvPr>
              <p:cNvSpPr>
                <a:spLocks noChangeShapeType="1"/>
              </p:cNvSpPr>
              <p:nvPr/>
            </p:nvSpPr>
            <p:spPr bwMode="auto">
              <a:xfrm>
                <a:off x="3648" y="1776"/>
                <a:ext cx="14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 name="Line 72">
                <a:extLst>
                  <a:ext uri="{FF2B5EF4-FFF2-40B4-BE49-F238E27FC236}">
                    <a16:creationId xmlns:a16="http://schemas.microsoft.com/office/drawing/2014/main" id="{34F8AB57-5F5B-8328-4413-8D3C6F864CFB}"/>
                  </a:ext>
                </a:extLst>
              </p:cNvPr>
              <p:cNvSpPr>
                <a:spLocks noChangeShapeType="1"/>
              </p:cNvSpPr>
              <p:nvPr/>
            </p:nvSpPr>
            <p:spPr bwMode="auto">
              <a:xfrm>
                <a:off x="4368" y="1056"/>
                <a:ext cx="0" cy="15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 name="Oval 73">
                <a:extLst>
                  <a:ext uri="{FF2B5EF4-FFF2-40B4-BE49-F238E27FC236}">
                    <a16:creationId xmlns:a16="http://schemas.microsoft.com/office/drawing/2014/main" id="{EAF3952B-9622-9AB5-2C3F-A7472B94B9DB}"/>
                  </a:ext>
                </a:extLst>
              </p:cNvPr>
              <p:cNvSpPr>
                <a:spLocks noChangeArrowheads="1"/>
              </p:cNvSpPr>
              <p:nvPr/>
            </p:nvSpPr>
            <p:spPr bwMode="auto">
              <a:xfrm>
                <a:off x="4320" y="1008"/>
                <a:ext cx="96" cy="96"/>
              </a:xfrm>
              <a:prstGeom prst="ellipse">
                <a:avLst/>
              </a:prstGeom>
              <a:solidFill>
                <a:srgbClr val="000000"/>
              </a:solidFill>
              <a:ln w="7938">
                <a:solidFill>
                  <a:srgbClr val="000000"/>
                </a:solidFill>
                <a:round/>
                <a:headEnd/>
                <a:tailEnd/>
              </a:ln>
            </p:spPr>
            <p:txBody>
              <a:bodyPr/>
              <a:lstStyle/>
              <a:p>
                <a:endParaRPr lang="en-US"/>
              </a:p>
            </p:txBody>
          </p:sp>
          <p:sp>
            <p:nvSpPr>
              <p:cNvPr id="44" name="Oval 74">
                <a:extLst>
                  <a:ext uri="{FF2B5EF4-FFF2-40B4-BE49-F238E27FC236}">
                    <a16:creationId xmlns:a16="http://schemas.microsoft.com/office/drawing/2014/main" id="{15E3A036-77AE-9A20-FE1D-DBBF2E811895}"/>
                  </a:ext>
                </a:extLst>
              </p:cNvPr>
              <p:cNvSpPr>
                <a:spLocks noChangeArrowheads="1"/>
              </p:cNvSpPr>
              <p:nvPr/>
            </p:nvSpPr>
            <p:spPr bwMode="auto">
              <a:xfrm>
                <a:off x="4512" y="1296"/>
                <a:ext cx="96" cy="96"/>
              </a:xfrm>
              <a:prstGeom prst="ellipse">
                <a:avLst/>
              </a:prstGeom>
              <a:solidFill>
                <a:srgbClr val="000000"/>
              </a:solidFill>
              <a:ln w="7938">
                <a:solidFill>
                  <a:srgbClr val="000000"/>
                </a:solidFill>
                <a:round/>
                <a:headEnd/>
                <a:tailEnd/>
              </a:ln>
            </p:spPr>
            <p:txBody>
              <a:bodyPr/>
              <a:lstStyle/>
              <a:p>
                <a:endParaRPr lang="en-US"/>
              </a:p>
            </p:txBody>
          </p:sp>
          <p:sp>
            <p:nvSpPr>
              <p:cNvPr id="45" name="Oval 75">
                <a:extLst>
                  <a:ext uri="{FF2B5EF4-FFF2-40B4-BE49-F238E27FC236}">
                    <a16:creationId xmlns:a16="http://schemas.microsoft.com/office/drawing/2014/main" id="{C68E2425-3480-2CA2-23D9-E452B254F868}"/>
                  </a:ext>
                </a:extLst>
              </p:cNvPr>
              <p:cNvSpPr>
                <a:spLocks noChangeArrowheads="1"/>
              </p:cNvSpPr>
              <p:nvPr/>
            </p:nvSpPr>
            <p:spPr bwMode="auto">
              <a:xfrm>
                <a:off x="4032" y="2256"/>
                <a:ext cx="96" cy="96"/>
              </a:xfrm>
              <a:prstGeom prst="ellipse">
                <a:avLst/>
              </a:prstGeom>
              <a:solidFill>
                <a:srgbClr val="000000"/>
              </a:solidFill>
              <a:ln w="7938">
                <a:solidFill>
                  <a:srgbClr val="000000"/>
                </a:solidFill>
                <a:round/>
                <a:headEnd/>
                <a:tailEnd/>
              </a:ln>
            </p:spPr>
            <p:txBody>
              <a:bodyPr/>
              <a:lstStyle/>
              <a:p>
                <a:endParaRPr lang="en-US"/>
              </a:p>
            </p:txBody>
          </p:sp>
          <p:sp>
            <p:nvSpPr>
              <p:cNvPr id="46" name="Oval 76">
                <a:extLst>
                  <a:ext uri="{FF2B5EF4-FFF2-40B4-BE49-F238E27FC236}">
                    <a16:creationId xmlns:a16="http://schemas.microsoft.com/office/drawing/2014/main" id="{6F30D10E-87DC-7E19-6764-31C2CA91015E}"/>
                  </a:ext>
                </a:extLst>
              </p:cNvPr>
              <p:cNvSpPr>
                <a:spLocks noChangeArrowheads="1"/>
              </p:cNvSpPr>
              <p:nvPr/>
            </p:nvSpPr>
            <p:spPr bwMode="auto">
              <a:xfrm>
                <a:off x="3600" y="1728"/>
                <a:ext cx="96" cy="96"/>
              </a:xfrm>
              <a:prstGeom prst="ellipse">
                <a:avLst/>
              </a:prstGeom>
              <a:solidFill>
                <a:srgbClr val="000000"/>
              </a:solidFill>
              <a:ln w="7938">
                <a:solidFill>
                  <a:srgbClr val="000000"/>
                </a:solidFill>
                <a:round/>
                <a:headEnd/>
                <a:tailEnd/>
              </a:ln>
            </p:spPr>
            <p:txBody>
              <a:bodyPr/>
              <a:lstStyle/>
              <a:p>
                <a:endParaRPr lang="en-US"/>
              </a:p>
            </p:txBody>
          </p:sp>
          <p:sp>
            <p:nvSpPr>
              <p:cNvPr id="47" name="Oval 77">
                <a:extLst>
                  <a:ext uri="{FF2B5EF4-FFF2-40B4-BE49-F238E27FC236}">
                    <a16:creationId xmlns:a16="http://schemas.microsoft.com/office/drawing/2014/main" id="{08620884-702B-A786-2BF2-9C3E1B8BC095}"/>
                  </a:ext>
                </a:extLst>
              </p:cNvPr>
              <p:cNvSpPr>
                <a:spLocks noChangeArrowheads="1"/>
              </p:cNvSpPr>
              <p:nvPr/>
            </p:nvSpPr>
            <p:spPr bwMode="auto">
              <a:xfrm>
                <a:off x="4320" y="2592"/>
                <a:ext cx="96" cy="96"/>
              </a:xfrm>
              <a:prstGeom prst="ellipse">
                <a:avLst/>
              </a:prstGeom>
              <a:solidFill>
                <a:srgbClr val="000000"/>
              </a:solidFill>
              <a:ln w="7938">
                <a:solidFill>
                  <a:srgbClr val="000000"/>
                </a:solidFill>
                <a:round/>
                <a:headEnd/>
                <a:tailEnd/>
              </a:ln>
            </p:spPr>
            <p:txBody>
              <a:bodyPr/>
              <a:lstStyle/>
              <a:p>
                <a:endParaRPr lang="en-US"/>
              </a:p>
            </p:txBody>
          </p:sp>
          <p:sp>
            <p:nvSpPr>
              <p:cNvPr id="48" name="Oval 78">
                <a:extLst>
                  <a:ext uri="{FF2B5EF4-FFF2-40B4-BE49-F238E27FC236}">
                    <a16:creationId xmlns:a16="http://schemas.microsoft.com/office/drawing/2014/main" id="{F3376C15-E534-5DAD-0632-E730113CCD5D}"/>
                  </a:ext>
                </a:extLst>
              </p:cNvPr>
              <p:cNvSpPr>
                <a:spLocks noChangeArrowheads="1"/>
              </p:cNvSpPr>
              <p:nvPr/>
            </p:nvSpPr>
            <p:spPr bwMode="auto">
              <a:xfrm>
                <a:off x="5088" y="1728"/>
                <a:ext cx="96" cy="96"/>
              </a:xfrm>
              <a:prstGeom prst="ellipse">
                <a:avLst/>
              </a:prstGeom>
              <a:solidFill>
                <a:srgbClr val="000000"/>
              </a:solidFill>
              <a:ln w="7938">
                <a:solidFill>
                  <a:srgbClr val="000000"/>
                </a:solidFill>
                <a:round/>
                <a:headEnd/>
                <a:tailEnd/>
              </a:ln>
            </p:spPr>
            <p:txBody>
              <a:bodyPr/>
              <a:lstStyle/>
              <a:p>
                <a:endParaRPr lang="en-US"/>
              </a:p>
            </p:txBody>
          </p:sp>
          <p:sp>
            <p:nvSpPr>
              <p:cNvPr id="49" name="Oval 79">
                <a:extLst>
                  <a:ext uri="{FF2B5EF4-FFF2-40B4-BE49-F238E27FC236}">
                    <a16:creationId xmlns:a16="http://schemas.microsoft.com/office/drawing/2014/main" id="{51895AB5-4B0F-A5BE-CE59-92E58EC666D8}"/>
                  </a:ext>
                </a:extLst>
              </p:cNvPr>
              <p:cNvSpPr>
                <a:spLocks noChangeArrowheads="1"/>
              </p:cNvSpPr>
              <p:nvPr/>
            </p:nvSpPr>
            <p:spPr bwMode="auto">
              <a:xfrm>
                <a:off x="4512" y="1488"/>
                <a:ext cx="132" cy="128"/>
              </a:xfrm>
              <a:prstGeom prst="ellipse">
                <a:avLst/>
              </a:prstGeom>
              <a:solidFill>
                <a:srgbClr val="000000"/>
              </a:solidFill>
              <a:ln w="7938">
                <a:solidFill>
                  <a:srgbClr val="000000"/>
                </a:solidFill>
                <a:round/>
                <a:headEnd/>
                <a:tailEnd/>
              </a:ln>
            </p:spPr>
            <p:txBody>
              <a:bodyPr/>
              <a:lstStyle/>
              <a:p>
                <a:endParaRPr lang="en-US"/>
              </a:p>
            </p:txBody>
          </p:sp>
        </p:grpSp>
      </p:grpSp>
      <p:grpSp>
        <p:nvGrpSpPr>
          <p:cNvPr id="73" name="Group 72">
            <a:extLst>
              <a:ext uri="{FF2B5EF4-FFF2-40B4-BE49-F238E27FC236}">
                <a16:creationId xmlns:a16="http://schemas.microsoft.com/office/drawing/2014/main" id="{75317C76-5630-CB6D-1F29-3B1BBDC88FB7}"/>
              </a:ext>
            </a:extLst>
          </p:cNvPr>
          <p:cNvGrpSpPr/>
          <p:nvPr/>
        </p:nvGrpSpPr>
        <p:grpSpPr>
          <a:xfrm>
            <a:off x="4536789" y="2146881"/>
            <a:ext cx="2303462" cy="3527425"/>
            <a:chOff x="3150861" y="2133600"/>
            <a:chExt cx="2303462" cy="3527425"/>
          </a:xfrm>
        </p:grpSpPr>
        <p:sp>
          <p:nvSpPr>
            <p:cNvPr id="6" name="Rectangle 7">
              <a:extLst>
                <a:ext uri="{FF2B5EF4-FFF2-40B4-BE49-F238E27FC236}">
                  <a16:creationId xmlns:a16="http://schemas.microsoft.com/office/drawing/2014/main" id="{CA30EFA3-4183-5B27-E5D3-5816474F975D}"/>
                </a:ext>
              </a:extLst>
            </p:cNvPr>
            <p:cNvSpPr>
              <a:spLocks noChangeArrowheads="1"/>
            </p:cNvSpPr>
            <p:nvPr/>
          </p:nvSpPr>
          <p:spPr bwMode="auto">
            <a:xfrm>
              <a:off x="3150861" y="3733800"/>
              <a:ext cx="2303462" cy="1927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b="1" dirty="0"/>
                <a:t>Full Factorial </a:t>
              </a:r>
            </a:p>
            <a:p>
              <a:r>
                <a:rPr lang="en-US" altLang="en-US" b="1" dirty="0"/>
                <a:t>w/Center points</a:t>
              </a:r>
            </a:p>
            <a:p>
              <a:pPr>
                <a:buFontTx/>
                <a:buChar char="•"/>
              </a:pPr>
              <a:r>
                <a:rPr lang="en-US" altLang="en-US" dirty="0"/>
                <a:t>Main effects</a:t>
              </a:r>
            </a:p>
            <a:p>
              <a:pPr>
                <a:buFontTx/>
                <a:buChar char="•"/>
              </a:pPr>
              <a:r>
                <a:rPr lang="en-US" altLang="en-US" dirty="0"/>
                <a:t>Interactions</a:t>
              </a:r>
            </a:p>
            <a:p>
              <a:pPr>
                <a:buFontTx/>
                <a:buChar char="•"/>
              </a:pPr>
              <a:r>
                <a:rPr lang="en-US" altLang="en-US" dirty="0"/>
                <a:t>Curvature check</a:t>
              </a:r>
            </a:p>
          </p:txBody>
        </p:sp>
        <p:grpSp>
          <p:nvGrpSpPr>
            <p:cNvPr id="50" name="Group 81">
              <a:extLst>
                <a:ext uri="{FF2B5EF4-FFF2-40B4-BE49-F238E27FC236}">
                  <a16:creationId xmlns:a16="http://schemas.microsoft.com/office/drawing/2014/main" id="{A6695906-5D83-8B81-478E-B616A1E75BF7}"/>
                </a:ext>
              </a:extLst>
            </p:cNvPr>
            <p:cNvGrpSpPr>
              <a:grpSpLocks/>
            </p:cNvGrpSpPr>
            <p:nvPr/>
          </p:nvGrpSpPr>
          <p:grpSpPr bwMode="auto">
            <a:xfrm>
              <a:off x="3307829" y="2133600"/>
              <a:ext cx="1447800" cy="1428750"/>
              <a:chOff x="2064" y="1344"/>
              <a:chExt cx="912" cy="900"/>
            </a:xfrm>
          </p:grpSpPr>
          <p:sp>
            <p:nvSpPr>
              <p:cNvPr id="51" name="Rectangle 31">
                <a:extLst>
                  <a:ext uri="{FF2B5EF4-FFF2-40B4-BE49-F238E27FC236}">
                    <a16:creationId xmlns:a16="http://schemas.microsoft.com/office/drawing/2014/main" id="{A99638A8-7274-5451-BBC1-A6A17444144E}"/>
                  </a:ext>
                </a:extLst>
              </p:cNvPr>
              <p:cNvSpPr>
                <a:spLocks noChangeArrowheads="1"/>
              </p:cNvSpPr>
              <p:nvPr/>
            </p:nvSpPr>
            <p:spPr bwMode="auto">
              <a:xfrm>
                <a:off x="2342" y="1406"/>
                <a:ext cx="576" cy="569"/>
              </a:xfrm>
              <a:prstGeom prst="rect">
                <a:avLst/>
              </a:prstGeom>
              <a:solidFill>
                <a:srgbClr val="FFFFFF"/>
              </a:solidFill>
              <a:ln w="7938">
                <a:solidFill>
                  <a:srgbClr val="000000"/>
                </a:solidFill>
                <a:miter lim="800000"/>
                <a:headEnd/>
                <a:tailEnd/>
              </a:ln>
            </p:spPr>
            <p:txBody>
              <a:bodyPr/>
              <a:lstStyle/>
              <a:p>
                <a:endParaRPr lang="en-US"/>
              </a:p>
            </p:txBody>
          </p:sp>
          <p:sp>
            <p:nvSpPr>
              <p:cNvPr id="52" name="Line 32">
                <a:extLst>
                  <a:ext uri="{FF2B5EF4-FFF2-40B4-BE49-F238E27FC236}">
                    <a16:creationId xmlns:a16="http://schemas.microsoft.com/office/drawing/2014/main" id="{48212F77-62E7-8348-C52F-2B9A50DA0030}"/>
                  </a:ext>
                </a:extLst>
              </p:cNvPr>
              <p:cNvSpPr>
                <a:spLocks noChangeShapeType="1"/>
              </p:cNvSpPr>
              <p:nvPr/>
            </p:nvSpPr>
            <p:spPr bwMode="auto">
              <a:xfrm flipH="1">
                <a:off x="2133" y="1973"/>
                <a:ext cx="208" cy="20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Line 33">
                <a:extLst>
                  <a:ext uri="{FF2B5EF4-FFF2-40B4-BE49-F238E27FC236}">
                    <a16:creationId xmlns:a16="http://schemas.microsoft.com/office/drawing/2014/main" id="{BBACB36F-14D1-728E-8D1A-F096078E5552}"/>
                  </a:ext>
                </a:extLst>
              </p:cNvPr>
              <p:cNvSpPr>
                <a:spLocks noChangeShapeType="1"/>
              </p:cNvSpPr>
              <p:nvPr/>
            </p:nvSpPr>
            <p:spPr bwMode="auto">
              <a:xfrm flipH="1">
                <a:off x="2758" y="1973"/>
                <a:ext cx="158" cy="20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34">
                <a:extLst>
                  <a:ext uri="{FF2B5EF4-FFF2-40B4-BE49-F238E27FC236}">
                    <a16:creationId xmlns:a16="http://schemas.microsoft.com/office/drawing/2014/main" id="{12F14149-6BD3-3C4F-47A9-5C19782EC9F3}"/>
                  </a:ext>
                </a:extLst>
              </p:cNvPr>
              <p:cNvSpPr>
                <a:spLocks noChangeShapeType="1"/>
              </p:cNvSpPr>
              <p:nvPr/>
            </p:nvSpPr>
            <p:spPr bwMode="auto">
              <a:xfrm flipH="1">
                <a:off x="2133" y="1404"/>
                <a:ext cx="208" cy="15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35">
                <a:extLst>
                  <a:ext uri="{FF2B5EF4-FFF2-40B4-BE49-F238E27FC236}">
                    <a16:creationId xmlns:a16="http://schemas.microsoft.com/office/drawing/2014/main" id="{2833F2FB-9731-D903-6770-0BBE0885DB9F}"/>
                  </a:ext>
                </a:extLst>
              </p:cNvPr>
              <p:cNvSpPr>
                <a:spLocks noChangeShapeType="1"/>
              </p:cNvSpPr>
              <p:nvPr/>
            </p:nvSpPr>
            <p:spPr bwMode="auto">
              <a:xfrm flipH="1">
                <a:off x="2758" y="1404"/>
                <a:ext cx="158" cy="15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 name="Oval 36">
                <a:extLst>
                  <a:ext uri="{FF2B5EF4-FFF2-40B4-BE49-F238E27FC236}">
                    <a16:creationId xmlns:a16="http://schemas.microsoft.com/office/drawing/2014/main" id="{EFF72D1D-DA1A-78CA-192A-D8DD63798EA9}"/>
                  </a:ext>
                </a:extLst>
              </p:cNvPr>
              <p:cNvSpPr>
                <a:spLocks noChangeArrowheads="1"/>
              </p:cNvSpPr>
              <p:nvPr/>
            </p:nvSpPr>
            <p:spPr bwMode="auto">
              <a:xfrm>
                <a:off x="2844" y="1344"/>
                <a:ext cx="132" cy="128"/>
              </a:xfrm>
              <a:prstGeom prst="ellipse">
                <a:avLst/>
              </a:prstGeom>
              <a:solidFill>
                <a:srgbClr val="000000"/>
              </a:solidFill>
              <a:ln w="7938">
                <a:solidFill>
                  <a:srgbClr val="000000"/>
                </a:solidFill>
                <a:round/>
                <a:headEnd/>
                <a:tailEnd/>
              </a:ln>
            </p:spPr>
            <p:txBody>
              <a:bodyPr/>
              <a:lstStyle/>
              <a:p>
                <a:endParaRPr lang="en-US"/>
              </a:p>
            </p:txBody>
          </p:sp>
          <p:sp>
            <p:nvSpPr>
              <p:cNvPr id="57" name="Oval 37">
                <a:extLst>
                  <a:ext uri="{FF2B5EF4-FFF2-40B4-BE49-F238E27FC236}">
                    <a16:creationId xmlns:a16="http://schemas.microsoft.com/office/drawing/2014/main" id="{EB647E16-6821-1FDA-2275-CDAB35CFD3D4}"/>
                  </a:ext>
                </a:extLst>
              </p:cNvPr>
              <p:cNvSpPr>
                <a:spLocks noChangeArrowheads="1"/>
              </p:cNvSpPr>
              <p:nvPr/>
            </p:nvSpPr>
            <p:spPr bwMode="auto">
              <a:xfrm>
                <a:off x="2281" y="1901"/>
                <a:ext cx="128" cy="132"/>
              </a:xfrm>
              <a:prstGeom prst="ellipse">
                <a:avLst/>
              </a:prstGeom>
              <a:solidFill>
                <a:srgbClr val="000000"/>
              </a:solidFill>
              <a:ln w="7938">
                <a:solidFill>
                  <a:srgbClr val="000000"/>
                </a:solidFill>
                <a:round/>
                <a:headEnd/>
                <a:tailEnd/>
              </a:ln>
            </p:spPr>
            <p:txBody>
              <a:bodyPr/>
              <a:lstStyle/>
              <a:p>
                <a:endParaRPr lang="en-US"/>
              </a:p>
            </p:txBody>
          </p:sp>
          <p:sp>
            <p:nvSpPr>
              <p:cNvPr id="58" name="Rectangle 38">
                <a:extLst>
                  <a:ext uri="{FF2B5EF4-FFF2-40B4-BE49-F238E27FC236}">
                    <a16:creationId xmlns:a16="http://schemas.microsoft.com/office/drawing/2014/main" id="{F3C4BC50-44C8-77DA-2D87-0D29ECF38A69}"/>
                  </a:ext>
                </a:extLst>
              </p:cNvPr>
              <p:cNvSpPr>
                <a:spLocks noChangeArrowheads="1"/>
              </p:cNvSpPr>
              <p:nvPr/>
            </p:nvSpPr>
            <p:spPr bwMode="auto">
              <a:xfrm>
                <a:off x="2317" y="1543"/>
                <a:ext cx="62" cy="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9" name="Rectangle 39">
                <a:extLst>
                  <a:ext uri="{FF2B5EF4-FFF2-40B4-BE49-F238E27FC236}">
                    <a16:creationId xmlns:a16="http://schemas.microsoft.com/office/drawing/2014/main" id="{C12026E4-6EBF-CB7B-1BF8-6A460D0824E9}"/>
                  </a:ext>
                </a:extLst>
              </p:cNvPr>
              <p:cNvSpPr>
                <a:spLocks noChangeArrowheads="1"/>
              </p:cNvSpPr>
              <p:nvPr/>
            </p:nvSpPr>
            <p:spPr bwMode="auto">
              <a:xfrm>
                <a:off x="2730" y="1957"/>
                <a:ext cx="66" cy="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0" name="Rectangle 40">
                <a:extLst>
                  <a:ext uri="{FF2B5EF4-FFF2-40B4-BE49-F238E27FC236}">
                    <a16:creationId xmlns:a16="http://schemas.microsoft.com/office/drawing/2014/main" id="{A819F0CA-F59B-67F6-BA4E-470A921C05F4}"/>
                  </a:ext>
                </a:extLst>
              </p:cNvPr>
              <p:cNvSpPr>
                <a:spLocks noChangeArrowheads="1"/>
              </p:cNvSpPr>
              <p:nvPr/>
            </p:nvSpPr>
            <p:spPr bwMode="auto">
              <a:xfrm>
                <a:off x="2134" y="1559"/>
                <a:ext cx="626" cy="623"/>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 name="Oval 41">
                <a:extLst>
                  <a:ext uri="{FF2B5EF4-FFF2-40B4-BE49-F238E27FC236}">
                    <a16:creationId xmlns:a16="http://schemas.microsoft.com/office/drawing/2014/main" id="{4D6FC0C2-0899-60BC-E11B-AD77E7439C07}"/>
                  </a:ext>
                </a:extLst>
              </p:cNvPr>
              <p:cNvSpPr>
                <a:spLocks noChangeArrowheads="1"/>
              </p:cNvSpPr>
              <p:nvPr/>
            </p:nvSpPr>
            <p:spPr bwMode="auto">
              <a:xfrm>
                <a:off x="2064" y="1498"/>
                <a:ext cx="133" cy="131"/>
              </a:xfrm>
              <a:prstGeom prst="ellipse">
                <a:avLst/>
              </a:prstGeom>
              <a:solidFill>
                <a:srgbClr val="000000"/>
              </a:solidFill>
              <a:ln w="7938">
                <a:solidFill>
                  <a:srgbClr val="000000"/>
                </a:solidFill>
                <a:round/>
                <a:headEnd/>
                <a:tailEnd/>
              </a:ln>
            </p:spPr>
            <p:txBody>
              <a:bodyPr/>
              <a:lstStyle/>
              <a:p>
                <a:endParaRPr lang="en-US"/>
              </a:p>
            </p:txBody>
          </p:sp>
          <p:sp>
            <p:nvSpPr>
              <p:cNvPr id="62" name="Oval 42">
                <a:extLst>
                  <a:ext uri="{FF2B5EF4-FFF2-40B4-BE49-F238E27FC236}">
                    <a16:creationId xmlns:a16="http://schemas.microsoft.com/office/drawing/2014/main" id="{8ACC9595-2D3C-F022-6110-A1847511A39C}"/>
                  </a:ext>
                </a:extLst>
              </p:cNvPr>
              <p:cNvSpPr>
                <a:spLocks noChangeArrowheads="1"/>
              </p:cNvSpPr>
              <p:nvPr/>
            </p:nvSpPr>
            <p:spPr bwMode="auto">
              <a:xfrm>
                <a:off x="2690" y="2113"/>
                <a:ext cx="132" cy="131"/>
              </a:xfrm>
              <a:prstGeom prst="ellipse">
                <a:avLst/>
              </a:prstGeom>
              <a:solidFill>
                <a:srgbClr val="000000"/>
              </a:solidFill>
              <a:ln w="7938">
                <a:solidFill>
                  <a:srgbClr val="000000"/>
                </a:solidFill>
                <a:round/>
                <a:headEnd/>
                <a:tailEnd/>
              </a:ln>
            </p:spPr>
            <p:txBody>
              <a:bodyPr/>
              <a:lstStyle/>
              <a:p>
                <a:endParaRPr lang="en-US"/>
              </a:p>
            </p:txBody>
          </p:sp>
          <p:sp>
            <p:nvSpPr>
              <p:cNvPr id="63" name="Oval 43">
                <a:extLst>
                  <a:ext uri="{FF2B5EF4-FFF2-40B4-BE49-F238E27FC236}">
                    <a16:creationId xmlns:a16="http://schemas.microsoft.com/office/drawing/2014/main" id="{C7370201-7E05-328A-C518-E7C230D26F18}"/>
                  </a:ext>
                </a:extLst>
              </p:cNvPr>
              <p:cNvSpPr>
                <a:spLocks noChangeArrowheads="1"/>
              </p:cNvSpPr>
              <p:nvPr/>
            </p:nvSpPr>
            <p:spPr bwMode="auto">
              <a:xfrm>
                <a:off x="2496" y="1680"/>
                <a:ext cx="96" cy="96"/>
              </a:xfrm>
              <a:prstGeom prst="ellipse">
                <a:avLst/>
              </a:prstGeom>
              <a:solidFill>
                <a:srgbClr val="000000"/>
              </a:solidFill>
              <a:ln w="7938">
                <a:solidFill>
                  <a:srgbClr val="000000"/>
                </a:solidFill>
                <a:round/>
                <a:headEnd/>
                <a:tailEnd/>
              </a:ln>
            </p:spPr>
            <p:txBody>
              <a:bodyPr/>
              <a:lstStyle/>
              <a:p>
                <a:endParaRPr lang="en-US"/>
              </a:p>
            </p:txBody>
          </p:sp>
          <p:sp>
            <p:nvSpPr>
              <p:cNvPr id="64" name="Oval 44">
                <a:extLst>
                  <a:ext uri="{FF2B5EF4-FFF2-40B4-BE49-F238E27FC236}">
                    <a16:creationId xmlns:a16="http://schemas.microsoft.com/office/drawing/2014/main" id="{14CD0182-F6CE-C059-C0B4-15A07E7DE77B}"/>
                  </a:ext>
                </a:extLst>
              </p:cNvPr>
              <p:cNvSpPr>
                <a:spLocks noChangeArrowheads="1"/>
              </p:cNvSpPr>
              <p:nvPr/>
            </p:nvSpPr>
            <p:spPr bwMode="auto">
              <a:xfrm>
                <a:off x="2256" y="1344"/>
                <a:ext cx="132" cy="131"/>
              </a:xfrm>
              <a:prstGeom prst="ellipse">
                <a:avLst/>
              </a:prstGeom>
              <a:solidFill>
                <a:srgbClr val="000000"/>
              </a:solidFill>
              <a:ln w="7938">
                <a:solidFill>
                  <a:srgbClr val="000000"/>
                </a:solidFill>
                <a:round/>
                <a:headEnd/>
                <a:tailEnd/>
              </a:ln>
            </p:spPr>
            <p:txBody>
              <a:bodyPr/>
              <a:lstStyle/>
              <a:p>
                <a:endParaRPr lang="en-US"/>
              </a:p>
            </p:txBody>
          </p:sp>
          <p:sp>
            <p:nvSpPr>
              <p:cNvPr id="65" name="Oval 45">
                <a:extLst>
                  <a:ext uri="{FF2B5EF4-FFF2-40B4-BE49-F238E27FC236}">
                    <a16:creationId xmlns:a16="http://schemas.microsoft.com/office/drawing/2014/main" id="{019A627C-D2C5-1ADD-D667-41C3BCF6F1E7}"/>
                  </a:ext>
                </a:extLst>
              </p:cNvPr>
              <p:cNvSpPr>
                <a:spLocks noChangeArrowheads="1"/>
              </p:cNvSpPr>
              <p:nvPr/>
            </p:nvSpPr>
            <p:spPr bwMode="auto">
              <a:xfrm>
                <a:off x="2064" y="2112"/>
                <a:ext cx="132" cy="131"/>
              </a:xfrm>
              <a:prstGeom prst="ellipse">
                <a:avLst/>
              </a:prstGeom>
              <a:solidFill>
                <a:srgbClr val="000000"/>
              </a:solidFill>
              <a:ln w="7938">
                <a:solidFill>
                  <a:srgbClr val="000000"/>
                </a:solidFill>
                <a:round/>
                <a:headEnd/>
                <a:tailEnd/>
              </a:ln>
            </p:spPr>
            <p:txBody>
              <a:bodyPr/>
              <a:lstStyle/>
              <a:p>
                <a:endParaRPr lang="en-US"/>
              </a:p>
            </p:txBody>
          </p:sp>
          <p:sp>
            <p:nvSpPr>
              <p:cNvPr id="66" name="Oval 46">
                <a:extLst>
                  <a:ext uri="{FF2B5EF4-FFF2-40B4-BE49-F238E27FC236}">
                    <a16:creationId xmlns:a16="http://schemas.microsoft.com/office/drawing/2014/main" id="{E5CBBDC9-340E-99E8-BE21-8E460A817175}"/>
                  </a:ext>
                </a:extLst>
              </p:cNvPr>
              <p:cNvSpPr>
                <a:spLocks noChangeArrowheads="1"/>
              </p:cNvSpPr>
              <p:nvPr/>
            </p:nvSpPr>
            <p:spPr bwMode="auto">
              <a:xfrm>
                <a:off x="2832" y="1920"/>
                <a:ext cx="132" cy="131"/>
              </a:xfrm>
              <a:prstGeom prst="ellipse">
                <a:avLst/>
              </a:prstGeom>
              <a:solidFill>
                <a:srgbClr val="000000"/>
              </a:solidFill>
              <a:ln w="7938">
                <a:solidFill>
                  <a:srgbClr val="000000"/>
                </a:solidFill>
                <a:round/>
                <a:headEnd/>
                <a:tailEnd/>
              </a:ln>
            </p:spPr>
            <p:txBody>
              <a:bodyPr/>
              <a:lstStyle/>
              <a:p>
                <a:endParaRPr lang="en-US"/>
              </a:p>
            </p:txBody>
          </p:sp>
          <p:sp>
            <p:nvSpPr>
              <p:cNvPr id="67" name="Oval 47">
                <a:extLst>
                  <a:ext uri="{FF2B5EF4-FFF2-40B4-BE49-F238E27FC236}">
                    <a16:creationId xmlns:a16="http://schemas.microsoft.com/office/drawing/2014/main" id="{6E35D909-55D5-40FC-1FDD-D250CFF984EF}"/>
                  </a:ext>
                </a:extLst>
              </p:cNvPr>
              <p:cNvSpPr>
                <a:spLocks noChangeArrowheads="1"/>
              </p:cNvSpPr>
              <p:nvPr/>
            </p:nvSpPr>
            <p:spPr bwMode="auto">
              <a:xfrm>
                <a:off x="2448" y="1776"/>
                <a:ext cx="96" cy="96"/>
              </a:xfrm>
              <a:prstGeom prst="ellipse">
                <a:avLst/>
              </a:prstGeom>
              <a:solidFill>
                <a:srgbClr val="000000"/>
              </a:solidFill>
              <a:ln w="7938">
                <a:solidFill>
                  <a:srgbClr val="000000"/>
                </a:solidFill>
                <a:round/>
                <a:headEnd/>
                <a:tailEnd/>
              </a:ln>
            </p:spPr>
            <p:txBody>
              <a:bodyPr/>
              <a:lstStyle/>
              <a:p>
                <a:endParaRPr lang="en-US"/>
              </a:p>
            </p:txBody>
          </p:sp>
          <p:sp>
            <p:nvSpPr>
              <p:cNvPr id="68" name="Oval 48">
                <a:extLst>
                  <a:ext uri="{FF2B5EF4-FFF2-40B4-BE49-F238E27FC236}">
                    <a16:creationId xmlns:a16="http://schemas.microsoft.com/office/drawing/2014/main" id="{DB8D5593-066D-F0AE-67C0-EAFBF93FA8AB}"/>
                  </a:ext>
                </a:extLst>
              </p:cNvPr>
              <p:cNvSpPr>
                <a:spLocks noChangeArrowheads="1"/>
              </p:cNvSpPr>
              <p:nvPr/>
            </p:nvSpPr>
            <p:spPr bwMode="auto">
              <a:xfrm>
                <a:off x="2544" y="1776"/>
                <a:ext cx="96" cy="96"/>
              </a:xfrm>
              <a:prstGeom prst="ellipse">
                <a:avLst/>
              </a:prstGeom>
              <a:solidFill>
                <a:srgbClr val="000000"/>
              </a:solidFill>
              <a:ln w="7938">
                <a:solidFill>
                  <a:srgbClr val="000000"/>
                </a:solidFill>
                <a:round/>
                <a:headEnd/>
                <a:tailEnd/>
              </a:ln>
            </p:spPr>
            <p:txBody>
              <a:bodyPr/>
              <a:lstStyle/>
              <a:p>
                <a:endParaRPr lang="en-US"/>
              </a:p>
            </p:txBody>
          </p:sp>
          <p:sp>
            <p:nvSpPr>
              <p:cNvPr id="69" name="Oval 80">
                <a:extLst>
                  <a:ext uri="{FF2B5EF4-FFF2-40B4-BE49-F238E27FC236}">
                    <a16:creationId xmlns:a16="http://schemas.microsoft.com/office/drawing/2014/main" id="{8B15FD2C-486F-EF89-BAAF-A88F1788B29D}"/>
                  </a:ext>
                </a:extLst>
              </p:cNvPr>
              <p:cNvSpPr>
                <a:spLocks noChangeArrowheads="1"/>
              </p:cNvSpPr>
              <p:nvPr/>
            </p:nvSpPr>
            <p:spPr bwMode="auto">
              <a:xfrm>
                <a:off x="2688" y="1488"/>
                <a:ext cx="132" cy="128"/>
              </a:xfrm>
              <a:prstGeom prst="ellipse">
                <a:avLst/>
              </a:prstGeom>
              <a:solidFill>
                <a:srgbClr val="000000"/>
              </a:solidFill>
              <a:ln w="7938">
                <a:solidFill>
                  <a:srgbClr val="000000"/>
                </a:solidFill>
                <a:round/>
                <a:headEnd/>
                <a:tailEnd/>
              </a:ln>
            </p:spPr>
            <p:txBody>
              <a:bodyPr/>
              <a:lstStyle/>
              <a:p>
                <a:endParaRPr lang="en-US"/>
              </a:p>
            </p:txBody>
          </p:sp>
        </p:grpSp>
      </p:grpSp>
    </p:spTree>
    <p:extLst>
      <p:ext uri="{BB962C8B-B14F-4D97-AF65-F5344CB8AC3E}">
        <p14:creationId xmlns:p14="http://schemas.microsoft.com/office/powerpoint/2010/main" val="2901816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98BC3-39C3-06B1-5399-90FFF6E5941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4A86A88A-F16A-5898-DF4F-826BD3B51CFE}"/>
              </a:ext>
            </a:extLst>
          </p:cNvPr>
          <p:cNvSpPr>
            <a:spLocks noGrp="1"/>
          </p:cNvSpPr>
          <p:nvPr>
            <p:ph idx="1"/>
          </p:nvPr>
        </p:nvSpPr>
        <p:spPr/>
        <p:txBody>
          <a:bodyPr>
            <a:normAutofit fontScale="92500" lnSpcReduction="10000"/>
          </a:bodyPr>
          <a:lstStyle/>
          <a:p>
            <a:pPr marL="0" indent="0">
              <a:buNone/>
            </a:pPr>
            <a:r>
              <a:rPr lang="en-US" dirty="0"/>
              <a:t>Our cake mix recommends 35 minutes at 350</a:t>
            </a:r>
            <a:r>
              <a:rPr lang="en-US" baseline="30000" dirty="0"/>
              <a:t>o</a:t>
            </a:r>
            <a:r>
              <a:rPr lang="en-US" dirty="0"/>
              <a:t>, but we are going to try to find a time and temperature that suit our palate better. </a:t>
            </a:r>
          </a:p>
          <a:p>
            <a:pPr marL="0" indent="0">
              <a:buNone/>
            </a:pPr>
            <a:r>
              <a:rPr lang="en-US" dirty="0"/>
              <a:t>We begin with a first order design in baking time and temperature, so we use a 2</a:t>
            </a:r>
            <a:r>
              <a:rPr lang="en-US" baseline="30000" dirty="0"/>
              <a:t>2</a:t>
            </a:r>
            <a:r>
              <a:rPr lang="en-US" dirty="0"/>
              <a:t> factorial with three center points. </a:t>
            </a:r>
          </a:p>
          <a:p>
            <a:pPr marL="0" indent="0">
              <a:buNone/>
            </a:pPr>
            <a:r>
              <a:rPr lang="en-US" dirty="0"/>
              <a:t>Use the coded values –1, 0, 1 for 33, 35, and 37 minutes for time, and the coded values –1, 0, 1 for 340, 350, and 360 degrees for temperature. </a:t>
            </a:r>
          </a:p>
          <a:p>
            <a:pPr marL="0" indent="0">
              <a:buNone/>
            </a:pPr>
            <a:r>
              <a:rPr lang="en-US" dirty="0"/>
              <a:t>We will thus have three cakes baked at the package-recommended time and temperature (our center point), and four cakes with time and temperature spread around the center. Our response is an average palatability score, with higher values being desirable (data set CakeBaking1):</a:t>
            </a:r>
          </a:p>
          <a:p>
            <a:endParaRPr lang="en-US" dirty="0"/>
          </a:p>
        </p:txBody>
      </p:sp>
    </p:spTree>
    <p:extLst>
      <p:ext uri="{BB962C8B-B14F-4D97-AF65-F5344CB8AC3E}">
        <p14:creationId xmlns:p14="http://schemas.microsoft.com/office/powerpoint/2010/main" val="194203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0778-3F59-288F-8FBB-EB57631D9DDD}"/>
              </a:ext>
            </a:extLst>
          </p:cNvPr>
          <p:cNvSpPr>
            <a:spLocks noGrp="1"/>
          </p:cNvSpPr>
          <p:nvPr>
            <p:ph type="title"/>
          </p:nvPr>
        </p:nvSpPr>
        <p:spPr/>
        <p:txBody>
          <a:bodyPr/>
          <a:lstStyle/>
          <a:p>
            <a:r>
              <a:rPr lang="en-US" dirty="0"/>
              <a:t>Data set:</a:t>
            </a:r>
          </a:p>
        </p:txBody>
      </p:sp>
      <p:graphicFrame>
        <p:nvGraphicFramePr>
          <p:cNvPr id="4" name="Content Placeholder 3">
            <a:extLst>
              <a:ext uri="{FF2B5EF4-FFF2-40B4-BE49-F238E27FC236}">
                <a16:creationId xmlns:a16="http://schemas.microsoft.com/office/drawing/2014/main" id="{A6F6E23A-7A85-0F88-5493-C5404C7351C6}"/>
              </a:ext>
            </a:extLst>
          </p:cNvPr>
          <p:cNvGraphicFramePr>
            <a:graphicFrameLocks noGrp="1"/>
          </p:cNvGraphicFramePr>
          <p:nvPr>
            <p:ph idx="1"/>
            <p:extLst>
              <p:ext uri="{D42A27DB-BD31-4B8C-83A1-F6EECF244321}">
                <p14:modId xmlns:p14="http://schemas.microsoft.com/office/powerpoint/2010/main" val="2681981668"/>
              </p:ext>
            </p:extLst>
          </p:nvPr>
        </p:nvGraphicFramePr>
        <p:xfrm>
          <a:off x="838200" y="1866262"/>
          <a:ext cx="2372139" cy="2926080"/>
        </p:xfrm>
        <a:graphic>
          <a:graphicData uri="http://schemas.openxmlformats.org/drawingml/2006/table">
            <a:tbl>
              <a:tblPr firstRow="1" bandRow="1">
                <a:tableStyleId>{5C22544A-7EE6-4342-B048-85BDC9FD1C3A}</a:tableStyleId>
              </a:tblPr>
              <a:tblGrid>
                <a:gridCol w="790713">
                  <a:extLst>
                    <a:ext uri="{9D8B030D-6E8A-4147-A177-3AD203B41FA5}">
                      <a16:colId xmlns:a16="http://schemas.microsoft.com/office/drawing/2014/main" val="2949692234"/>
                    </a:ext>
                  </a:extLst>
                </a:gridCol>
                <a:gridCol w="790713">
                  <a:extLst>
                    <a:ext uri="{9D8B030D-6E8A-4147-A177-3AD203B41FA5}">
                      <a16:colId xmlns:a16="http://schemas.microsoft.com/office/drawing/2014/main" val="3562697571"/>
                    </a:ext>
                  </a:extLst>
                </a:gridCol>
                <a:gridCol w="790713">
                  <a:extLst>
                    <a:ext uri="{9D8B030D-6E8A-4147-A177-3AD203B41FA5}">
                      <a16:colId xmlns:a16="http://schemas.microsoft.com/office/drawing/2014/main" val="2258570893"/>
                    </a:ext>
                  </a:extLst>
                </a:gridCol>
              </a:tblGrid>
              <a:tr h="364231">
                <a:tc>
                  <a:txBody>
                    <a:bodyPr/>
                    <a:lstStyle/>
                    <a:p>
                      <a:r>
                        <a:rPr lang="en-US" dirty="0"/>
                        <a:t>X1</a:t>
                      </a:r>
                    </a:p>
                  </a:txBody>
                  <a:tcPr/>
                </a:tc>
                <a:tc>
                  <a:txBody>
                    <a:bodyPr/>
                    <a:lstStyle/>
                    <a:p>
                      <a:r>
                        <a:rPr lang="en-US" dirty="0"/>
                        <a:t>X2</a:t>
                      </a:r>
                    </a:p>
                  </a:txBody>
                  <a:tcPr/>
                </a:tc>
                <a:tc>
                  <a:txBody>
                    <a:bodyPr/>
                    <a:lstStyle/>
                    <a:p>
                      <a:r>
                        <a:rPr lang="en-US" dirty="0"/>
                        <a:t>y</a:t>
                      </a:r>
                    </a:p>
                  </a:txBody>
                  <a:tcPr/>
                </a:tc>
                <a:extLst>
                  <a:ext uri="{0D108BD9-81ED-4DB2-BD59-A6C34878D82A}">
                    <a16:rowId xmlns:a16="http://schemas.microsoft.com/office/drawing/2014/main" val="4203849072"/>
                  </a:ext>
                </a:extLst>
              </a:tr>
              <a:tr h="364231">
                <a:tc>
                  <a:txBody>
                    <a:bodyPr/>
                    <a:lstStyle/>
                    <a:p>
                      <a:r>
                        <a:rPr lang="en-US" dirty="0"/>
                        <a:t>-1</a:t>
                      </a:r>
                    </a:p>
                  </a:txBody>
                  <a:tcPr/>
                </a:tc>
                <a:tc>
                  <a:txBody>
                    <a:bodyPr/>
                    <a:lstStyle/>
                    <a:p>
                      <a:r>
                        <a:rPr lang="en-US" dirty="0"/>
                        <a:t>-1</a:t>
                      </a:r>
                    </a:p>
                  </a:txBody>
                  <a:tcPr/>
                </a:tc>
                <a:tc>
                  <a:txBody>
                    <a:bodyPr/>
                    <a:lstStyle/>
                    <a:p>
                      <a:r>
                        <a:rPr lang="en-US" dirty="0"/>
                        <a:t>3.89</a:t>
                      </a:r>
                    </a:p>
                  </a:txBody>
                  <a:tcPr/>
                </a:tc>
                <a:extLst>
                  <a:ext uri="{0D108BD9-81ED-4DB2-BD59-A6C34878D82A}">
                    <a16:rowId xmlns:a16="http://schemas.microsoft.com/office/drawing/2014/main" val="148308408"/>
                  </a:ext>
                </a:extLst>
              </a:tr>
              <a:tr h="364231">
                <a:tc>
                  <a:txBody>
                    <a:bodyPr/>
                    <a:lstStyle/>
                    <a:p>
                      <a:r>
                        <a:rPr lang="en-US" dirty="0"/>
                        <a:t>1</a:t>
                      </a:r>
                    </a:p>
                  </a:txBody>
                  <a:tcPr/>
                </a:tc>
                <a:tc>
                  <a:txBody>
                    <a:bodyPr/>
                    <a:lstStyle/>
                    <a:p>
                      <a:r>
                        <a:rPr lang="en-US" dirty="0"/>
                        <a:t>-1</a:t>
                      </a:r>
                    </a:p>
                  </a:txBody>
                  <a:tcPr/>
                </a:tc>
                <a:tc>
                  <a:txBody>
                    <a:bodyPr/>
                    <a:lstStyle/>
                    <a:p>
                      <a:r>
                        <a:rPr lang="en-US" dirty="0"/>
                        <a:t>6.36</a:t>
                      </a:r>
                    </a:p>
                  </a:txBody>
                  <a:tcPr/>
                </a:tc>
                <a:extLst>
                  <a:ext uri="{0D108BD9-81ED-4DB2-BD59-A6C34878D82A}">
                    <a16:rowId xmlns:a16="http://schemas.microsoft.com/office/drawing/2014/main" val="3507462487"/>
                  </a:ext>
                </a:extLst>
              </a:tr>
              <a:tr h="364231">
                <a:tc>
                  <a:txBody>
                    <a:bodyPr/>
                    <a:lstStyle/>
                    <a:p>
                      <a:r>
                        <a:rPr lang="en-US" dirty="0"/>
                        <a:t>-1</a:t>
                      </a:r>
                    </a:p>
                  </a:txBody>
                  <a:tcPr/>
                </a:tc>
                <a:tc>
                  <a:txBody>
                    <a:bodyPr/>
                    <a:lstStyle/>
                    <a:p>
                      <a:r>
                        <a:rPr lang="en-US" dirty="0"/>
                        <a:t>1</a:t>
                      </a:r>
                    </a:p>
                  </a:txBody>
                  <a:tcPr/>
                </a:tc>
                <a:tc>
                  <a:txBody>
                    <a:bodyPr/>
                    <a:lstStyle/>
                    <a:p>
                      <a:r>
                        <a:rPr lang="en-US" dirty="0"/>
                        <a:t>7.65</a:t>
                      </a:r>
                    </a:p>
                  </a:txBody>
                  <a:tcPr/>
                </a:tc>
                <a:extLst>
                  <a:ext uri="{0D108BD9-81ED-4DB2-BD59-A6C34878D82A}">
                    <a16:rowId xmlns:a16="http://schemas.microsoft.com/office/drawing/2014/main" val="1623174544"/>
                  </a:ext>
                </a:extLst>
              </a:tr>
              <a:tr h="364231">
                <a:tc>
                  <a:txBody>
                    <a:bodyPr/>
                    <a:lstStyle/>
                    <a:p>
                      <a:r>
                        <a:rPr lang="en-US" dirty="0"/>
                        <a:t>1</a:t>
                      </a:r>
                    </a:p>
                  </a:txBody>
                  <a:tcPr/>
                </a:tc>
                <a:tc>
                  <a:txBody>
                    <a:bodyPr/>
                    <a:lstStyle/>
                    <a:p>
                      <a:r>
                        <a:rPr lang="en-US" dirty="0"/>
                        <a:t>1</a:t>
                      </a:r>
                    </a:p>
                  </a:txBody>
                  <a:tcPr/>
                </a:tc>
                <a:tc>
                  <a:txBody>
                    <a:bodyPr/>
                    <a:lstStyle/>
                    <a:p>
                      <a:r>
                        <a:rPr lang="en-US" dirty="0"/>
                        <a:t>6.79</a:t>
                      </a:r>
                    </a:p>
                  </a:txBody>
                  <a:tcPr/>
                </a:tc>
                <a:extLst>
                  <a:ext uri="{0D108BD9-81ED-4DB2-BD59-A6C34878D82A}">
                    <a16:rowId xmlns:a16="http://schemas.microsoft.com/office/drawing/2014/main" val="1349102843"/>
                  </a:ext>
                </a:extLst>
              </a:tr>
              <a:tr h="364231">
                <a:tc>
                  <a:txBody>
                    <a:bodyPr/>
                    <a:lstStyle/>
                    <a:p>
                      <a:r>
                        <a:rPr lang="en-US" dirty="0"/>
                        <a:t>0</a:t>
                      </a:r>
                    </a:p>
                  </a:txBody>
                  <a:tcPr/>
                </a:tc>
                <a:tc>
                  <a:txBody>
                    <a:bodyPr/>
                    <a:lstStyle/>
                    <a:p>
                      <a:r>
                        <a:rPr lang="en-US" dirty="0"/>
                        <a:t>0</a:t>
                      </a:r>
                    </a:p>
                  </a:txBody>
                  <a:tcPr/>
                </a:tc>
                <a:tc>
                  <a:txBody>
                    <a:bodyPr/>
                    <a:lstStyle/>
                    <a:p>
                      <a:r>
                        <a:rPr lang="en-US" dirty="0"/>
                        <a:t>8.36</a:t>
                      </a:r>
                    </a:p>
                  </a:txBody>
                  <a:tcPr/>
                </a:tc>
                <a:extLst>
                  <a:ext uri="{0D108BD9-81ED-4DB2-BD59-A6C34878D82A}">
                    <a16:rowId xmlns:a16="http://schemas.microsoft.com/office/drawing/2014/main" val="1999117058"/>
                  </a:ext>
                </a:extLst>
              </a:tr>
              <a:tr h="364231">
                <a:tc>
                  <a:txBody>
                    <a:bodyPr/>
                    <a:lstStyle/>
                    <a:p>
                      <a:r>
                        <a:rPr lang="en-US" dirty="0"/>
                        <a:t>0</a:t>
                      </a:r>
                    </a:p>
                  </a:txBody>
                  <a:tcPr/>
                </a:tc>
                <a:tc>
                  <a:txBody>
                    <a:bodyPr/>
                    <a:lstStyle/>
                    <a:p>
                      <a:r>
                        <a:rPr lang="en-US" dirty="0"/>
                        <a:t>0</a:t>
                      </a:r>
                    </a:p>
                  </a:txBody>
                  <a:tcPr/>
                </a:tc>
                <a:tc>
                  <a:txBody>
                    <a:bodyPr/>
                    <a:lstStyle/>
                    <a:p>
                      <a:r>
                        <a:rPr lang="en-US" dirty="0"/>
                        <a:t>7.63</a:t>
                      </a:r>
                    </a:p>
                  </a:txBody>
                  <a:tcPr/>
                </a:tc>
                <a:extLst>
                  <a:ext uri="{0D108BD9-81ED-4DB2-BD59-A6C34878D82A}">
                    <a16:rowId xmlns:a16="http://schemas.microsoft.com/office/drawing/2014/main" val="3837011389"/>
                  </a:ext>
                </a:extLst>
              </a:tr>
              <a:tr h="364231">
                <a:tc>
                  <a:txBody>
                    <a:bodyPr/>
                    <a:lstStyle/>
                    <a:p>
                      <a:r>
                        <a:rPr lang="en-US" dirty="0"/>
                        <a:t>0</a:t>
                      </a:r>
                    </a:p>
                  </a:txBody>
                  <a:tcPr/>
                </a:tc>
                <a:tc>
                  <a:txBody>
                    <a:bodyPr/>
                    <a:lstStyle/>
                    <a:p>
                      <a:r>
                        <a:rPr lang="en-US" dirty="0"/>
                        <a:t>0</a:t>
                      </a:r>
                    </a:p>
                  </a:txBody>
                  <a:tcPr/>
                </a:tc>
                <a:tc>
                  <a:txBody>
                    <a:bodyPr/>
                    <a:lstStyle/>
                    <a:p>
                      <a:r>
                        <a:rPr lang="en-US" dirty="0"/>
                        <a:t>8.12</a:t>
                      </a:r>
                    </a:p>
                  </a:txBody>
                  <a:tcPr/>
                </a:tc>
                <a:extLst>
                  <a:ext uri="{0D108BD9-81ED-4DB2-BD59-A6C34878D82A}">
                    <a16:rowId xmlns:a16="http://schemas.microsoft.com/office/drawing/2014/main" val="3524302520"/>
                  </a:ext>
                </a:extLst>
              </a:tr>
            </a:tbl>
          </a:graphicData>
        </a:graphic>
      </p:graphicFrame>
      <p:sp>
        <p:nvSpPr>
          <p:cNvPr id="10" name="TextBox 9">
            <a:extLst>
              <a:ext uri="{FF2B5EF4-FFF2-40B4-BE49-F238E27FC236}">
                <a16:creationId xmlns:a16="http://schemas.microsoft.com/office/drawing/2014/main" id="{EC4C4A4E-FC49-2762-A568-A51E30E0080A}"/>
              </a:ext>
            </a:extLst>
          </p:cNvPr>
          <p:cNvSpPr txBox="1"/>
          <p:nvPr/>
        </p:nvSpPr>
        <p:spPr>
          <a:xfrm>
            <a:off x="3784321" y="1851973"/>
            <a:ext cx="8192329" cy="1200329"/>
          </a:xfrm>
          <a:prstGeom prst="rect">
            <a:avLst/>
          </a:prstGeom>
          <a:noFill/>
        </p:spPr>
        <p:txBody>
          <a:bodyPr wrap="square">
            <a:spAutoFit/>
          </a:bodyPr>
          <a:lstStyle/>
          <a:p>
            <a:pPr>
              <a:buNone/>
            </a:pPr>
            <a:r>
              <a:rPr lang="en-US" dirty="0">
                <a:effectLst/>
                <a:latin typeface="Helvetica" pitchFamily="2" charset="0"/>
              </a:rPr>
              <a:t>Here are three possible goals when analyzing data from a first-order design:</a:t>
            </a:r>
          </a:p>
          <a:p>
            <a:pPr marL="285750" indent="-285750">
              <a:buFont typeface="Arial" panose="020B0604020202020204" pitchFamily="34" charset="0"/>
              <a:buChar char="•"/>
            </a:pPr>
            <a:r>
              <a:rPr lang="en-US" dirty="0">
                <a:effectLst/>
                <a:latin typeface="Helvetica" pitchFamily="2" charset="0"/>
              </a:rPr>
              <a:t>  Determine which design variables affect the response.</a:t>
            </a:r>
          </a:p>
          <a:p>
            <a:pPr marL="285750" indent="-285750">
              <a:buFont typeface="Arial" panose="020B0604020202020204" pitchFamily="34" charset="0"/>
              <a:buChar char="•"/>
            </a:pPr>
            <a:r>
              <a:rPr lang="en-US" dirty="0">
                <a:effectLst/>
                <a:latin typeface="Helvetica" pitchFamily="2" charset="0"/>
              </a:rPr>
              <a:t>  Determine whether there is a lack of fit.</a:t>
            </a:r>
          </a:p>
          <a:p>
            <a:pPr marL="285750" indent="-285750">
              <a:buFont typeface="Arial" panose="020B0604020202020204" pitchFamily="34" charset="0"/>
              <a:buChar char="•"/>
            </a:pPr>
            <a:r>
              <a:rPr lang="en-US" dirty="0">
                <a:effectLst/>
                <a:latin typeface="Helvetica" pitchFamily="2" charset="0"/>
              </a:rPr>
              <a:t>  Determine the direction of the steepest ascent.</a:t>
            </a:r>
          </a:p>
        </p:txBody>
      </p:sp>
      <p:pic>
        <p:nvPicPr>
          <p:cNvPr id="11" name="Picture 10">
            <a:extLst>
              <a:ext uri="{FF2B5EF4-FFF2-40B4-BE49-F238E27FC236}">
                <a16:creationId xmlns:a16="http://schemas.microsoft.com/office/drawing/2014/main" id="{B9CB1125-5FBA-E1FC-CD02-A2BEBE42AB4D}"/>
              </a:ext>
            </a:extLst>
          </p:cNvPr>
          <p:cNvPicPr>
            <a:picLocks noChangeAspect="1"/>
          </p:cNvPicPr>
          <p:nvPr/>
        </p:nvPicPr>
        <p:blipFill>
          <a:blip r:embed="rId2"/>
          <a:stretch>
            <a:fillRect/>
          </a:stretch>
        </p:blipFill>
        <p:spPr>
          <a:xfrm>
            <a:off x="3994286" y="3213587"/>
            <a:ext cx="7772400" cy="3424121"/>
          </a:xfrm>
          <a:prstGeom prst="rect">
            <a:avLst/>
          </a:prstGeom>
        </p:spPr>
      </p:pic>
    </p:spTree>
    <p:extLst>
      <p:ext uri="{BB962C8B-B14F-4D97-AF65-F5344CB8AC3E}">
        <p14:creationId xmlns:p14="http://schemas.microsoft.com/office/powerpoint/2010/main" val="396154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F1063-A592-F622-C288-49472D1C2044}"/>
              </a:ext>
            </a:extLst>
          </p:cNvPr>
          <p:cNvSpPr>
            <a:spLocks noGrp="1"/>
          </p:cNvSpPr>
          <p:nvPr>
            <p:ph type="title"/>
          </p:nvPr>
        </p:nvSpPr>
        <p:spPr/>
        <p:txBody>
          <a:bodyPr/>
          <a:lstStyle/>
          <a:p>
            <a:r>
              <a:rPr lang="en-US" dirty="0"/>
              <a:t>Complete CCD</a:t>
            </a:r>
          </a:p>
        </p:txBody>
      </p:sp>
      <p:pic>
        <p:nvPicPr>
          <p:cNvPr id="4" name="Content Placeholder 3">
            <a:extLst>
              <a:ext uri="{FF2B5EF4-FFF2-40B4-BE49-F238E27FC236}">
                <a16:creationId xmlns:a16="http://schemas.microsoft.com/office/drawing/2014/main" id="{55485FEF-A18B-E92D-C0DF-B842CD0E7C3C}"/>
              </a:ext>
            </a:extLst>
          </p:cNvPr>
          <p:cNvPicPr>
            <a:picLocks noGrp="1" noChangeAspect="1"/>
          </p:cNvPicPr>
          <p:nvPr>
            <p:ph idx="1"/>
          </p:nvPr>
        </p:nvPicPr>
        <p:blipFill>
          <a:blip r:embed="rId2"/>
          <a:stretch>
            <a:fillRect/>
          </a:stretch>
        </p:blipFill>
        <p:spPr>
          <a:xfrm>
            <a:off x="273756" y="1966958"/>
            <a:ext cx="3314700" cy="3937000"/>
          </a:xfrm>
          <a:prstGeom prst="rect">
            <a:avLst/>
          </a:prstGeom>
        </p:spPr>
      </p:pic>
      <p:sp>
        <p:nvSpPr>
          <p:cNvPr id="6" name="TextBox 5">
            <a:extLst>
              <a:ext uri="{FF2B5EF4-FFF2-40B4-BE49-F238E27FC236}">
                <a16:creationId xmlns:a16="http://schemas.microsoft.com/office/drawing/2014/main" id="{97CCD18B-1A9E-69BF-0223-A50A972C63DC}"/>
              </a:ext>
            </a:extLst>
          </p:cNvPr>
          <p:cNvSpPr txBox="1"/>
          <p:nvPr/>
        </p:nvSpPr>
        <p:spPr>
          <a:xfrm>
            <a:off x="4648199" y="2100528"/>
            <a:ext cx="6960705" cy="1477328"/>
          </a:xfrm>
          <a:prstGeom prst="rect">
            <a:avLst/>
          </a:prstGeom>
          <a:noFill/>
        </p:spPr>
        <p:txBody>
          <a:bodyPr wrap="square">
            <a:spAutoFit/>
          </a:bodyPr>
          <a:lstStyle/>
          <a:p>
            <a:pPr>
              <a:buNone/>
            </a:pPr>
            <a:r>
              <a:rPr lang="en-US" dirty="0">
                <a:effectLst/>
                <a:latin typeface="Helvetica" pitchFamily="2" charset="0"/>
              </a:rPr>
              <a:t>Here are three possible goals for the analysis of second-order models:</a:t>
            </a:r>
          </a:p>
          <a:p>
            <a:pPr marL="285750" indent="-285750">
              <a:buFont typeface="Arial" panose="020B0604020202020204" pitchFamily="34" charset="0"/>
              <a:buChar char="•"/>
            </a:pPr>
            <a:r>
              <a:rPr lang="en-US" dirty="0">
                <a:effectLst/>
                <a:latin typeface="Helvetica" pitchFamily="2" charset="0"/>
              </a:rPr>
              <a:t>  Determine which design variables affect the response.</a:t>
            </a:r>
          </a:p>
          <a:p>
            <a:pPr marL="285750" indent="-285750">
              <a:buFont typeface="Arial" panose="020B0604020202020204" pitchFamily="34" charset="0"/>
              <a:buChar char="•"/>
            </a:pPr>
            <a:r>
              <a:rPr lang="en-US" dirty="0">
                <a:effectLst/>
                <a:latin typeface="Helvetica" pitchFamily="2" charset="0"/>
              </a:rPr>
              <a:t>  Determine whether there is a lack of fit.</a:t>
            </a:r>
          </a:p>
          <a:p>
            <a:pPr marL="285750" indent="-285750">
              <a:buFont typeface="Arial" panose="020B0604020202020204" pitchFamily="34" charset="0"/>
              <a:buChar char="•"/>
            </a:pPr>
            <a:r>
              <a:rPr lang="en-US" dirty="0">
                <a:effectLst/>
                <a:latin typeface="Helvetica" pitchFamily="2" charset="0"/>
              </a:rPr>
              <a:t>  Determine the stationary point and surface type.</a:t>
            </a:r>
          </a:p>
        </p:txBody>
      </p:sp>
      <p:pic>
        <p:nvPicPr>
          <p:cNvPr id="7" name="Picture 6">
            <a:extLst>
              <a:ext uri="{FF2B5EF4-FFF2-40B4-BE49-F238E27FC236}">
                <a16:creationId xmlns:a16="http://schemas.microsoft.com/office/drawing/2014/main" id="{D60FBA60-C128-77F6-E85B-B61F67433896}"/>
              </a:ext>
            </a:extLst>
          </p:cNvPr>
          <p:cNvPicPr>
            <a:picLocks noChangeAspect="1"/>
          </p:cNvPicPr>
          <p:nvPr/>
        </p:nvPicPr>
        <p:blipFill>
          <a:blip r:embed="rId3"/>
          <a:stretch>
            <a:fillRect/>
          </a:stretch>
        </p:blipFill>
        <p:spPr>
          <a:xfrm>
            <a:off x="4242351" y="1841554"/>
            <a:ext cx="7772400" cy="4891042"/>
          </a:xfrm>
          <a:prstGeom prst="rect">
            <a:avLst/>
          </a:prstGeom>
        </p:spPr>
      </p:pic>
    </p:spTree>
    <p:extLst>
      <p:ext uri="{BB962C8B-B14F-4D97-AF65-F5344CB8AC3E}">
        <p14:creationId xmlns:p14="http://schemas.microsoft.com/office/powerpoint/2010/main" val="232098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7E7D1BF-A976-9201-A8BC-85D98BCE3ADB}"/>
              </a:ext>
            </a:extLst>
          </p:cNvPr>
          <p:cNvSpPr>
            <a:spLocks noGrp="1"/>
          </p:cNvSpPr>
          <p:nvPr>
            <p:ph type="title"/>
          </p:nvPr>
        </p:nvSpPr>
        <p:spPr/>
        <p:txBody>
          <a:bodyPr>
            <a:normAutofit/>
          </a:bodyPr>
          <a:lstStyle/>
          <a:p>
            <a:pPr algn="ctr"/>
            <a:r>
              <a:rPr lang="en-US" dirty="0"/>
              <a:t>Example:  Improving the Yield of a Chemical Process</a:t>
            </a:r>
          </a:p>
        </p:txBody>
      </p:sp>
      <p:sp>
        <p:nvSpPr>
          <p:cNvPr id="5" name="Rectangle 3">
            <a:extLst>
              <a:ext uri="{FF2B5EF4-FFF2-40B4-BE49-F238E27FC236}">
                <a16:creationId xmlns:a16="http://schemas.microsoft.com/office/drawing/2014/main" id="{41551936-58D8-F116-A26E-B4A707109527}"/>
              </a:ext>
            </a:extLst>
          </p:cNvPr>
          <p:cNvSpPr>
            <a:spLocks noChangeArrowheads="1"/>
          </p:cNvSpPr>
          <p:nvPr/>
        </p:nvSpPr>
        <p:spPr bwMode="auto">
          <a:xfrm>
            <a:off x="593725" y="6148388"/>
            <a:ext cx="137795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0" name="Group 9">
            <a:extLst>
              <a:ext uri="{FF2B5EF4-FFF2-40B4-BE49-F238E27FC236}">
                <a16:creationId xmlns:a16="http://schemas.microsoft.com/office/drawing/2014/main" id="{710E1ECB-D49E-516B-BB88-A71F58884F83}"/>
              </a:ext>
            </a:extLst>
          </p:cNvPr>
          <p:cNvGrpSpPr/>
          <p:nvPr/>
        </p:nvGrpSpPr>
        <p:grpSpPr>
          <a:xfrm>
            <a:off x="1842661" y="2479211"/>
            <a:ext cx="7899400" cy="3189288"/>
            <a:chOff x="593725" y="2613025"/>
            <a:chExt cx="7899400" cy="3189288"/>
          </a:xfrm>
        </p:grpSpPr>
        <p:graphicFrame>
          <p:nvGraphicFramePr>
            <p:cNvPr id="6" name="Object 4">
              <a:hlinkClick r:id="" action="ppaction://ole?verb=0"/>
              <a:extLst>
                <a:ext uri="{FF2B5EF4-FFF2-40B4-BE49-F238E27FC236}">
                  <a16:creationId xmlns:a16="http://schemas.microsoft.com/office/drawing/2014/main" id="{FB157484-8B53-7A92-3E72-C88352E0B2E8}"/>
                </a:ext>
              </a:extLst>
            </p:cNvPr>
            <p:cNvGraphicFramePr>
              <a:graphicFrameLocks/>
            </p:cNvGraphicFramePr>
            <p:nvPr>
              <p:extLst>
                <p:ext uri="{D42A27DB-BD31-4B8C-83A1-F6EECF244321}">
                  <p14:modId xmlns:p14="http://schemas.microsoft.com/office/powerpoint/2010/main" val="2881022235"/>
                </p:ext>
              </p:extLst>
            </p:nvPr>
          </p:nvGraphicFramePr>
          <p:xfrm>
            <a:off x="593725" y="3201988"/>
            <a:ext cx="7899400" cy="2600325"/>
          </p:xfrm>
          <a:graphic>
            <a:graphicData uri="http://schemas.openxmlformats.org/presentationml/2006/ole">
              <mc:AlternateContent xmlns:mc="http://schemas.openxmlformats.org/markup-compatibility/2006">
                <mc:Choice xmlns:v="urn:schemas-microsoft-com:vml" Requires="v">
                  <p:oleObj name="Document" r:id="rId2" imgW="4064000" imgH="1346200" progId="Word.Document.8">
                    <p:embed/>
                  </p:oleObj>
                </mc:Choice>
                <mc:Fallback>
                  <p:oleObj name="Document" r:id="rId2" imgW="4064000" imgH="1346200" progId="Word.Document.8">
                    <p:embed/>
                    <p:pic>
                      <p:nvPicPr>
                        <p:cNvPr id="6" name="Object 4">
                          <a:hlinkClick r:id="" action="ppaction://ole?verb=0"/>
                          <a:extLst>
                            <a:ext uri="{FF2B5EF4-FFF2-40B4-BE49-F238E27FC236}">
                              <a16:creationId xmlns:a16="http://schemas.microsoft.com/office/drawing/2014/main" id="{FB157484-8B53-7A92-3E72-C88352E0B2E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3201988"/>
                          <a:ext cx="7899400" cy="26003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5">
              <a:extLst>
                <a:ext uri="{FF2B5EF4-FFF2-40B4-BE49-F238E27FC236}">
                  <a16:creationId xmlns:a16="http://schemas.microsoft.com/office/drawing/2014/main" id="{E31BADEA-F394-C5A4-F350-B468EE6130E5}"/>
                </a:ext>
              </a:extLst>
            </p:cNvPr>
            <p:cNvSpPr>
              <a:spLocks noChangeArrowheads="1"/>
            </p:cNvSpPr>
            <p:nvPr/>
          </p:nvSpPr>
          <p:spPr bwMode="auto">
            <a:xfrm>
              <a:off x="5522913" y="2613025"/>
              <a:ext cx="1277937" cy="5889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en-US" sz="3200"/>
                <a:t>Levels</a:t>
              </a:r>
            </a:p>
          </p:txBody>
        </p:sp>
      </p:grpSp>
    </p:spTree>
    <p:extLst>
      <p:ext uri="{BB962C8B-B14F-4D97-AF65-F5344CB8AC3E}">
        <p14:creationId xmlns:p14="http://schemas.microsoft.com/office/powerpoint/2010/main" val="3363157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9D5A0E2-D7B4-0CE5-7A42-4651627F6D7E}"/>
              </a:ext>
            </a:extLst>
          </p:cNvPr>
          <p:cNvSpPr>
            <a:spLocks noGrp="1"/>
          </p:cNvSpPr>
          <p:nvPr>
            <p:ph type="title"/>
          </p:nvPr>
        </p:nvSpPr>
        <p:spPr/>
        <p:txBody>
          <a:bodyPr/>
          <a:lstStyle/>
          <a:p>
            <a:pPr algn="ctr"/>
            <a:r>
              <a:rPr lang="en-US" dirty="0"/>
              <a:t>Results From First Factorial Design</a:t>
            </a:r>
          </a:p>
        </p:txBody>
      </p:sp>
      <p:graphicFrame>
        <p:nvGraphicFramePr>
          <p:cNvPr id="11" name="Object 2">
            <a:hlinkClick r:id="" action="ppaction://ole?verb=0"/>
            <a:extLst>
              <a:ext uri="{FF2B5EF4-FFF2-40B4-BE49-F238E27FC236}">
                <a16:creationId xmlns:a16="http://schemas.microsoft.com/office/drawing/2014/main" id="{1000010F-8E17-1BFF-D4C1-68C8C4FEE26A}"/>
              </a:ext>
            </a:extLst>
          </p:cNvPr>
          <p:cNvGraphicFramePr>
            <a:graphicFrameLocks noGrp="1"/>
          </p:cNvGraphicFramePr>
          <p:nvPr>
            <p:ph idx="1"/>
            <p:extLst>
              <p:ext uri="{D42A27DB-BD31-4B8C-83A1-F6EECF244321}">
                <p14:modId xmlns:p14="http://schemas.microsoft.com/office/powerpoint/2010/main" val="2134630725"/>
              </p:ext>
            </p:extLst>
          </p:nvPr>
        </p:nvGraphicFramePr>
        <p:xfrm>
          <a:off x="2326888" y="1817649"/>
          <a:ext cx="7538224" cy="4675226"/>
        </p:xfrm>
        <a:graphic>
          <a:graphicData uri="http://schemas.openxmlformats.org/presentationml/2006/ole">
            <mc:AlternateContent xmlns:mc="http://schemas.openxmlformats.org/markup-compatibility/2006">
              <mc:Choice xmlns:v="urn:schemas-microsoft-com:vml" Requires="v">
                <p:oleObj name="Document" r:id="rId2" imgW="2984500" imgH="1981200" progId="Word.Document.8">
                  <p:embed/>
                </p:oleObj>
              </mc:Choice>
              <mc:Fallback>
                <p:oleObj name="Document" r:id="rId2" imgW="2984500" imgH="1981200" progId="Word.Document.8">
                  <p:embed/>
                  <p:pic>
                    <p:nvPicPr>
                      <p:cNvPr id="11" name="Object 2">
                        <a:hlinkClick r:id="" action="ppaction://ole?verb=0"/>
                        <a:extLst>
                          <a:ext uri="{FF2B5EF4-FFF2-40B4-BE49-F238E27FC236}">
                            <a16:creationId xmlns:a16="http://schemas.microsoft.com/office/drawing/2014/main" id="{1000010F-8E17-1BFF-D4C1-68C8C4FEE26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6888" y="1817649"/>
                        <a:ext cx="7538224" cy="467522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19479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68D77-44A4-E1EB-361D-DFEC8EB21270}"/>
              </a:ext>
            </a:extLst>
          </p:cNvPr>
          <p:cNvSpPr>
            <a:spLocks noGrp="1"/>
          </p:cNvSpPr>
          <p:nvPr>
            <p:ph type="title"/>
          </p:nvPr>
        </p:nvSpPr>
        <p:spPr/>
        <p:txBody>
          <a:bodyPr>
            <a:normAutofit/>
          </a:bodyPr>
          <a:lstStyle/>
          <a:p>
            <a:pPr algn="ctr"/>
            <a:r>
              <a:rPr lang="en-US" dirty="0"/>
              <a:t>Generation of surface designs with the </a:t>
            </a:r>
            <a:r>
              <a:rPr lang="en-US" b="1" dirty="0" err="1"/>
              <a:t>rsm</a:t>
            </a:r>
            <a:r>
              <a:rPr lang="en-US" dirty="0"/>
              <a:t> package</a:t>
            </a:r>
          </a:p>
        </p:txBody>
      </p:sp>
      <p:sp>
        <p:nvSpPr>
          <p:cNvPr id="3" name="Content Placeholder 2">
            <a:extLst>
              <a:ext uri="{FF2B5EF4-FFF2-40B4-BE49-F238E27FC236}">
                <a16:creationId xmlns:a16="http://schemas.microsoft.com/office/drawing/2014/main" id="{3AE36D4B-6C26-8905-DE91-C6BFB379B5CA}"/>
              </a:ext>
            </a:extLst>
          </p:cNvPr>
          <p:cNvSpPr>
            <a:spLocks noGrp="1"/>
          </p:cNvSpPr>
          <p:nvPr>
            <p:ph idx="1"/>
          </p:nvPr>
        </p:nvSpPr>
        <p:spPr/>
        <p:txBody>
          <a:bodyPr>
            <a:normAutofit/>
          </a:bodyPr>
          <a:lstStyle/>
          <a:p>
            <a:r>
              <a:rPr lang="en-US" b="0" i="0" dirty="0">
                <a:effectLst/>
                <a:latin typeface="-apple-system"/>
              </a:rPr>
              <a:t>central composite design: </a:t>
            </a:r>
            <a:r>
              <a:rPr lang="en-US" b="1" dirty="0" err="1"/>
              <a:t>ccd</a:t>
            </a:r>
            <a:r>
              <a:rPr lang="en-US" b="1" dirty="0"/>
              <a:t>()</a:t>
            </a:r>
            <a:r>
              <a:rPr lang="en-US" b="1" i="0" dirty="0">
                <a:effectLst/>
                <a:latin typeface="-apple-system"/>
              </a:rPr>
              <a:t> </a:t>
            </a:r>
            <a:r>
              <a:rPr lang="en-US" b="0" i="0" dirty="0">
                <a:effectLst/>
                <a:latin typeface="-apple-system"/>
              </a:rPr>
              <a:t>function</a:t>
            </a:r>
          </a:p>
          <a:p>
            <a:r>
              <a:rPr lang="en-US" b="0" i="0" dirty="0">
                <a:effectLst/>
                <a:latin typeface="-apple-system"/>
              </a:rPr>
              <a:t>By default </a:t>
            </a:r>
            <a:r>
              <a:rPr lang="en-US" dirty="0" err="1"/>
              <a:t>ccd</a:t>
            </a:r>
            <a:r>
              <a:rPr lang="en-US" dirty="0"/>
              <a:t>()</a:t>
            </a:r>
            <a:r>
              <a:rPr lang="en-US" b="0" i="0" dirty="0">
                <a:effectLst/>
                <a:latin typeface="-apple-system"/>
              </a:rPr>
              <a:t> creates two blocks, one for regular experimental runs and another block for “start” points.</a:t>
            </a:r>
          </a:p>
        </p:txBody>
      </p:sp>
      <p:pic>
        <p:nvPicPr>
          <p:cNvPr id="9" name="Picture 8">
            <a:extLst>
              <a:ext uri="{FF2B5EF4-FFF2-40B4-BE49-F238E27FC236}">
                <a16:creationId xmlns:a16="http://schemas.microsoft.com/office/drawing/2014/main" id="{1D373773-DF6A-D532-0E88-929B052C51EE}"/>
              </a:ext>
            </a:extLst>
          </p:cNvPr>
          <p:cNvPicPr>
            <a:picLocks noChangeAspect="1"/>
          </p:cNvPicPr>
          <p:nvPr/>
        </p:nvPicPr>
        <p:blipFill>
          <a:blip r:embed="rId2"/>
          <a:stretch>
            <a:fillRect/>
          </a:stretch>
        </p:blipFill>
        <p:spPr>
          <a:xfrm>
            <a:off x="6362327" y="1613636"/>
            <a:ext cx="5829673" cy="5244364"/>
          </a:xfrm>
          <a:prstGeom prst="rect">
            <a:avLst/>
          </a:prstGeom>
        </p:spPr>
      </p:pic>
      <p:pic>
        <p:nvPicPr>
          <p:cNvPr id="10" name="Picture 9">
            <a:extLst>
              <a:ext uri="{FF2B5EF4-FFF2-40B4-BE49-F238E27FC236}">
                <a16:creationId xmlns:a16="http://schemas.microsoft.com/office/drawing/2014/main" id="{4A46D228-9A91-94D2-545B-28A1AFD083DF}"/>
              </a:ext>
            </a:extLst>
          </p:cNvPr>
          <p:cNvPicPr>
            <a:picLocks noChangeAspect="1"/>
          </p:cNvPicPr>
          <p:nvPr/>
        </p:nvPicPr>
        <p:blipFill>
          <a:blip r:embed="rId3"/>
          <a:stretch>
            <a:fillRect/>
          </a:stretch>
        </p:blipFill>
        <p:spPr>
          <a:xfrm>
            <a:off x="279774" y="4001294"/>
            <a:ext cx="5549900" cy="1016000"/>
          </a:xfrm>
          <a:prstGeom prst="rect">
            <a:avLst/>
          </a:prstGeom>
        </p:spPr>
      </p:pic>
    </p:spTree>
    <p:extLst>
      <p:ext uri="{BB962C8B-B14F-4D97-AF65-F5344CB8AC3E}">
        <p14:creationId xmlns:p14="http://schemas.microsoft.com/office/powerpoint/2010/main" val="3002255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F63FB2-71F8-617C-F992-0478D460D336}"/>
              </a:ext>
            </a:extLst>
          </p:cNvPr>
          <p:cNvPicPr>
            <a:picLocks noChangeAspect="1"/>
          </p:cNvPicPr>
          <p:nvPr/>
        </p:nvPicPr>
        <p:blipFill>
          <a:blip r:embed="rId2"/>
          <a:stretch>
            <a:fillRect/>
          </a:stretch>
        </p:blipFill>
        <p:spPr>
          <a:xfrm>
            <a:off x="148752" y="2678224"/>
            <a:ext cx="5549900" cy="1473200"/>
          </a:xfrm>
          <a:prstGeom prst="rect">
            <a:avLst/>
          </a:prstGeom>
        </p:spPr>
      </p:pic>
      <p:pic>
        <p:nvPicPr>
          <p:cNvPr id="8" name="Picture 7">
            <a:extLst>
              <a:ext uri="{FF2B5EF4-FFF2-40B4-BE49-F238E27FC236}">
                <a16:creationId xmlns:a16="http://schemas.microsoft.com/office/drawing/2014/main" id="{655731B3-3606-E491-5236-709AD386A7C2}"/>
              </a:ext>
            </a:extLst>
          </p:cNvPr>
          <p:cNvPicPr>
            <a:picLocks noChangeAspect="1"/>
          </p:cNvPicPr>
          <p:nvPr/>
        </p:nvPicPr>
        <p:blipFill>
          <a:blip r:embed="rId3"/>
          <a:stretch>
            <a:fillRect/>
          </a:stretch>
        </p:blipFill>
        <p:spPr>
          <a:xfrm>
            <a:off x="5909041" y="765605"/>
            <a:ext cx="5921296" cy="5326789"/>
          </a:xfrm>
          <a:prstGeom prst="rect">
            <a:avLst/>
          </a:prstGeom>
        </p:spPr>
      </p:pic>
    </p:spTree>
    <p:extLst>
      <p:ext uri="{BB962C8B-B14F-4D97-AF65-F5344CB8AC3E}">
        <p14:creationId xmlns:p14="http://schemas.microsoft.com/office/powerpoint/2010/main" val="21778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68D77-44A4-E1EB-361D-DFEC8EB21270}"/>
              </a:ext>
            </a:extLst>
          </p:cNvPr>
          <p:cNvSpPr>
            <a:spLocks noGrp="1"/>
          </p:cNvSpPr>
          <p:nvPr>
            <p:ph type="title"/>
          </p:nvPr>
        </p:nvSpPr>
        <p:spPr/>
        <p:txBody>
          <a:bodyPr>
            <a:normAutofit/>
          </a:bodyPr>
          <a:lstStyle/>
          <a:p>
            <a:pPr algn="ctr"/>
            <a:r>
              <a:rPr lang="en-US" dirty="0"/>
              <a:t>Generation of surface designs with the </a:t>
            </a:r>
            <a:r>
              <a:rPr lang="en-US" b="1" dirty="0" err="1"/>
              <a:t>rsm</a:t>
            </a:r>
            <a:r>
              <a:rPr lang="en-US" dirty="0"/>
              <a:t> package</a:t>
            </a:r>
          </a:p>
        </p:txBody>
      </p:sp>
      <p:sp>
        <p:nvSpPr>
          <p:cNvPr id="3" name="Content Placeholder 2">
            <a:extLst>
              <a:ext uri="{FF2B5EF4-FFF2-40B4-BE49-F238E27FC236}">
                <a16:creationId xmlns:a16="http://schemas.microsoft.com/office/drawing/2014/main" id="{3AE36D4B-6C26-8905-DE91-C6BFB379B5CA}"/>
              </a:ext>
            </a:extLst>
          </p:cNvPr>
          <p:cNvSpPr>
            <a:spLocks noGrp="1"/>
          </p:cNvSpPr>
          <p:nvPr>
            <p:ph idx="1"/>
          </p:nvPr>
        </p:nvSpPr>
        <p:spPr/>
        <p:txBody>
          <a:bodyPr>
            <a:normAutofit/>
          </a:bodyPr>
          <a:lstStyle/>
          <a:p>
            <a:r>
              <a:rPr lang="en-US" b="0" i="0" dirty="0">
                <a:effectLst/>
                <a:latin typeface="-apple-system"/>
              </a:rPr>
              <a:t>Analyze with </a:t>
            </a:r>
            <a:r>
              <a:rPr lang="en-US" b="1" i="0" dirty="0" err="1">
                <a:effectLst/>
                <a:latin typeface="-apple-system"/>
              </a:rPr>
              <a:t>rsm</a:t>
            </a:r>
            <a:r>
              <a:rPr lang="en-US" b="1" i="0" dirty="0">
                <a:effectLst/>
                <a:latin typeface="-apple-system"/>
              </a:rPr>
              <a:t>() function</a:t>
            </a:r>
          </a:p>
          <a:p>
            <a:pPr algn="l"/>
            <a:r>
              <a:rPr lang="en-US" b="0" i="0" dirty="0">
                <a:effectLst/>
                <a:latin typeface="-apple-system"/>
              </a:rPr>
              <a:t>quality of the model: </a:t>
            </a:r>
          </a:p>
          <a:p>
            <a:pPr marL="0" indent="0" algn="l">
              <a:buNone/>
            </a:pPr>
            <a:r>
              <a:rPr lang="en-US" b="1" i="0" dirty="0">
                <a:effectLst/>
                <a:latin typeface="-apple-system"/>
              </a:rPr>
              <a:t>Adjusted R</a:t>
            </a:r>
            <a:r>
              <a:rPr lang="en-US" b="1" i="0" baseline="30000" dirty="0">
                <a:effectLst/>
                <a:latin typeface="-apple-system"/>
              </a:rPr>
              <a:t>2</a:t>
            </a:r>
            <a:r>
              <a:rPr lang="en-US" b="1" i="0" dirty="0">
                <a:effectLst/>
                <a:latin typeface="-apple-system"/>
              </a:rPr>
              <a:t> </a:t>
            </a:r>
            <a:r>
              <a:rPr lang="en-US" b="0" i="0" dirty="0">
                <a:effectLst/>
                <a:latin typeface="-apple-system"/>
              </a:rPr>
              <a:t>(Values close to 1 are preferred) </a:t>
            </a:r>
            <a:r>
              <a:rPr lang="en-US" dirty="0">
                <a:latin typeface="-apple-system"/>
              </a:rPr>
              <a:t>and </a:t>
            </a:r>
            <a:r>
              <a:rPr lang="en-US" b="1" i="0" dirty="0">
                <a:effectLst/>
                <a:latin typeface="-apple-system"/>
              </a:rPr>
              <a:t>lack of fit </a:t>
            </a:r>
          </a:p>
          <a:p>
            <a:pPr marL="0" indent="0" algn="l">
              <a:buNone/>
            </a:pPr>
            <a:r>
              <a:rPr lang="en-US" b="0" i="0" dirty="0">
                <a:effectLst/>
                <a:latin typeface="-apple-system"/>
              </a:rPr>
              <a:t>(</a:t>
            </a:r>
            <a:r>
              <a:rPr lang="en-US" b="0" i="1" dirty="0">
                <a:effectLst/>
                <a:latin typeface="-apple-system"/>
              </a:rPr>
              <a:t>p-value &gt; ⍺ </a:t>
            </a:r>
            <a:r>
              <a:rPr lang="en-US" b="0" i="0" dirty="0">
                <a:effectLst/>
                <a:latin typeface="-apple-system"/>
              </a:rPr>
              <a:t>tells us that the model is “adequate”)</a:t>
            </a:r>
          </a:p>
          <a:p>
            <a:endParaRPr lang="en-US" dirty="0"/>
          </a:p>
        </p:txBody>
      </p:sp>
    </p:spTree>
    <p:extLst>
      <p:ext uri="{BB962C8B-B14F-4D97-AF65-F5344CB8AC3E}">
        <p14:creationId xmlns:p14="http://schemas.microsoft.com/office/powerpoint/2010/main" val="34151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47506E-C0A2-986A-2739-CB04075E734E}"/>
              </a:ext>
            </a:extLst>
          </p:cNvPr>
          <p:cNvPicPr>
            <a:picLocks noChangeAspect="1"/>
          </p:cNvPicPr>
          <p:nvPr/>
        </p:nvPicPr>
        <p:blipFill>
          <a:blip r:embed="rId2"/>
          <a:stretch>
            <a:fillRect/>
          </a:stretch>
        </p:blipFill>
        <p:spPr>
          <a:xfrm>
            <a:off x="1233584" y="323387"/>
            <a:ext cx="8927128" cy="806875"/>
          </a:xfrm>
          <a:prstGeom prst="rect">
            <a:avLst/>
          </a:prstGeom>
        </p:spPr>
      </p:pic>
      <p:pic>
        <p:nvPicPr>
          <p:cNvPr id="5" name="Picture 4">
            <a:extLst>
              <a:ext uri="{FF2B5EF4-FFF2-40B4-BE49-F238E27FC236}">
                <a16:creationId xmlns:a16="http://schemas.microsoft.com/office/drawing/2014/main" id="{11B279F9-9CA4-A5EC-D0F4-01128DD3E35F}"/>
              </a:ext>
            </a:extLst>
          </p:cNvPr>
          <p:cNvPicPr>
            <a:picLocks noChangeAspect="1"/>
          </p:cNvPicPr>
          <p:nvPr/>
        </p:nvPicPr>
        <p:blipFill>
          <a:blip r:embed="rId3"/>
          <a:stretch>
            <a:fillRect/>
          </a:stretch>
        </p:blipFill>
        <p:spPr>
          <a:xfrm>
            <a:off x="335157" y="1393902"/>
            <a:ext cx="5361991" cy="5096107"/>
          </a:xfrm>
          <a:prstGeom prst="rect">
            <a:avLst/>
          </a:prstGeom>
        </p:spPr>
      </p:pic>
      <p:pic>
        <p:nvPicPr>
          <p:cNvPr id="6" name="Picture 5">
            <a:extLst>
              <a:ext uri="{FF2B5EF4-FFF2-40B4-BE49-F238E27FC236}">
                <a16:creationId xmlns:a16="http://schemas.microsoft.com/office/drawing/2014/main" id="{804CA2E7-3376-052F-BAD5-6348D7A09A1D}"/>
              </a:ext>
            </a:extLst>
          </p:cNvPr>
          <p:cNvPicPr>
            <a:picLocks noChangeAspect="1"/>
          </p:cNvPicPr>
          <p:nvPr/>
        </p:nvPicPr>
        <p:blipFill>
          <a:blip r:embed="rId4"/>
          <a:stretch>
            <a:fillRect/>
          </a:stretch>
        </p:blipFill>
        <p:spPr>
          <a:xfrm>
            <a:off x="6049743" y="1520592"/>
            <a:ext cx="5523673" cy="5096108"/>
          </a:xfrm>
          <a:prstGeom prst="rect">
            <a:avLst/>
          </a:prstGeom>
        </p:spPr>
      </p:pic>
    </p:spTree>
    <p:extLst>
      <p:ext uri="{BB962C8B-B14F-4D97-AF65-F5344CB8AC3E}">
        <p14:creationId xmlns:p14="http://schemas.microsoft.com/office/powerpoint/2010/main" val="7399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A68F5-4F63-584F-2425-F928D4E2904D}"/>
              </a:ext>
            </a:extLst>
          </p:cNvPr>
          <p:cNvSpPr>
            <a:spLocks noGrp="1"/>
          </p:cNvSpPr>
          <p:nvPr>
            <p:ph type="title"/>
          </p:nvPr>
        </p:nvSpPr>
        <p:spPr/>
        <p:txBody>
          <a:bodyPr>
            <a:normAutofit/>
          </a:bodyPr>
          <a:lstStyle/>
          <a:p>
            <a:pPr algn="ctr"/>
            <a:r>
              <a:rPr lang="en-US" dirty="0"/>
              <a:t>Magnitudes of the eigenvalues</a:t>
            </a:r>
          </a:p>
        </p:txBody>
      </p:sp>
      <p:graphicFrame>
        <p:nvGraphicFramePr>
          <p:cNvPr id="4" name="Table 4">
            <a:extLst>
              <a:ext uri="{FF2B5EF4-FFF2-40B4-BE49-F238E27FC236}">
                <a16:creationId xmlns:a16="http://schemas.microsoft.com/office/drawing/2014/main" id="{09E31C5A-28A5-899C-A505-3820F317461C}"/>
              </a:ext>
            </a:extLst>
          </p:cNvPr>
          <p:cNvGraphicFramePr>
            <a:graphicFrameLocks noGrp="1"/>
          </p:cNvGraphicFramePr>
          <p:nvPr>
            <p:ph idx="1"/>
          </p:nvPr>
        </p:nvGraphicFramePr>
        <p:xfrm>
          <a:off x="838200" y="1825625"/>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51573630"/>
                    </a:ext>
                  </a:extLst>
                </a:gridCol>
                <a:gridCol w="5257800">
                  <a:extLst>
                    <a:ext uri="{9D8B030D-6E8A-4147-A177-3AD203B41FA5}">
                      <a16:colId xmlns:a16="http://schemas.microsoft.com/office/drawing/2014/main" val="1903775642"/>
                    </a:ext>
                  </a:extLst>
                </a:gridCol>
              </a:tblGrid>
              <a:tr h="370840">
                <a:tc>
                  <a:txBody>
                    <a:bodyPr/>
                    <a:lstStyle/>
                    <a:p>
                      <a:r>
                        <a:rPr lang="en-US" dirty="0"/>
                        <a:t>Eigenvalues</a:t>
                      </a:r>
                    </a:p>
                  </a:txBody>
                  <a:tcPr/>
                </a:tc>
                <a:tc>
                  <a:txBody>
                    <a:bodyPr/>
                    <a:lstStyle/>
                    <a:p>
                      <a:r>
                        <a:rPr lang="en-US" dirty="0"/>
                        <a:t>Type of surface</a:t>
                      </a:r>
                    </a:p>
                  </a:txBody>
                  <a:tcPr/>
                </a:tc>
                <a:extLst>
                  <a:ext uri="{0D108BD9-81ED-4DB2-BD59-A6C34878D82A}">
                    <a16:rowId xmlns:a16="http://schemas.microsoft.com/office/drawing/2014/main" val="374856064"/>
                  </a:ext>
                </a:extLst>
              </a:tr>
              <a:tr h="370840">
                <a:tc>
                  <a:txBody>
                    <a:bodyPr/>
                    <a:lstStyle/>
                    <a:p>
                      <a:r>
                        <a:rPr lang="en-US" dirty="0"/>
                        <a:t>All positive</a:t>
                      </a:r>
                    </a:p>
                  </a:txBody>
                  <a:tcPr/>
                </a:tc>
                <a:tc>
                  <a:txBody>
                    <a:bodyPr/>
                    <a:lstStyle/>
                    <a:p>
                      <a:r>
                        <a:rPr lang="en-US" dirty="0"/>
                        <a:t>Minimum</a:t>
                      </a:r>
                    </a:p>
                  </a:txBody>
                  <a:tcPr/>
                </a:tc>
                <a:extLst>
                  <a:ext uri="{0D108BD9-81ED-4DB2-BD59-A6C34878D82A}">
                    <a16:rowId xmlns:a16="http://schemas.microsoft.com/office/drawing/2014/main" val="2814033139"/>
                  </a:ext>
                </a:extLst>
              </a:tr>
              <a:tr h="370840">
                <a:tc>
                  <a:txBody>
                    <a:bodyPr/>
                    <a:lstStyle/>
                    <a:p>
                      <a:r>
                        <a:rPr lang="en-US" dirty="0"/>
                        <a:t>All negative</a:t>
                      </a:r>
                    </a:p>
                  </a:txBody>
                  <a:tcPr/>
                </a:tc>
                <a:tc>
                  <a:txBody>
                    <a:bodyPr/>
                    <a:lstStyle/>
                    <a:p>
                      <a:r>
                        <a:rPr lang="en-US" dirty="0"/>
                        <a:t>Maximum</a:t>
                      </a:r>
                    </a:p>
                  </a:txBody>
                  <a:tcPr/>
                </a:tc>
                <a:extLst>
                  <a:ext uri="{0D108BD9-81ED-4DB2-BD59-A6C34878D82A}">
                    <a16:rowId xmlns:a16="http://schemas.microsoft.com/office/drawing/2014/main" val="3571048258"/>
                  </a:ext>
                </a:extLst>
              </a:tr>
              <a:tr h="370840">
                <a:tc>
                  <a:txBody>
                    <a:bodyPr/>
                    <a:lstStyle/>
                    <a:p>
                      <a:r>
                        <a:rPr lang="en-US" dirty="0"/>
                        <a:t>At least one zero</a:t>
                      </a:r>
                    </a:p>
                  </a:txBody>
                  <a:tcPr/>
                </a:tc>
                <a:tc>
                  <a:txBody>
                    <a:bodyPr/>
                    <a:lstStyle/>
                    <a:p>
                      <a:r>
                        <a:rPr lang="en-US" dirty="0"/>
                        <a:t>Ridge</a:t>
                      </a:r>
                    </a:p>
                  </a:txBody>
                  <a:tcPr/>
                </a:tc>
                <a:extLst>
                  <a:ext uri="{0D108BD9-81ED-4DB2-BD59-A6C34878D82A}">
                    <a16:rowId xmlns:a16="http://schemas.microsoft.com/office/drawing/2014/main" val="1980720992"/>
                  </a:ext>
                </a:extLst>
              </a:tr>
              <a:tr h="370840">
                <a:tc>
                  <a:txBody>
                    <a:bodyPr/>
                    <a:lstStyle/>
                    <a:p>
                      <a:r>
                        <a:rPr lang="en-US" dirty="0"/>
                        <a:t>Some negative and some positive</a:t>
                      </a:r>
                    </a:p>
                  </a:txBody>
                  <a:tcPr/>
                </a:tc>
                <a:tc>
                  <a:txBody>
                    <a:bodyPr/>
                    <a:lstStyle/>
                    <a:p>
                      <a:r>
                        <a:rPr lang="en-US" dirty="0"/>
                        <a:t>Saddle point</a:t>
                      </a:r>
                    </a:p>
                  </a:txBody>
                  <a:tcPr/>
                </a:tc>
                <a:extLst>
                  <a:ext uri="{0D108BD9-81ED-4DB2-BD59-A6C34878D82A}">
                    <a16:rowId xmlns:a16="http://schemas.microsoft.com/office/drawing/2014/main" val="2433430384"/>
                  </a:ext>
                </a:extLst>
              </a:tr>
            </a:tbl>
          </a:graphicData>
        </a:graphic>
      </p:graphicFrame>
    </p:spTree>
    <p:extLst>
      <p:ext uri="{BB962C8B-B14F-4D97-AF65-F5344CB8AC3E}">
        <p14:creationId xmlns:p14="http://schemas.microsoft.com/office/powerpoint/2010/main" val="3008887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75EBBCD-8BDF-0276-679F-338CA1250B61}"/>
              </a:ext>
            </a:extLst>
          </p:cNvPr>
          <p:cNvSpPr>
            <a:spLocks noGrp="1"/>
          </p:cNvSpPr>
          <p:nvPr>
            <p:ph type="title"/>
          </p:nvPr>
        </p:nvSpPr>
        <p:spPr/>
        <p:txBody>
          <a:bodyPr/>
          <a:lstStyle/>
          <a:p>
            <a:pPr algn="ctr"/>
            <a:r>
              <a:rPr lang="en-US" dirty="0"/>
              <a:t>Pipeline for RSM</a:t>
            </a:r>
          </a:p>
        </p:txBody>
      </p:sp>
      <p:sp>
        <p:nvSpPr>
          <p:cNvPr id="14" name="Content Placeholder 13">
            <a:extLst>
              <a:ext uri="{FF2B5EF4-FFF2-40B4-BE49-F238E27FC236}">
                <a16:creationId xmlns:a16="http://schemas.microsoft.com/office/drawing/2014/main" id="{FEBA3F20-A77F-235E-A856-E5F20EC9016B}"/>
              </a:ext>
            </a:extLst>
          </p:cNvPr>
          <p:cNvSpPr>
            <a:spLocks noGrp="1"/>
          </p:cNvSpPr>
          <p:nvPr>
            <p:ph idx="1"/>
          </p:nvPr>
        </p:nvSpPr>
        <p:spPr/>
        <p:txBody>
          <a:bodyPr lIns="91440">
            <a:normAutofit fontScale="92500" lnSpcReduction="10000"/>
          </a:bodyPr>
          <a:lstStyle/>
          <a:p>
            <a:pPr marL="0" indent="-609600">
              <a:lnSpc>
                <a:spcPct val="90000"/>
              </a:lnSpc>
              <a:buFontTx/>
              <a:buAutoNum type="arabicPeriod"/>
            </a:pPr>
            <a:r>
              <a:rPr lang="en-US" altLang="en-US" sz="2800" dirty="0"/>
              <a:t>Use a first-order model (factorial experiment) in the neighborhood of the current conditions</a:t>
            </a:r>
          </a:p>
          <a:p>
            <a:pPr marL="0" indent="-609600">
              <a:lnSpc>
                <a:spcPct val="90000"/>
              </a:lnSpc>
              <a:buFontTx/>
              <a:buAutoNum type="arabicPeriod"/>
            </a:pPr>
            <a:r>
              <a:rPr lang="en-US" altLang="en-US" sz="2800" dirty="0"/>
              <a:t>Test for lack of fit</a:t>
            </a:r>
          </a:p>
          <a:p>
            <a:pPr marL="0" indent="-609600">
              <a:buFontTx/>
              <a:buAutoNum type="arabicPeriod"/>
            </a:pPr>
            <a:r>
              <a:rPr lang="en-US" altLang="en-US" sz="2800" dirty="0"/>
              <a:t> If no significant lack of fit, then locate the path of the steepest ascent (Largest slope)</a:t>
            </a:r>
          </a:p>
          <a:p>
            <a:pPr marL="0" indent="-609600">
              <a:lnSpc>
                <a:spcPct val="90000"/>
              </a:lnSpc>
              <a:buFontTx/>
              <a:buAutoNum type="arabicPeriod"/>
            </a:pPr>
            <a:r>
              <a:rPr lang="en-US" altLang="en-US" sz="2800" dirty="0"/>
              <a:t>Run a series of experiments along the path until no additional increase in response is evident </a:t>
            </a:r>
          </a:p>
          <a:p>
            <a:pPr marL="0">
              <a:buFontTx/>
              <a:buNone/>
            </a:pPr>
            <a:r>
              <a:rPr lang="en-US" altLang="en-US" sz="2800" dirty="0"/>
              <a:t>6.    If lack of fit is present, then use response surface design to investigate curvature</a:t>
            </a:r>
          </a:p>
          <a:p>
            <a:pPr marL="0">
              <a:buFontTx/>
              <a:buNone/>
            </a:pPr>
            <a:r>
              <a:rPr lang="en-US" altLang="en-US" sz="2800" dirty="0"/>
              <a:t>7.    If the curvature is present, use RSM to locate the optimum (either graphically or by setting derivatives = 0). Beware of </a:t>
            </a:r>
            <a:r>
              <a:rPr lang="en-US" altLang="en-US" sz="2800" b="1" dirty="0"/>
              <a:t>saddle points</a:t>
            </a:r>
            <a:r>
              <a:rPr lang="en-US" altLang="en-US" sz="2800" dirty="0"/>
              <a:t>!</a:t>
            </a:r>
          </a:p>
        </p:txBody>
      </p:sp>
    </p:spTree>
    <p:extLst>
      <p:ext uri="{BB962C8B-B14F-4D97-AF65-F5344CB8AC3E}">
        <p14:creationId xmlns:p14="http://schemas.microsoft.com/office/powerpoint/2010/main" val="1907251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4CF44-F759-36F6-C972-5BDE0BBD77F1}"/>
              </a:ext>
            </a:extLst>
          </p:cNvPr>
          <p:cNvSpPr>
            <a:spLocks noGrp="1"/>
          </p:cNvSpPr>
          <p:nvPr>
            <p:ph type="title"/>
          </p:nvPr>
        </p:nvSpPr>
        <p:spPr/>
        <p:txBody>
          <a:bodyPr/>
          <a:lstStyle/>
          <a:p>
            <a:r>
              <a:rPr lang="en-US" dirty="0"/>
              <a:t>Other resources</a:t>
            </a:r>
          </a:p>
        </p:txBody>
      </p:sp>
      <p:sp>
        <p:nvSpPr>
          <p:cNvPr id="3" name="Content Placeholder 2">
            <a:extLst>
              <a:ext uri="{FF2B5EF4-FFF2-40B4-BE49-F238E27FC236}">
                <a16:creationId xmlns:a16="http://schemas.microsoft.com/office/drawing/2014/main" id="{82CCF214-4D86-AC5C-D09B-7FF3C417636E}"/>
              </a:ext>
            </a:extLst>
          </p:cNvPr>
          <p:cNvSpPr>
            <a:spLocks noGrp="1"/>
          </p:cNvSpPr>
          <p:nvPr>
            <p:ph idx="1"/>
          </p:nvPr>
        </p:nvSpPr>
        <p:spPr/>
        <p:txBody>
          <a:bodyPr/>
          <a:lstStyle/>
          <a:p>
            <a:r>
              <a:rPr lang="en-US" dirty="0">
                <a:hlinkClick r:id="rId2"/>
              </a:rPr>
              <a:t>https://statdoe.com/rsm/</a:t>
            </a:r>
            <a:endParaRPr lang="en-US" dirty="0"/>
          </a:p>
          <a:p>
            <a:r>
              <a:rPr lang="en-US" dirty="0">
                <a:hlinkClick r:id="rId3"/>
              </a:rPr>
              <a:t>https://www.coursera.org/learn/response-surfaces-mixtures-model-building</a:t>
            </a:r>
            <a:endParaRPr lang="en-US" dirty="0"/>
          </a:p>
        </p:txBody>
      </p:sp>
    </p:spTree>
    <p:extLst>
      <p:ext uri="{BB962C8B-B14F-4D97-AF65-F5344CB8AC3E}">
        <p14:creationId xmlns:p14="http://schemas.microsoft.com/office/powerpoint/2010/main" val="1590767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21091</TotalTime>
  <Words>983</Words>
  <Application>Microsoft Macintosh PowerPoint</Application>
  <PresentationFormat>Widescreen</PresentationFormat>
  <Paragraphs>237</Paragraphs>
  <Slides>21</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0" baseType="lpstr">
      <vt:lpstr>-apple-system</vt:lpstr>
      <vt:lpstr>Arial</vt:lpstr>
      <vt:lpstr>Calibri</vt:lpstr>
      <vt:lpstr>Cambria Math</vt:lpstr>
      <vt:lpstr>Helvetica</vt:lpstr>
      <vt:lpstr>myriad-pro</vt:lpstr>
      <vt:lpstr>Wingdings</vt:lpstr>
      <vt:lpstr>Office Theme</vt:lpstr>
      <vt:lpstr>Document</vt:lpstr>
      <vt:lpstr>AGST  50104  Experimental Design</vt:lpstr>
      <vt:lpstr>Consistency of chocolate chip cookie</vt:lpstr>
      <vt:lpstr>Example: Irrigation (2), cultivar (4), fertilizer, herbicide, …</vt:lpstr>
      <vt:lpstr>Response surface methodology (RSM)</vt:lpstr>
      <vt:lpstr>Approach</vt:lpstr>
      <vt:lpstr>Quadratic (second order) Models:</vt:lpstr>
      <vt:lpstr>RSM designs</vt:lpstr>
      <vt:lpstr>Central Composite Design (CCD)</vt:lpstr>
      <vt:lpstr>Sequentially designed experiment</vt:lpstr>
      <vt:lpstr>Example</vt:lpstr>
      <vt:lpstr>Data set:</vt:lpstr>
      <vt:lpstr>Complete CCD</vt:lpstr>
      <vt:lpstr>Example:  Improving the Yield of a Chemical Process</vt:lpstr>
      <vt:lpstr>Results From First Factorial Design</vt:lpstr>
      <vt:lpstr>Generation of surface designs with the rsm package</vt:lpstr>
      <vt:lpstr>PowerPoint Presentation</vt:lpstr>
      <vt:lpstr>Generation of surface designs with the rsm package</vt:lpstr>
      <vt:lpstr>PowerPoint Presentation</vt:lpstr>
      <vt:lpstr>Magnitudes of the eigenvalues</vt:lpstr>
      <vt:lpstr>Pipeline for RSM</vt:lpstr>
      <vt:lpstr>Other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stats</dc:title>
  <dc:creator>Samuel B Fernandes</dc:creator>
  <cp:lastModifiedBy>Samuel B Fernandes</cp:lastModifiedBy>
  <cp:revision>61</cp:revision>
  <dcterms:created xsi:type="dcterms:W3CDTF">2023-01-21T17:19:51Z</dcterms:created>
  <dcterms:modified xsi:type="dcterms:W3CDTF">2026-04-20T15:21:39Z</dcterms:modified>
</cp:coreProperties>
</file>