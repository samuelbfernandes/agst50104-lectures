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363" r:id="rId3"/>
    <p:sldId id="296" r:id="rId4"/>
    <p:sldId id="264" r:id="rId5"/>
    <p:sldId id="334" r:id="rId6"/>
    <p:sldId id="336" r:id="rId7"/>
    <p:sldId id="346" r:id="rId8"/>
    <p:sldId id="337" r:id="rId9"/>
    <p:sldId id="347" r:id="rId10"/>
    <p:sldId id="338" r:id="rId11"/>
    <p:sldId id="348" r:id="rId12"/>
    <p:sldId id="350" r:id="rId13"/>
    <p:sldId id="339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27"/>
    <p:restoredTop sz="94626"/>
  </p:normalViewPr>
  <p:slideViewPr>
    <p:cSldViewPr snapToGrid="0">
      <p:cViewPr varScale="1">
        <p:scale>
          <a:sx n="121" d="100"/>
          <a:sy n="121" d="100"/>
        </p:scale>
        <p:origin x="1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 Fernandes" userId="6d96ad7d-4ada-4a90-936f-060428e74a02" providerId="ADAL" clId="{EBAE36E1-9894-586F-B819-C899ECA05CC1}"/>
    <pc:docChg chg="delSld">
      <pc:chgData name="Samuel B Fernandes" userId="6d96ad7d-4ada-4a90-936f-060428e74a02" providerId="ADAL" clId="{EBAE36E1-9894-586F-B819-C899ECA05CC1}" dt="2026-01-28T15:06:13.948" v="3" actId="2696"/>
      <pc:docMkLst>
        <pc:docMk/>
      </pc:docMkLst>
      <pc:sldChg chg="del">
        <pc:chgData name="Samuel B Fernandes" userId="6d96ad7d-4ada-4a90-936f-060428e74a02" providerId="ADAL" clId="{EBAE36E1-9894-586F-B819-C899ECA05CC1}" dt="2026-01-28T15:06:13.948" v="3" actId="2696"/>
        <pc:sldMkLst>
          <pc:docMk/>
          <pc:sldMk cId="3903830509" sldId="333"/>
        </pc:sldMkLst>
      </pc:sldChg>
      <pc:sldChg chg="del">
        <pc:chgData name="Samuel B Fernandes" userId="6d96ad7d-4ada-4a90-936f-060428e74a02" providerId="ADAL" clId="{EBAE36E1-9894-586F-B819-C899ECA05CC1}" dt="2026-01-28T15:04:39.891" v="0" actId="2696"/>
        <pc:sldMkLst>
          <pc:docMk/>
          <pc:sldMk cId="1080425090" sldId="335"/>
        </pc:sldMkLst>
      </pc:sldChg>
      <pc:sldChg chg="del">
        <pc:chgData name="Samuel B Fernandes" userId="6d96ad7d-4ada-4a90-936f-060428e74a02" providerId="ADAL" clId="{EBAE36E1-9894-586F-B819-C899ECA05CC1}" dt="2026-01-28T15:05:58.857" v="2" actId="2696"/>
        <pc:sldMkLst>
          <pc:docMk/>
          <pc:sldMk cId="1749158079" sldId="340"/>
        </pc:sldMkLst>
      </pc:sldChg>
      <pc:sldChg chg="del">
        <pc:chgData name="Samuel B Fernandes" userId="6d96ad7d-4ada-4a90-936f-060428e74a02" providerId="ADAL" clId="{EBAE36E1-9894-586F-B819-C899ECA05CC1}" dt="2026-01-28T15:04:55.248" v="1" actId="2696"/>
        <pc:sldMkLst>
          <pc:docMk/>
          <pc:sldMk cId="706609117" sldId="3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6F276-EE6D-DF4F-8392-FA3E83168DD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35B9D-3EDA-0B44-BE90-13B8E384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9F5-46A5-E653-ACEB-98E3E8BCA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A73D-E705-8722-ABD6-4C3DC957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3EEB-BF3C-0C38-567A-EE22C3E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5733-F42D-587B-A3E9-FAADA814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5F9E-66CF-FD89-ADA5-7DFF8F1B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E441-6BD7-0ECB-9CFF-B3E2CDF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5AD-9B07-A82C-4456-4B0978DF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2FD0-AC30-733B-65D7-42BC9B7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FF81-D8DB-8EF2-26B2-DEDF596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F5FB-E667-C6C6-9BAA-2D7779D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77C2-8C0C-CED4-2C3D-DC9A27B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D89E-02F7-2213-D1E7-DA79F625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5A36-7990-B9CD-BFAF-59603572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8799-DFB5-F958-59AC-F4395C8D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546-3C9B-5272-BED6-9863BF3D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4-3EF4-7C0C-C0F0-C89E4705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C622-5669-D61A-4BA7-8C841C05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14FC-7BA8-A86E-E1F6-C9C78AD4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C73C-9134-2336-771D-626E627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6D73-F61F-BBA0-2B42-B394CFA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3EC6-87AA-2BAF-B417-3B7322F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C3B-289F-A2BD-756F-E3DE140E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9B30-5D19-50A3-7E96-9C7F090E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31310-634C-1E53-9F48-FE9AF110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293D-0718-487B-F8BF-3D7C46E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A86BE-3680-095B-ABCC-4C738869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3D9B-9CBF-A94E-6C16-ADB235B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7E7B1-A571-70A9-8D8D-226AFC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F61C-E138-EABD-149F-085314F1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C6D-D7F2-0C84-3F85-39F036A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DE3-67E5-9048-7222-7E2F00AB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5064C-B08A-7C41-D193-B885D3D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875FA-D5F3-4CC0-468D-E437334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8E29-A532-A4CD-6681-1996D63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BECE6-813E-63D5-980D-78EE0965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6F51-1710-F337-9CD2-D879676E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4F62-4911-E925-4BB6-C9EB173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E16F-93E1-CB4C-34F3-37E8A9F4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0CC38-AE8A-6866-52E4-7A672074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3583-CA7E-E3ED-B59E-1C6757C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24C6-E994-45B4-275B-9DC613B1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10EA-A019-90CF-D6D5-56E93C5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496-3C36-F69C-1DAC-A9C0848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3F93A-8BE5-4BF6-786F-F4260C6D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5FF9-DB0F-D67B-33DE-5DC9F2A5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A3AD1-29CD-3EEB-E109-802D193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F187-76B5-C72E-080C-AB66C3B2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9D24-7EA0-8C42-7CA0-ED5C8159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08E-BF84-2AD1-BA10-960B878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C68A-979D-A4FA-948F-CA98958B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600E-B5D6-C0A3-C323-DA78E186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5821-134F-9EDC-BFCC-192D192F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C268-062F-5CAA-9750-AA507AC6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8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2EB96-BEB0-FBB0-B366-CE26CA86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A2736-26C5-9EA6-9864-7D814B99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C0A9-5C86-DBDC-82D3-3F45CFF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CC23-3A20-12BC-3AA3-D4023D46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EF4D-A3D2-63D8-8EC2-6A6D868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1CB6-BF24-BC74-3EEA-5896BC9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9A131-00FF-7B74-AFB9-D3922CB2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C1C6-B3A4-1D64-CE8C-F7D6B749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399A-5209-EB4E-8D86-43B52F9A823B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13B-57FE-44A8-3DBB-60FBC9C2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D596A-5314-C5B6-EE69-4BA3E5A4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muelbf@uark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11" y="3764129"/>
            <a:ext cx="10916365" cy="163730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AGST  50104</a:t>
            </a:r>
            <a:b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</a:b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 Experimental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207E-67F5-6F20-4B70-1C5C3B981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688" y="5401435"/>
            <a:ext cx="9653792" cy="814809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Samuel B. Fernandes, Ph.D.</a:t>
            </a:r>
            <a:br>
              <a:rPr lang="en-US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E-mail: </a:t>
            </a:r>
            <a:r>
              <a:rPr lang="en-US" b="0" i="0" u="none" strike="noStrike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samuelbf@uark.edu</a:t>
            </a:r>
            <a:endParaRPr lang="en-US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pic>
        <p:nvPicPr>
          <p:cNvPr id="7" name="Graphic 6" descr="Test Plan">
            <a:extLst>
              <a:ext uri="{FF2B5EF4-FFF2-40B4-BE49-F238E27FC236}">
                <a16:creationId xmlns:a16="http://schemas.microsoft.com/office/drawing/2014/main" id="{DF8DBBA5-BA5F-3617-3EC1-B8CEE4F6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6412" y="932016"/>
            <a:ext cx="2506511" cy="250651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79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8ED3-17C0-56EE-ECA0-223CC503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hypothesis we test with different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212C6-58DC-DF4C-4D90-A11F1CB28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4" y="1956811"/>
            <a:ext cx="2394278" cy="3744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114A6A-93E3-69E2-0B9F-0BF7DEAC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880" y="1956811"/>
            <a:ext cx="4941382" cy="3744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361511-AFCC-727F-F456-9CD8F974C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451" y="1956813"/>
            <a:ext cx="4279135" cy="374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5DEB-F0DB-6895-1321-BE4D723A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in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39CFA-70E7-DE83-4DC5-D3B565BD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53" y="1795221"/>
            <a:ext cx="9567494" cy="4986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9A32D-9054-A1CC-2F21-DCF47245B83C}"/>
              </a:ext>
            </a:extLst>
          </p:cNvPr>
          <p:cNvSpPr txBox="1"/>
          <p:nvPr/>
        </p:nvSpPr>
        <p:spPr>
          <a:xfrm>
            <a:off x="5306825" y="1383449"/>
            <a:ext cx="1030475" cy="6144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Reality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03E22-BB0C-2CB9-88DD-5E3DBF6329EE}"/>
              </a:ext>
            </a:extLst>
          </p:cNvPr>
          <p:cNvSpPr txBox="1"/>
          <p:nvPr/>
        </p:nvSpPr>
        <p:spPr>
          <a:xfrm rot="16200000">
            <a:off x="384234" y="3981278"/>
            <a:ext cx="1987916" cy="6144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Output from R</a:t>
            </a:r>
          </a:p>
        </p:txBody>
      </p:sp>
    </p:spTree>
    <p:extLst>
      <p:ext uri="{BB962C8B-B14F-4D97-AF65-F5344CB8AC3E}">
        <p14:creationId xmlns:p14="http://schemas.microsoft.com/office/powerpoint/2010/main" val="374844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C14A-5079-80CB-C9B2-BECCCDDB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vs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FDE2-B181-9887-1DD6-2BDFF096E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 regression  - </a:t>
            </a:r>
            <a:r>
              <a:rPr lang="en-US" dirty="0"/>
              <a:t>one </a:t>
            </a:r>
            <a:r>
              <a:rPr lang="en-US" u="sng" dirty="0"/>
              <a:t>dependent (response) </a:t>
            </a:r>
            <a:r>
              <a:rPr lang="en-US" dirty="0"/>
              <a:t>variable and one independent variable and you want to predict the value of the dependent variable based on the independent variable.</a:t>
            </a:r>
          </a:p>
          <a:p>
            <a:r>
              <a:rPr lang="en-US" b="1" dirty="0"/>
              <a:t>multiple linear regression </a:t>
            </a:r>
            <a:r>
              <a:rPr lang="en-US" dirty="0"/>
              <a:t>- one dependent variable and multiple independent variables and you want to predict the value of the dependent variable based on the independent variables.</a:t>
            </a:r>
          </a:p>
          <a:p>
            <a:r>
              <a:rPr lang="en-US" dirty="0"/>
              <a:t> </a:t>
            </a:r>
            <a:r>
              <a:rPr lang="en-US" b="1" dirty="0"/>
              <a:t>ANOVA</a:t>
            </a:r>
            <a:r>
              <a:rPr lang="en-US" dirty="0"/>
              <a:t> - one dependent variable and you want to </a:t>
            </a:r>
            <a:r>
              <a:rPr lang="en-US" u="sng" dirty="0"/>
              <a:t>compare the means of multiple groups </a:t>
            </a:r>
            <a:r>
              <a:rPr lang="en-US" dirty="0"/>
              <a:t>(any number of dependent variables).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AE6A1-44B7-E7A6-B93D-FF38F99765A8}"/>
              </a:ext>
            </a:extLst>
          </p:cNvPr>
          <p:cNvSpPr txBox="1"/>
          <p:nvPr/>
        </p:nvSpPr>
        <p:spPr>
          <a:xfrm>
            <a:off x="2102954" y="2816952"/>
            <a:ext cx="7498245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dirty="0"/>
              <a:t>Numeric independent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F075D-9513-44CE-6B12-1AFDA9FA4846}"/>
              </a:ext>
            </a:extLst>
          </p:cNvPr>
          <p:cNvSpPr txBox="1"/>
          <p:nvPr/>
        </p:nvSpPr>
        <p:spPr>
          <a:xfrm>
            <a:off x="1431235" y="4847848"/>
            <a:ext cx="9183756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dirty="0"/>
              <a:t>Categorical (Factors) independent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254119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B3607CA-0999-A0C9-E858-182ACE225CBA}"/>
              </a:ext>
            </a:extLst>
          </p:cNvPr>
          <p:cNvGrpSpPr/>
          <p:nvPr/>
        </p:nvGrpSpPr>
        <p:grpSpPr>
          <a:xfrm>
            <a:off x="7026491" y="1825625"/>
            <a:ext cx="3568390" cy="2681869"/>
            <a:chOff x="5289421" y="1789190"/>
            <a:chExt cx="3568390" cy="2681869"/>
          </a:xfrm>
        </p:grpSpPr>
        <p:pic>
          <p:nvPicPr>
            <p:cNvPr id="6" name="Picture 5" descr="Estiagem causa perdas de 30% em lavouras de soja do Rio Grande do Sul">
              <a:extLst>
                <a:ext uri="{FF2B5EF4-FFF2-40B4-BE49-F238E27FC236}">
                  <a16:creationId xmlns:a16="http://schemas.microsoft.com/office/drawing/2014/main" id="{03CD6DCF-6DAA-1C69-574D-50DF6E9BBA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952" b="28043"/>
            <a:stretch/>
          </p:blipFill>
          <p:spPr bwMode="auto">
            <a:xfrm>
              <a:off x="5289421" y="1789190"/>
              <a:ext cx="3568390" cy="2681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8F6ADF4E-C36E-F3B7-8675-EF7963621ECB}"/>
                </a:ext>
              </a:extLst>
            </p:cNvPr>
            <p:cNvSpPr/>
            <p:nvPr/>
          </p:nvSpPr>
          <p:spPr>
            <a:xfrm>
              <a:off x="5574029" y="2072833"/>
              <a:ext cx="1183254" cy="605593"/>
            </a:xfrm>
            <a:prstGeom prst="frame">
              <a:avLst>
                <a:gd name="adj1" fmla="val 576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A224BFB7-0A1E-E314-25A8-FFFC0A47340D}"/>
                </a:ext>
              </a:extLst>
            </p:cNvPr>
            <p:cNvSpPr/>
            <p:nvPr/>
          </p:nvSpPr>
          <p:spPr>
            <a:xfrm>
              <a:off x="7342840" y="3718198"/>
              <a:ext cx="1183254" cy="605593"/>
            </a:xfrm>
            <a:prstGeom prst="frame">
              <a:avLst>
                <a:gd name="adj1" fmla="val 576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8D6A9CAE-32A2-7AE5-BAA0-D1F72288DCCC}"/>
                </a:ext>
              </a:extLst>
            </p:cNvPr>
            <p:cNvSpPr/>
            <p:nvPr/>
          </p:nvSpPr>
          <p:spPr>
            <a:xfrm>
              <a:off x="7337115" y="2072832"/>
              <a:ext cx="1183254" cy="605593"/>
            </a:xfrm>
            <a:prstGeom prst="frame">
              <a:avLst>
                <a:gd name="adj1" fmla="val 5769"/>
              </a:avLst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1784B3-E56E-5C97-3FD1-A91CB7E2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use a CRD?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AE68-6012-7698-DFC8-8D3364CC7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4257" cy="4351338"/>
          </a:xfrm>
        </p:spPr>
        <p:txBody>
          <a:bodyPr/>
          <a:lstStyle/>
          <a:p>
            <a:r>
              <a:rPr lang="en-US" dirty="0"/>
              <a:t>n = Experimental units (EU)</a:t>
            </a:r>
          </a:p>
          <a:p>
            <a:r>
              <a:rPr lang="en-US" dirty="0"/>
              <a:t>t = Treatments </a:t>
            </a:r>
          </a:p>
          <a:p>
            <a:r>
              <a:rPr lang="en-US" dirty="0"/>
              <a:t>r = reps</a:t>
            </a:r>
          </a:p>
          <a:p>
            <a:pPr marL="0" indent="0">
              <a:buNone/>
            </a:pPr>
            <a:r>
              <a:rPr lang="en-US" b="1" dirty="0"/>
              <a:t>n = tr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C3C891F2-E30C-013A-8FED-2BB59694F206}"/>
              </a:ext>
            </a:extLst>
          </p:cNvPr>
          <p:cNvSpPr/>
          <p:nvPr/>
        </p:nvSpPr>
        <p:spPr>
          <a:xfrm>
            <a:off x="7327780" y="3754638"/>
            <a:ext cx="1183254" cy="605593"/>
          </a:xfrm>
          <a:prstGeom prst="frame">
            <a:avLst>
              <a:gd name="adj1" fmla="val 5769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5D6BF2F3-A0F8-EE62-A842-3167D8F556E3}"/>
              </a:ext>
            </a:extLst>
          </p:cNvPr>
          <p:cNvSpPr/>
          <p:nvPr/>
        </p:nvSpPr>
        <p:spPr>
          <a:xfrm>
            <a:off x="9476016" y="2109267"/>
            <a:ext cx="394526" cy="597898"/>
          </a:xfrm>
          <a:prstGeom prst="frame">
            <a:avLst>
              <a:gd name="adj1" fmla="val 5769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91077-7BBA-48E1-4D77-8CD0058513F5}"/>
              </a:ext>
            </a:extLst>
          </p:cNvPr>
          <p:cNvSpPr txBox="1"/>
          <p:nvPr/>
        </p:nvSpPr>
        <p:spPr>
          <a:xfrm>
            <a:off x="1544822" y="2717104"/>
            <a:ext cx="9322843" cy="120032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Pseudo-rep! It is in the same experimental unit.</a:t>
            </a:r>
          </a:p>
          <a:p>
            <a:pPr algn="ctr"/>
            <a:r>
              <a:rPr lang="en-US" sz="3600" dirty="0"/>
              <a:t>It doesn’t fix the lack of replication.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9737D4-3823-178F-55C4-2CB6EEFD51BD}"/>
              </a:ext>
            </a:extLst>
          </p:cNvPr>
          <p:cNvGrpSpPr/>
          <p:nvPr/>
        </p:nvGrpSpPr>
        <p:grpSpPr>
          <a:xfrm>
            <a:off x="5863715" y="5033347"/>
            <a:ext cx="5893942" cy="1325564"/>
            <a:chOff x="3499648" y="2790220"/>
            <a:chExt cx="3844913" cy="1271635"/>
          </a:xfrm>
        </p:grpSpPr>
        <p:pic>
          <p:nvPicPr>
            <p:cNvPr id="16" name="Picture 15" descr="Estiagem causa perdas de 30% em lavouras de soja do Rio Grande do Sul">
              <a:extLst>
                <a:ext uri="{FF2B5EF4-FFF2-40B4-BE49-F238E27FC236}">
                  <a16:creationId xmlns:a16="http://schemas.microsoft.com/office/drawing/2014/main" id="{FD8E1F0E-49B6-AD93-5EC7-E21B35FADF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2485" b="64434"/>
            <a:stretch/>
          </p:blipFill>
          <p:spPr bwMode="auto">
            <a:xfrm>
              <a:off x="3499648" y="2790220"/>
              <a:ext cx="3844913" cy="1271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5C3693C-CEEB-3DC2-8FCE-CD971D3E66ED}"/>
                </a:ext>
              </a:extLst>
            </p:cNvPr>
            <p:cNvSpPr/>
            <p:nvPr/>
          </p:nvSpPr>
          <p:spPr>
            <a:xfrm>
              <a:off x="3723097" y="3062322"/>
              <a:ext cx="579936" cy="580955"/>
            </a:xfrm>
            <a:prstGeom prst="frame">
              <a:avLst>
                <a:gd name="adj1" fmla="val 576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4C9FE2BD-F682-A97A-EC7F-6FE0E2B08042}"/>
                </a:ext>
              </a:extLst>
            </p:cNvPr>
            <p:cNvSpPr/>
            <p:nvPr/>
          </p:nvSpPr>
          <p:spPr>
            <a:xfrm>
              <a:off x="5378924" y="3062321"/>
              <a:ext cx="579936" cy="580955"/>
            </a:xfrm>
            <a:prstGeom prst="frame">
              <a:avLst>
                <a:gd name="adj1" fmla="val 5769"/>
              </a:avLst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22C8A846-8232-625E-BA01-5648B161A11A}"/>
                </a:ext>
              </a:extLst>
            </p:cNvPr>
            <p:cNvSpPr/>
            <p:nvPr/>
          </p:nvSpPr>
          <p:spPr>
            <a:xfrm>
              <a:off x="6230298" y="3062321"/>
              <a:ext cx="579936" cy="580955"/>
            </a:xfrm>
            <a:prstGeom prst="frame">
              <a:avLst>
                <a:gd name="adj1" fmla="val 576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C5AABBE0-4F9F-055E-9B37-72E0ECEE9BB9}"/>
                </a:ext>
              </a:extLst>
            </p:cNvPr>
            <p:cNvSpPr/>
            <p:nvPr/>
          </p:nvSpPr>
          <p:spPr>
            <a:xfrm>
              <a:off x="4539917" y="3062321"/>
              <a:ext cx="579936" cy="580955"/>
            </a:xfrm>
            <a:prstGeom prst="frame">
              <a:avLst>
                <a:gd name="adj1" fmla="val 5769"/>
              </a:avLst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74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2" grpId="0" animBg="1"/>
      <p:bldP spid="12" grpId="0" animBg="1"/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FF73-A560-BC11-9BCA-DBD1241C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77604-E678-E810-E7B4-0E61A567D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024" y="1609080"/>
            <a:ext cx="1841500" cy="48133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922294-4026-6018-A891-47BD1BDB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98" y="1609080"/>
            <a:ext cx="9274987" cy="4883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effectLst/>
                <a:latin typeface="CMR10"/>
              </a:rPr>
              <a:t>Rise times in bread:</a:t>
            </a:r>
          </a:p>
          <a:p>
            <a:r>
              <a:rPr lang="en-US" sz="2600" dirty="0">
                <a:effectLst/>
                <a:latin typeface="CMR10"/>
              </a:rPr>
              <a:t>35 minutes, 40 minutes, and 45 minutes </a:t>
            </a:r>
            <a:endParaRPr lang="en-US" sz="2600" dirty="0"/>
          </a:p>
          <a:p>
            <a:r>
              <a:rPr lang="en-US" sz="2600" dirty="0">
                <a:latin typeface="CMR10"/>
              </a:rPr>
              <a:t>4 reps</a:t>
            </a:r>
            <a:endParaRPr lang="en-US" sz="2600" dirty="0"/>
          </a:p>
          <a:p>
            <a:pPr marL="0" indent="0">
              <a:buNone/>
            </a:pPr>
            <a:endParaRPr lang="en-US" sz="2600" b="1" dirty="0">
              <a:latin typeface="CMR10"/>
            </a:endParaRPr>
          </a:p>
          <a:p>
            <a:pPr marL="0" indent="0">
              <a:buNone/>
            </a:pPr>
            <a:r>
              <a:rPr lang="en-US" sz="2600" b="1" dirty="0">
                <a:latin typeface="CMR10"/>
              </a:rPr>
              <a:t>T</a:t>
            </a:r>
            <a:r>
              <a:rPr lang="en-US" sz="2600" b="1" dirty="0">
                <a:effectLst/>
                <a:latin typeface="CMR10"/>
              </a:rPr>
              <a:t>imes of planting</a:t>
            </a:r>
            <a:endParaRPr lang="en-US" sz="2600" b="1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no NPK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NPK applied in January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NPK applied in April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82086-2D4F-F766-1DF8-A45C43321009}"/>
              </a:ext>
            </a:extLst>
          </p:cNvPr>
          <p:cNvSpPr txBox="1"/>
          <p:nvPr/>
        </p:nvSpPr>
        <p:spPr>
          <a:xfrm>
            <a:off x="1619580" y="2836830"/>
            <a:ext cx="4764794" cy="70788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dirty="0"/>
              <a:t>Regression vs ANOVA</a:t>
            </a:r>
          </a:p>
        </p:txBody>
      </p:sp>
    </p:spTree>
    <p:extLst>
      <p:ext uri="{BB962C8B-B14F-4D97-AF65-F5344CB8AC3E}">
        <p14:creationId xmlns:p14="http://schemas.microsoft.com/office/powerpoint/2010/main" val="369829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FF73-A560-BC11-9BCA-DBD1241C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 for CRD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0F59D-30FA-E120-1388-C783FA4D8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159" y="1987883"/>
                <a:ext cx="8164033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dirty="0" smtClean="0"/>
                      <m:t> 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dirty="0" smtClean="0"/>
                      <m:t>Y</m:t>
                    </m:r>
                    <m:r>
                      <m:rPr>
                        <m:nor/>
                      </m:rPr>
                      <a:rPr lang="en-US" sz="3200" baseline="-25000" dirty="0" smtClean="0"/>
                      <m:t>ij</m:t>
                    </m:r>
                    <m:r>
                      <m:rPr>
                        <m:nor/>
                      </m:rPr>
                      <a:rPr lang="en-US" sz="3200" dirty="0" smtClean="0"/>
                      <m:t> =</m:t>
                    </m:r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𝑖𝑗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0F59D-30FA-E120-1388-C783FA4D8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159" y="1987883"/>
                <a:ext cx="8164033" cy="4351338"/>
              </a:xfrm>
              <a:blipFill>
                <a:blip r:embed="rId2"/>
                <a:stretch>
                  <a:fillRect l="-1711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E616D8-EF27-47A8-8245-526D03EA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75"/>
          <a:stretch/>
        </p:blipFill>
        <p:spPr>
          <a:xfrm>
            <a:off x="6182315" y="1530626"/>
            <a:ext cx="5511800" cy="153457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3F484A2-921E-AEBB-6271-F123EC4CE4BF}"/>
              </a:ext>
            </a:extLst>
          </p:cNvPr>
          <p:cNvGrpSpPr/>
          <p:nvPr/>
        </p:nvGrpSpPr>
        <p:grpSpPr>
          <a:xfrm>
            <a:off x="1045563" y="4156224"/>
            <a:ext cx="5136752" cy="1588093"/>
            <a:chOff x="1045563" y="4156224"/>
            <a:chExt cx="5136752" cy="15880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A661EF-A402-4502-9EA5-316608FC7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159" y="5016725"/>
              <a:ext cx="3456062" cy="72759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83FC350-830C-19C5-49AF-0DFFEC16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563" y="4156224"/>
              <a:ext cx="5136752" cy="829783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1F3EE-DA5A-1C14-349A-6EDF42D80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184" y="3140538"/>
            <a:ext cx="3456061" cy="1845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02C2EA-7416-FF45-D8B7-B1F6E00A953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975" b="2252"/>
          <a:stretch/>
        </p:blipFill>
        <p:spPr>
          <a:xfrm>
            <a:off x="6844576" y="5087996"/>
            <a:ext cx="4756423" cy="125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4658-861B-8CE8-0255-B2D7D6F7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 in Matrix form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4AD80A-6442-4CCF-B45C-1E3523F7A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216" y="2502694"/>
            <a:ext cx="7816812" cy="4108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62F1CB-F192-D18C-B7C2-0B9B82961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29" y="1541463"/>
            <a:ext cx="3022600" cy="596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DA18DCBC-D68B-13AB-4E47-32ED25E971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99852" y="1177132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/>
                      <m:t>y</m:t>
                    </m:r>
                    <m:r>
                      <m:rPr>
                        <m:nor/>
                      </m:rPr>
                      <a:rPr lang="en-US" dirty="0" smtClean="0"/>
                      <m:t> 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DA18DCBC-D68B-13AB-4E47-32ED25E97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99852" y="1177132"/>
                <a:ext cx="10515600" cy="1325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89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F7A7-C709-A4B1-040E-70CA5846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equations and constraints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62646D-A17D-5A24-80B1-4EE117D4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286000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D03FF-449A-29AD-8BDD-D608D50BA565}"/>
              </a:ext>
            </a:extLst>
          </p:cNvPr>
          <p:cNvSpPr txBox="1"/>
          <p:nvPr/>
        </p:nvSpPr>
        <p:spPr>
          <a:xfrm>
            <a:off x="3473942" y="1923556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88457-6E88-A65D-1E68-6D53A8990B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143" r="42069" b="28569"/>
          <a:stretch/>
        </p:blipFill>
        <p:spPr>
          <a:xfrm>
            <a:off x="4023562" y="1825625"/>
            <a:ext cx="3075328" cy="609639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C78D7267-3008-FFD5-7EEA-7C6190A6E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23528" r="43265"/>
          <a:stretch/>
        </p:blipFill>
        <p:spPr>
          <a:xfrm>
            <a:off x="181896" y="2484245"/>
            <a:ext cx="2595717" cy="410837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89F6D52-21F1-A982-FBC8-489D6FC09A39}"/>
              </a:ext>
            </a:extLst>
          </p:cNvPr>
          <p:cNvGrpSpPr/>
          <p:nvPr/>
        </p:nvGrpSpPr>
        <p:grpSpPr>
          <a:xfrm>
            <a:off x="2806296" y="2484245"/>
            <a:ext cx="2853837" cy="4108232"/>
            <a:chOff x="2806296" y="2484245"/>
            <a:chExt cx="2853837" cy="4108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6432F5-C944-11D8-CF39-F7BF0FD3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4634" y="2484245"/>
              <a:ext cx="2285499" cy="41082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F5231C-2129-A980-150E-71F8863F7068}"/>
                </a:ext>
              </a:extLst>
            </p:cNvPr>
            <p:cNvSpPr txBox="1"/>
            <p:nvPr/>
          </p:nvSpPr>
          <p:spPr>
            <a:xfrm>
              <a:off x="2806296" y="4353625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itchFamily="2" charset="2"/>
                </a:rPr>
                <a:t> 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E8FEC9-3894-A7A2-CC43-C40F2C2F0E91}"/>
              </a:ext>
            </a:extLst>
          </p:cNvPr>
          <p:cNvGrpSpPr/>
          <p:nvPr/>
        </p:nvGrpSpPr>
        <p:grpSpPr>
          <a:xfrm>
            <a:off x="6020519" y="2588129"/>
            <a:ext cx="5308600" cy="3849226"/>
            <a:chOff x="6020519" y="2588129"/>
            <a:chExt cx="5308600" cy="38492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E0AD09-650E-52C3-2797-1E25386E9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20519" y="4659355"/>
              <a:ext cx="5308600" cy="1778000"/>
            </a:xfrm>
            <a:prstGeom prst="rect">
              <a:avLst/>
            </a:prstGeom>
          </p:spPr>
        </p:pic>
        <p:pic>
          <p:nvPicPr>
            <p:cNvPr id="12" name="Content Placeholder 3">
              <a:extLst>
                <a:ext uri="{FF2B5EF4-FFF2-40B4-BE49-F238E27FC236}">
                  <a16:creationId xmlns:a16="http://schemas.microsoft.com/office/drawing/2014/main" id="{1516575E-B699-875F-09D1-35765D894C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9125" t="32419" r="23030" b="32880"/>
            <a:stretch/>
          </p:blipFill>
          <p:spPr>
            <a:xfrm>
              <a:off x="7414424" y="2588129"/>
              <a:ext cx="1877060" cy="1918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215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3C97-1AE3-1932-60CC-07AC8DD2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bread rise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A39E-6B1F-7343-7C16-EE0EE430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614" y="2093778"/>
            <a:ext cx="7422931" cy="1005874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MTT10"/>
              </a:rPr>
              <a:t>mod0 &lt;- </a:t>
            </a:r>
            <a:r>
              <a:rPr lang="en-US" dirty="0" err="1">
                <a:effectLst/>
                <a:latin typeface="CMTT10"/>
              </a:rPr>
              <a:t>lm</a:t>
            </a:r>
            <a:r>
              <a:rPr lang="en-US" dirty="0">
                <a:effectLst/>
                <a:latin typeface="CMTT10"/>
              </a:rPr>
              <a:t>( height ~ time, data = bread )</a:t>
            </a:r>
          </a:p>
          <a:p>
            <a:r>
              <a:rPr lang="en-US" dirty="0">
                <a:effectLst/>
                <a:latin typeface="CMTT10"/>
              </a:rPr>
              <a:t>summary( mod0 ) </a:t>
            </a:r>
            <a:endParaRPr lang="en-US" sz="4000" dirty="0"/>
          </a:p>
          <a:p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98B86-74B0-9FA1-88CE-D8C50A06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004" y="3429000"/>
            <a:ext cx="69850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B2C07C-352E-6F49-E0BE-84AADE415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996" y="1914833"/>
            <a:ext cx="18415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3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EF5BA6-533C-0A39-C2A5-A5BFB13F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59" y="4191981"/>
            <a:ext cx="8221116" cy="1874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05FC0-DAD5-364C-013D-CFA6CEDA89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726"/>
          <a:stretch/>
        </p:blipFill>
        <p:spPr>
          <a:xfrm>
            <a:off x="1086661" y="1771526"/>
            <a:ext cx="7772399" cy="217991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40A9E9-C1AE-166A-58FC-60AD0D4C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bread rise example</a:t>
            </a:r>
          </a:p>
        </p:txBody>
      </p:sp>
    </p:spTree>
    <p:extLst>
      <p:ext uri="{BB962C8B-B14F-4D97-AF65-F5344CB8AC3E}">
        <p14:creationId xmlns:p14="http://schemas.microsoft.com/office/powerpoint/2010/main" val="338624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8BB219-3ABB-5B08-0317-E1A65A5F6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4A937-F14E-19DF-DD8A-76123B16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MMI10"/>
              </a:rPr>
              <a:t>H</a:t>
            </a:r>
            <a:r>
              <a:rPr lang="en-US" sz="2800" dirty="0">
                <a:effectLst/>
                <a:latin typeface="CMR7"/>
              </a:rPr>
              <a:t>0 </a:t>
            </a:r>
            <a:r>
              <a:rPr lang="en-US" sz="2800" dirty="0">
                <a:effectLst/>
                <a:latin typeface="MnSymbol10"/>
              </a:rPr>
              <a:t>∶ </a:t>
            </a:r>
            <a:r>
              <a:rPr lang="el-GR" sz="2800" dirty="0">
                <a:effectLst/>
                <a:latin typeface="CMMI10"/>
              </a:rPr>
              <a:t>μ</a:t>
            </a:r>
            <a:r>
              <a:rPr lang="el-GR" sz="2800" baseline="-25000" dirty="0">
                <a:effectLst/>
                <a:latin typeface="CMR7"/>
              </a:rPr>
              <a:t>1</a:t>
            </a:r>
            <a:r>
              <a:rPr lang="el-GR" sz="2800" dirty="0">
                <a:effectLst/>
                <a:latin typeface="CMR7"/>
              </a:rPr>
              <a:t> </a:t>
            </a:r>
            <a:r>
              <a:rPr lang="el-GR" sz="2800" dirty="0">
                <a:effectLst/>
                <a:latin typeface="MnSymbol10"/>
              </a:rPr>
              <a:t>= </a:t>
            </a:r>
            <a:r>
              <a:rPr lang="el-GR" sz="2800" dirty="0">
                <a:effectLst/>
                <a:latin typeface="CMMI10"/>
              </a:rPr>
              <a:t>μ</a:t>
            </a:r>
            <a:r>
              <a:rPr lang="el-GR" sz="2800" baseline="-25000" dirty="0">
                <a:effectLst/>
                <a:latin typeface="CMR7"/>
              </a:rPr>
              <a:t>2</a:t>
            </a:r>
            <a:r>
              <a:rPr lang="el-GR" sz="2800" dirty="0">
                <a:effectLst/>
                <a:latin typeface="CMR7"/>
              </a:rPr>
              <a:t> </a:t>
            </a:r>
            <a:r>
              <a:rPr lang="el-GR" sz="2800" dirty="0">
                <a:effectLst/>
                <a:latin typeface="MnSymbol10"/>
              </a:rPr>
              <a:t>=</a:t>
            </a:r>
            <a:r>
              <a:rPr lang="el-GR" sz="2800" dirty="0">
                <a:effectLst/>
                <a:latin typeface="CMMI10"/>
              </a:rPr>
              <a:t>...</a:t>
            </a:r>
            <a:r>
              <a:rPr lang="en-US" sz="2800" dirty="0">
                <a:effectLst/>
                <a:latin typeface="CMMI10"/>
              </a:rPr>
              <a:t>=</a:t>
            </a:r>
            <a:r>
              <a:rPr lang="el-GR" sz="2800" dirty="0">
                <a:effectLst/>
                <a:latin typeface="CMMI10"/>
              </a:rPr>
              <a:t>μ</a:t>
            </a:r>
            <a:r>
              <a:rPr lang="en-US" sz="2800" baseline="-25000" dirty="0">
                <a:effectLst/>
                <a:latin typeface="CMMI7"/>
              </a:rPr>
              <a:t>t</a:t>
            </a:r>
            <a:r>
              <a:rPr lang="en-US" sz="2800" dirty="0">
                <a:effectLst/>
                <a:latin typeface="CMMI7"/>
              </a:rPr>
              <a:t> </a:t>
            </a:r>
            <a:r>
              <a:rPr lang="en-US" sz="2800" dirty="0"/>
              <a:t> or </a:t>
            </a:r>
            <a:r>
              <a:rPr lang="el-GR" sz="2800" dirty="0">
                <a:effectLst/>
                <a:latin typeface="CMMI10"/>
              </a:rPr>
              <a:t>τ</a:t>
            </a:r>
            <a:r>
              <a:rPr lang="el-GR" sz="2800" baseline="-25000" dirty="0">
                <a:effectLst/>
                <a:latin typeface="CMR7"/>
              </a:rPr>
              <a:t>1</a:t>
            </a:r>
            <a:r>
              <a:rPr lang="el-GR" sz="2800" dirty="0">
                <a:effectLst/>
                <a:latin typeface="CMR7"/>
              </a:rPr>
              <a:t> </a:t>
            </a:r>
            <a:r>
              <a:rPr lang="el-GR" sz="2800" dirty="0">
                <a:effectLst/>
                <a:latin typeface="MnSymbol10"/>
              </a:rPr>
              <a:t>=</a:t>
            </a:r>
            <a:r>
              <a:rPr lang="el-GR" sz="2800" dirty="0">
                <a:effectLst/>
                <a:latin typeface="CMMI10"/>
              </a:rPr>
              <a:t>τ</a:t>
            </a:r>
            <a:r>
              <a:rPr lang="el-GR" sz="2800" baseline="-25000" dirty="0">
                <a:effectLst/>
                <a:latin typeface="CMR7"/>
              </a:rPr>
              <a:t>2</a:t>
            </a:r>
            <a:r>
              <a:rPr lang="el-GR" sz="2800" dirty="0">
                <a:effectLst/>
                <a:latin typeface="CMR7"/>
              </a:rPr>
              <a:t> </a:t>
            </a:r>
            <a:r>
              <a:rPr lang="el-GR" sz="2800" dirty="0">
                <a:effectLst/>
                <a:latin typeface="MnSymbol10"/>
              </a:rPr>
              <a:t>=</a:t>
            </a:r>
            <a:r>
              <a:rPr lang="el-GR" sz="2800" dirty="0">
                <a:effectLst/>
                <a:latin typeface="CMMI10"/>
              </a:rPr>
              <a:t>...</a:t>
            </a:r>
            <a:r>
              <a:rPr lang="el-GR" sz="2800" dirty="0">
                <a:effectLst/>
                <a:latin typeface="MnSymbol10"/>
              </a:rPr>
              <a:t>=</a:t>
            </a:r>
            <a:r>
              <a:rPr lang="el-GR" sz="2800" dirty="0">
                <a:effectLst/>
                <a:latin typeface="CMMI10"/>
              </a:rPr>
              <a:t>τ</a:t>
            </a:r>
            <a:r>
              <a:rPr lang="en-US" sz="2800" baseline="-25000" dirty="0">
                <a:effectLst/>
                <a:latin typeface="CMMI7"/>
              </a:rPr>
              <a:t>t</a:t>
            </a:r>
            <a:r>
              <a:rPr lang="en-US" sz="2800" dirty="0">
                <a:effectLst/>
                <a:latin typeface="CMMI7"/>
              </a:rPr>
              <a:t> </a:t>
            </a:r>
            <a:endParaRPr lang="en-US" dirty="0"/>
          </a:p>
          <a:p>
            <a:r>
              <a:rPr lang="en-US" dirty="0"/>
              <a:t>If H0 is true: </a:t>
            </a: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el-GR" dirty="0"/>
              <a:t>μ</a:t>
            </a:r>
            <a:r>
              <a:rPr lang="en-US" baseline="-25000" dirty="0" err="1"/>
              <a:t>i</a:t>
            </a:r>
            <a:r>
              <a:rPr lang="en-US" dirty="0"/>
              <a:t>+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el-GR" dirty="0" err="1"/>
              <a:t>μ+τ</a:t>
            </a:r>
            <a:r>
              <a:rPr lang="en-US" baseline="-25000" dirty="0" err="1"/>
              <a:t>i</a:t>
            </a:r>
            <a:r>
              <a:rPr lang="en-US" dirty="0"/>
              <a:t>+</a:t>
            </a:r>
            <a:r>
              <a:rPr lang="el-GR" dirty="0"/>
              <a:t>ε</a:t>
            </a:r>
            <a:r>
              <a:rPr lang="en-US" baseline="-25000" dirty="0" err="1"/>
              <a:t>ij</a:t>
            </a:r>
            <a:r>
              <a:rPr lang="en-US" baseline="-25000" dirty="0"/>
              <a:t>     </a:t>
            </a:r>
            <a:r>
              <a:rPr lang="en-US" dirty="0">
                <a:sym typeface="Wingdings" pitchFamily="2" charset="2"/>
              </a:rPr>
              <a:t>   </a:t>
            </a:r>
            <a:r>
              <a:rPr lang="en-US" dirty="0" err="1">
                <a:sym typeface="Wingdings" pitchFamily="2" charset="2"/>
              </a:rPr>
              <a:t>y</a:t>
            </a:r>
            <a:r>
              <a:rPr lang="en-US" baseline="-25000" dirty="0" err="1">
                <a:sym typeface="Wingdings" pitchFamily="2" charset="2"/>
              </a:rPr>
              <a:t>ij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l-GR" dirty="0">
                <a:sym typeface="Wingdings" pitchFamily="2" charset="2"/>
              </a:rPr>
              <a:t>μ + ε</a:t>
            </a:r>
            <a:r>
              <a:rPr lang="en-US" baseline="-25000" dirty="0" err="1">
                <a:sym typeface="Wingdings" pitchFamily="2" charset="2"/>
              </a:rPr>
              <a:t>ij</a:t>
            </a:r>
            <a:endParaRPr lang="en-US" baseline="-25000" dirty="0">
              <a:sym typeface="Wingdings" pitchFamily="2" charset="2"/>
            </a:endParaRPr>
          </a:p>
          <a:p>
            <a:endParaRPr lang="en-US" baseline="-25000" dirty="0">
              <a:sym typeface="Wingdings" pitchFamily="2" charset="2"/>
            </a:endParaRPr>
          </a:p>
          <a:p>
            <a:r>
              <a:rPr lang="en-US" dirty="0"/>
              <a:t>Under the null hypothesis, the F-ratio </a:t>
            </a:r>
            <a:r>
              <a:rPr lang="en-US" dirty="0" err="1"/>
              <a:t>msT</a:t>
            </a:r>
            <a:r>
              <a:rPr lang="en-US" dirty="0"/>
              <a:t> /</a:t>
            </a:r>
            <a:r>
              <a:rPr lang="en-US" dirty="0" err="1"/>
              <a:t>msE</a:t>
            </a:r>
            <a:r>
              <a:rPr lang="en-US" dirty="0"/>
              <a:t> follows the F-distribution with t − 1 and n − t degrees of freedom </a:t>
            </a:r>
          </a:p>
          <a:p>
            <a:endParaRPr lang="en-US" baseline="-25000" dirty="0">
              <a:sym typeface="Wingdings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AB1DE-B166-0AC5-AD59-E6288B72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98374"/>
            <a:ext cx="8241748" cy="197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6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9E2B-AB83-0655-2215-32C4201D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latin typeface="CMTT10"/>
              </a:rPr>
              <a:t>Analysis of Variance (ANOVA)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7BA2D4-99E2-B0D8-E454-0614EF09A88D}"/>
              </a:ext>
            </a:extLst>
          </p:cNvPr>
          <p:cNvGrpSpPr/>
          <p:nvPr/>
        </p:nvGrpSpPr>
        <p:grpSpPr>
          <a:xfrm>
            <a:off x="1116895" y="5412895"/>
            <a:ext cx="4800600" cy="1140479"/>
            <a:chOff x="939914" y="2650308"/>
            <a:chExt cx="4800600" cy="114047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4F0C32-1966-E6FD-B0B7-49A8A840F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9914" y="3257387"/>
              <a:ext cx="3149600" cy="533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C23C24-729D-8169-1DF1-FA6DC4838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9914" y="2650308"/>
              <a:ext cx="4800600" cy="4572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61B51B7-DBAA-C4D8-FED5-7C82E5B28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09448"/>
            <a:ext cx="8607790" cy="20478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D258459-5EEA-E764-2E07-EC0F721A21C0}"/>
              </a:ext>
            </a:extLst>
          </p:cNvPr>
          <p:cNvSpPr txBox="1">
            <a:spLocks/>
          </p:cNvSpPr>
          <p:nvPr/>
        </p:nvSpPr>
        <p:spPr>
          <a:xfrm>
            <a:off x="838200" y="174466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CMTT10"/>
              </a:rPr>
              <a:t>mod1 &lt;- </a:t>
            </a:r>
            <a:r>
              <a:rPr lang="en-US" sz="3200" dirty="0" err="1">
                <a:latin typeface="CMTT10"/>
              </a:rPr>
              <a:t>aov</a:t>
            </a:r>
            <a:r>
              <a:rPr lang="en-US" sz="3200" dirty="0">
                <a:latin typeface="CMTT10"/>
              </a:rPr>
              <a:t>( height ~ time, data = bread )</a:t>
            </a:r>
            <a:br>
              <a:rPr lang="en-US" sz="3200" dirty="0">
                <a:latin typeface="CMTT10"/>
              </a:rPr>
            </a:br>
            <a:r>
              <a:rPr lang="en-US" sz="3200" dirty="0">
                <a:latin typeface="CMTT10"/>
              </a:rPr>
              <a:t>summary(mod1) 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6097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9E2B-AB83-0655-2215-32C4201D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latin typeface="CMTT10"/>
              </a:rPr>
              <a:t>Analysis of Variance (ANOVA)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CE6B0-9870-7696-7CEF-0C082D744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889" y="1690688"/>
            <a:ext cx="5444613" cy="470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8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6385</TotalTime>
  <Words>363</Words>
  <Application>Microsoft Macintosh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Calibri</vt:lpstr>
      <vt:lpstr>Cambria Math</vt:lpstr>
      <vt:lpstr>CMMI10</vt:lpstr>
      <vt:lpstr>CMMI7</vt:lpstr>
      <vt:lpstr>CMR10</vt:lpstr>
      <vt:lpstr>CMR7</vt:lpstr>
      <vt:lpstr>CMTT10</vt:lpstr>
      <vt:lpstr>Helvetica</vt:lpstr>
      <vt:lpstr>MnSymbol10</vt:lpstr>
      <vt:lpstr>Wingdings</vt:lpstr>
      <vt:lpstr>Office Theme</vt:lpstr>
      <vt:lpstr>AGST  50104  Experimental Design</vt:lpstr>
      <vt:lpstr>The hypothesis we test with different analysis</vt:lpstr>
      <vt:lpstr>Error in Hypothesis testing</vt:lpstr>
      <vt:lpstr>Linear regression vs ANOVA</vt:lpstr>
      <vt:lpstr>When should we use a CRD?</vt:lpstr>
      <vt:lpstr>Example data sets</vt:lpstr>
      <vt:lpstr>Linear Model for CRD</vt:lpstr>
      <vt:lpstr>Linear Model in Matrix form</vt:lpstr>
      <vt:lpstr>Normal equations and constraints  </vt:lpstr>
      <vt:lpstr>The bread rise example</vt:lpstr>
      <vt:lpstr>The bread rise example</vt:lpstr>
      <vt:lpstr>Hypothesis testing</vt:lpstr>
      <vt:lpstr>Analysis of Variance (ANOVA)</vt:lpstr>
      <vt:lpstr>Analysis of Variance (ANOVA)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stats</dc:title>
  <dc:creator>Samuel B Fernandes</dc:creator>
  <cp:lastModifiedBy>Samuel B Fernandes</cp:lastModifiedBy>
  <cp:revision>18</cp:revision>
  <dcterms:created xsi:type="dcterms:W3CDTF">2023-01-21T17:19:51Z</dcterms:created>
  <dcterms:modified xsi:type="dcterms:W3CDTF">2026-01-28T15:06:19Z</dcterms:modified>
</cp:coreProperties>
</file>