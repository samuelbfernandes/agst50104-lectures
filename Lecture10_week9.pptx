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1" r:id="rId2"/>
    <p:sldId id="351" r:id="rId3"/>
    <p:sldId id="334" r:id="rId4"/>
    <p:sldId id="335" r:id="rId5"/>
    <p:sldId id="336" r:id="rId6"/>
    <p:sldId id="337" r:id="rId7"/>
    <p:sldId id="338" r:id="rId8"/>
    <p:sldId id="339" r:id="rId9"/>
    <p:sldId id="340" r:id="rId10"/>
    <p:sldId id="353" r:id="rId11"/>
    <p:sldId id="344" r:id="rId12"/>
    <p:sldId id="346" r:id="rId13"/>
    <p:sldId id="347" r:id="rId14"/>
    <p:sldId id="355" r:id="rId15"/>
    <p:sldId id="356" r:id="rId16"/>
    <p:sldId id="343" r:id="rId17"/>
    <p:sldId id="342" r:id="rId18"/>
    <p:sldId id="3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D9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5A4AF2-FC7E-A845-AEA6-96CEA6CB0C18}" v="33" dt="2026-03-09T15:36:23.2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10"/>
    <p:restoredTop sz="87921"/>
  </p:normalViewPr>
  <p:slideViewPr>
    <p:cSldViewPr snapToGrid="0">
      <p:cViewPr varScale="1">
        <p:scale>
          <a:sx n="127" d="100"/>
          <a:sy n="127" d="100"/>
        </p:scale>
        <p:origin x="15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B Fernandes" userId="6d96ad7d-4ada-4a90-936f-060428e74a02" providerId="ADAL" clId="{EBAE36E1-9894-586F-B819-C899ECA05CC1}"/>
    <pc:docChg chg="undo custSel addSld delSld modSld">
      <pc:chgData name="Samuel B Fernandes" userId="6d96ad7d-4ada-4a90-936f-060428e74a02" providerId="ADAL" clId="{EBAE36E1-9894-586F-B819-C899ECA05CC1}" dt="2026-03-09T15:36:23.263" v="54" actId="13926"/>
      <pc:docMkLst>
        <pc:docMk/>
      </pc:docMkLst>
      <pc:sldChg chg="add del">
        <pc:chgData name="Samuel B Fernandes" userId="6d96ad7d-4ada-4a90-936f-060428e74a02" providerId="ADAL" clId="{EBAE36E1-9894-586F-B819-C899ECA05CC1}" dt="2026-03-09T15:28:21.182" v="11" actId="2696"/>
        <pc:sldMkLst>
          <pc:docMk/>
          <pc:sldMk cId="3903830509" sldId="333"/>
        </pc:sldMkLst>
      </pc:sldChg>
      <pc:sldChg chg="add">
        <pc:chgData name="Samuel B Fernandes" userId="6d96ad7d-4ada-4a90-936f-060428e74a02" providerId="ADAL" clId="{EBAE36E1-9894-586F-B819-C899ECA05CC1}" dt="2026-03-09T15:28:08.117" v="10"/>
        <pc:sldMkLst>
          <pc:docMk/>
          <pc:sldMk cId="1345846689" sldId="341"/>
        </pc:sldMkLst>
      </pc:sldChg>
      <pc:sldChg chg="del">
        <pc:chgData name="Samuel B Fernandes" userId="6d96ad7d-4ada-4a90-936f-060428e74a02" providerId="ADAL" clId="{EBAE36E1-9894-586F-B819-C899ECA05CC1}" dt="2026-03-09T15:05:43.706" v="9" actId="2696"/>
        <pc:sldMkLst>
          <pc:docMk/>
          <pc:sldMk cId="1718784576" sldId="341"/>
        </pc:sldMkLst>
      </pc:sldChg>
      <pc:sldChg chg="add">
        <pc:chgData name="Samuel B Fernandes" userId="6d96ad7d-4ada-4a90-936f-060428e74a02" providerId="ADAL" clId="{EBAE36E1-9894-586F-B819-C899ECA05CC1}" dt="2026-03-09T15:28:08.117" v="10"/>
        <pc:sldMkLst>
          <pc:docMk/>
          <pc:sldMk cId="3772943798" sldId="342"/>
        </pc:sldMkLst>
      </pc:sldChg>
      <pc:sldChg chg="add">
        <pc:chgData name="Samuel B Fernandes" userId="6d96ad7d-4ada-4a90-936f-060428e74a02" providerId="ADAL" clId="{EBAE36E1-9894-586F-B819-C899ECA05CC1}" dt="2026-03-09T15:28:08.117" v="10"/>
        <pc:sldMkLst>
          <pc:docMk/>
          <pc:sldMk cId="1440212749" sldId="343"/>
        </pc:sldMkLst>
      </pc:sldChg>
      <pc:sldChg chg="del">
        <pc:chgData name="Samuel B Fernandes" userId="6d96ad7d-4ada-4a90-936f-060428e74a02" providerId="ADAL" clId="{EBAE36E1-9894-586F-B819-C899ECA05CC1}" dt="2026-03-09T15:05:43.706" v="9" actId="2696"/>
        <pc:sldMkLst>
          <pc:docMk/>
          <pc:sldMk cId="4239075305" sldId="343"/>
        </pc:sldMkLst>
      </pc:sldChg>
      <pc:sldChg chg="del">
        <pc:chgData name="Samuel B Fernandes" userId="6d96ad7d-4ada-4a90-936f-060428e74a02" providerId="ADAL" clId="{EBAE36E1-9894-586F-B819-C899ECA05CC1}" dt="2026-03-09T15:05:43.706" v="9" actId="2696"/>
        <pc:sldMkLst>
          <pc:docMk/>
          <pc:sldMk cId="953543115" sldId="344"/>
        </pc:sldMkLst>
      </pc:sldChg>
      <pc:sldChg chg="add">
        <pc:chgData name="Samuel B Fernandes" userId="6d96ad7d-4ada-4a90-936f-060428e74a02" providerId="ADAL" clId="{EBAE36E1-9894-586F-B819-C899ECA05CC1}" dt="2026-03-09T15:28:08.117" v="10"/>
        <pc:sldMkLst>
          <pc:docMk/>
          <pc:sldMk cId="2576307913" sldId="344"/>
        </pc:sldMkLst>
      </pc:sldChg>
      <pc:sldChg chg="add del">
        <pc:chgData name="Samuel B Fernandes" userId="6d96ad7d-4ada-4a90-936f-060428e74a02" providerId="ADAL" clId="{EBAE36E1-9894-586F-B819-C899ECA05CC1}" dt="2026-03-09T15:28:21.183" v="12" actId="2696"/>
        <pc:sldMkLst>
          <pc:docMk/>
          <pc:sldMk cId="4054243167" sldId="345"/>
        </pc:sldMkLst>
      </pc:sldChg>
      <pc:sldChg chg="del">
        <pc:chgData name="Samuel B Fernandes" userId="6d96ad7d-4ada-4a90-936f-060428e74a02" providerId="ADAL" clId="{EBAE36E1-9894-586F-B819-C899ECA05CC1}" dt="2026-03-09T15:05:43.706" v="9" actId="2696"/>
        <pc:sldMkLst>
          <pc:docMk/>
          <pc:sldMk cId="3032091641" sldId="346"/>
        </pc:sldMkLst>
      </pc:sldChg>
      <pc:sldChg chg="add">
        <pc:chgData name="Samuel B Fernandes" userId="6d96ad7d-4ada-4a90-936f-060428e74a02" providerId="ADAL" clId="{EBAE36E1-9894-586F-B819-C899ECA05CC1}" dt="2026-03-09T15:28:08.117" v="10"/>
        <pc:sldMkLst>
          <pc:docMk/>
          <pc:sldMk cId="3532867561" sldId="346"/>
        </pc:sldMkLst>
      </pc:sldChg>
      <pc:sldChg chg="del">
        <pc:chgData name="Samuel B Fernandes" userId="6d96ad7d-4ada-4a90-936f-060428e74a02" providerId="ADAL" clId="{EBAE36E1-9894-586F-B819-C899ECA05CC1}" dt="2026-03-09T15:05:43.706" v="9" actId="2696"/>
        <pc:sldMkLst>
          <pc:docMk/>
          <pc:sldMk cId="2414514681" sldId="347"/>
        </pc:sldMkLst>
      </pc:sldChg>
      <pc:sldChg chg="add">
        <pc:chgData name="Samuel B Fernandes" userId="6d96ad7d-4ada-4a90-936f-060428e74a02" providerId="ADAL" clId="{EBAE36E1-9894-586F-B819-C899ECA05CC1}" dt="2026-03-09T15:28:08.117" v="10"/>
        <pc:sldMkLst>
          <pc:docMk/>
          <pc:sldMk cId="2796990051" sldId="347"/>
        </pc:sldMkLst>
      </pc:sldChg>
      <pc:sldChg chg="del">
        <pc:chgData name="Samuel B Fernandes" userId="6d96ad7d-4ada-4a90-936f-060428e74a02" providerId="ADAL" clId="{EBAE36E1-9894-586F-B819-C899ECA05CC1}" dt="2026-03-09T15:05:43.706" v="9" actId="2696"/>
        <pc:sldMkLst>
          <pc:docMk/>
          <pc:sldMk cId="3264735802" sldId="348"/>
        </pc:sldMkLst>
      </pc:sldChg>
      <pc:sldChg chg="del">
        <pc:chgData name="Samuel B Fernandes" userId="6d96ad7d-4ada-4a90-936f-060428e74a02" providerId="ADAL" clId="{EBAE36E1-9894-586F-B819-C899ECA05CC1}" dt="2026-03-09T15:05:43.706" v="9" actId="2696"/>
        <pc:sldMkLst>
          <pc:docMk/>
          <pc:sldMk cId="3715944053" sldId="350"/>
        </pc:sldMkLst>
      </pc:sldChg>
      <pc:sldChg chg="modSp mod addAnim delAnim">
        <pc:chgData name="Samuel B Fernandes" userId="6d96ad7d-4ada-4a90-936f-060428e74a02" providerId="ADAL" clId="{EBAE36E1-9894-586F-B819-C899ECA05CC1}" dt="2026-03-06T15:36:32.883" v="8" actId="20577"/>
        <pc:sldMkLst>
          <pc:docMk/>
          <pc:sldMk cId="1819950274" sldId="351"/>
        </pc:sldMkLst>
        <pc:graphicFrameChg chg="modGraphic">
          <ac:chgData name="Samuel B Fernandes" userId="6d96ad7d-4ada-4a90-936f-060428e74a02" providerId="ADAL" clId="{EBAE36E1-9894-586F-B819-C899ECA05CC1}" dt="2026-03-06T15:36:32.883" v="8" actId="20577"/>
          <ac:graphicFrameMkLst>
            <pc:docMk/>
            <pc:sldMk cId="1819950274" sldId="351"/>
            <ac:graphicFrameMk id="20" creationId="{CF356CD0-22C4-1031-93EE-91683C6ED45C}"/>
          </ac:graphicFrameMkLst>
        </pc:graphicFrameChg>
      </pc:sldChg>
      <pc:sldChg chg="add del">
        <pc:chgData name="Samuel B Fernandes" userId="6d96ad7d-4ada-4a90-936f-060428e74a02" providerId="ADAL" clId="{EBAE36E1-9894-586F-B819-C899ECA05CC1}" dt="2026-03-09T15:28:21.187" v="13" actId="2696"/>
        <pc:sldMkLst>
          <pc:docMk/>
          <pc:sldMk cId="3550838592" sldId="352"/>
        </pc:sldMkLst>
      </pc:sldChg>
      <pc:sldChg chg="modSp add mod">
        <pc:chgData name="Samuel B Fernandes" userId="6d96ad7d-4ada-4a90-936f-060428e74a02" providerId="ADAL" clId="{EBAE36E1-9894-586F-B819-C899ECA05CC1}" dt="2026-03-09T15:31:35.045" v="15" actId="20577"/>
        <pc:sldMkLst>
          <pc:docMk/>
          <pc:sldMk cId="3302395894" sldId="353"/>
        </pc:sldMkLst>
        <pc:spChg chg="mod">
          <ac:chgData name="Samuel B Fernandes" userId="6d96ad7d-4ada-4a90-936f-060428e74a02" providerId="ADAL" clId="{EBAE36E1-9894-586F-B819-C899ECA05CC1}" dt="2026-03-09T15:31:35.045" v="15" actId="20577"/>
          <ac:spMkLst>
            <pc:docMk/>
            <pc:sldMk cId="3302395894" sldId="353"/>
            <ac:spMk id="2" creationId="{35E392EE-F5A3-F00C-A30C-580CCC0D281E}"/>
          </ac:spMkLst>
        </pc:spChg>
      </pc:sldChg>
      <pc:sldChg chg="modSp add del mod">
        <pc:chgData name="Samuel B Fernandes" userId="6d96ad7d-4ada-4a90-936f-060428e74a02" providerId="ADAL" clId="{EBAE36E1-9894-586F-B819-C899ECA05CC1}" dt="2026-03-09T15:32:27.191" v="21" actId="2696"/>
        <pc:sldMkLst>
          <pc:docMk/>
          <pc:sldMk cId="1560595420" sldId="354"/>
        </pc:sldMkLst>
        <pc:spChg chg="mod">
          <ac:chgData name="Samuel B Fernandes" userId="6d96ad7d-4ada-4a90-936f-060428e74a02" providerId="ADAL" clId="{EBAE36E1-9894-586F-B819-C899ECA05CC1}" dt="2026-03-09T15:32:16.975" v="20" actId="1035"/>
          <ac:spMkLst>
            <pc:docMk/>
            <pc:sldMk cId="1560595420" sldId="354"/>
            <ac:spMk id="6" creationId="{502AA877-E859-4A98-BC39-C1F932AC765F}"/>
          </ac:spMkLst>
        </pc:spChg>
      </pc:sldChg>
      <pc:sldChg chg="add">
        <pc:chgData name="Samuel B Fernandes" userId="6d96ad7d-4ada-4a90-936f-060428e74a02" providerId="ADAL" clId="{EBAE36E1-9894-586F-B819-C899ECA05CC1}" dt="2026-03-09T15:28:08.117" v="10"/>
        <pc:sldMkLst>
          <pc:docMk/>
          <pc:sldMk cId="538743875" sldId="355"/>
        </pc:sldMkLst>
      </pc:sldChg>
      <pc:sldChg chg="modSp add mod">
        <pc:chgData name="Samuel B Fernandes" userId="6d96ad7d-4ada-4a90-936f-060428e74a02" providerId="ADAL" clId="{EBAE36E1-9894-586F-B819-C899ECA05CC1}" dt="2026-03-09T15:36:23.263" v="54" actId="13926"/>
        <pc:sldMkLst>
          <pc:docMk/>
          <pc:sldMk cId="1599233672" sldId="356"/>
        </pc:sldMkLst>
        <pc:spChg chg="mod">
          <ac:chgData name="Samuel B Fernandes" userId="6d96ad7d-4ada-4a90-936f-060428e74a02" providerId="ADAL" clId="{EBAE36E1-9894-586F-B819-C899ECA05CC1}" dt="2026-03-09T15:36:23.263" v="54" actId="13926"/>
          <ac:spMkLst>
            <pc:docMk/>
            <pc:sldMk cId="1599233672" sldId="356"/>
            <ac:spMk id="3" creationId="{D7285453-F88C-6944-AE5F-EA9E3B6D50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76F276-EE6D-DF4F-8392-FA3E83168DD8}"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35B9D-3EDA-0B44-BE90-13B8E384F9BE}" type="slidenum">
              <a:rPr lang="en-US" smtClean="0"/>
              <a:t>‹#›</a:t>
            </a:fld>
            <a:endParaRPr lang="en-US"/>
          </a:p>
        </p:txBody>
      </p:sp>
    </p:spTree>
    <p:extLst>
      <p:ext uri="{BB962C8B-B14F-4D97-AF65-F5344CB8AC3E}">
        <p14:creationId xmlns:p14="http://schemas.microsoft.com/office/powerpoint/2010/main" val="282210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6</a:t>
            </a:fld>
            <a:endParaRPr lang="en-US"/>
          </a:p>
        </p:txBody>
      </p:sp>
    </p:spTree>
    <p:extLst>
      <p:ext uri="{BB962C8B-B14F-4D97-AF65-F5344CB8AC3E}">
        <p14:creationId xmlns:p14="http://schemas.microsoft.com/office/powerpoint/2010/main" val="4153274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10</a:t>
            </a:fld>
            <a:endParaRPr lang="en-US"/>
          </a:p>
        </p:txBody>
      </p:sp>
    </p:spTree>
    <p:extLst>
      <p:ext uri="{BB962C8B-B14F-4D97-AF65-F5344CB8AC3E}">
        <p14:creationId xmlns:p14="http://schemas.microsoft.com/office/powerpoint/2010/main" val="276618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14</a:t>
            </a:fld>
            <a:endParaRPr lang="en-US"/>
          </a:p>
        </p:txBody>
      </p:sp>
    </p:spTree>
    <p:extLst>
      <p:ext uri="{BB962C8B-B14F-4D97-AF65-F5344CB8AC3E}">
        <p14:creationId xmlns:p14="http://schemas.microsoft.com/office/powerpoint/2010/main" val="3896173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15</a:t>
            </a:fld>
            <a:endParaRPr lang="en-US"/>
          </a:p>
        </p:txBody>
      </p:sp>
    </p:spTree>
    <p:extLst>
      <p:ext uri="{BB962C8B-B14F-4D97-AF65-F5344CB8AC3E}">
        <p14:creationId xmlns:p14="http://schemas.microsoft.com/office/powerpoint/2010/main" val="3653647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17</a:t>
            </a:fld>
            <a:endParaRPr lang="en-US"/>
          </a:p>
        </p:txBody>
      </p:sp>
    </p:spTree>
    <p:extLst>
      <p:ext uri="{BB962C8B-B14F-4D97-AF65-F5344CB8AC3E}">
        <p14:creationId xmlns:p14="http://schemas.microsoft.com/office/powerpoint/2010/main" val="3418801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18</a:t>
            </a:fld>
            <a:endParaRPr lang="en-US"/>
          </a:p>
        </p:txBody>
      </p:sp>
    </p:spTree>
    <p:extLst>
      <p:ext uri="{BB962C8B-B14F-4D97-AF65-F5344CB8AC3E}">
        <p14:creationId xmlns:p14="http://schemas.microsoft.com/office/powerpoint/2010/main" val="3826974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C9F5-46A5-E653-ACEB-98E3E8BCA1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18A73D-E705-8722-ABD6-4C3DC9577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E43EEB-BF3C-0C38-567A-EE22C3EB8DAA}"/>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1CE05733-F42D-587B-A3E9-FAADA814F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F5F9E-66CF-FD89-ADA5-7DFF8F1BD7FA}"/>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823970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E441-6BD7-0ECB-9CFF-B3E2CDF770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0D85AD-9B07-A82C-4456-4B0978DF32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882FD0-AC30-733B-65D7-42BC9B78DD2B}"/>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6B0EFF81-D8DB-8EF2-26B2-DEDF59651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AF5FB-E667-C6C6-9BAA-2D7779D8E4FC}"/>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91295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877C2-8C0C-CED4-2C3D-DC9A27B273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3ED89E-02F7-2213-D1E7-DA79F625A0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65A36-7990-B9CD-BFAF-59603572CDBF}"/>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99948799-DFB5-F958-59AC-F4395C8D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E58546-3C9B-5272-BED6-9863BF3D97AC}"/>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78524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7884-3EF4-7C0C-C0F0-C89E4705DA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74C622-5669-D61A-4BA7-8C841C053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1514FC-7BA8-A86E-E1F6-C9C78AD432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3EC73C-9134-2336-771D-626E6273A1D5}"/>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6" name="Footer Placeholder 5">
            <a:extLst>
              <a:ext uri="{FF2B5EF4-FFF2-40B4-BE49-F238E27FC236}">
                <a16:creationId xmlns:a16="http://schemas.microsoft.com/office/drawing/2014/main" id="{B58D6D73-F61F-BBA0-2B42-B394CFAD1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B3EC6-87AA-2BAF-B417-3B7322FFA35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358628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3C3B-289F-A2BD-756F-E3DE140EC0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EA9B30-5D19-50A3-7E96-9C7F090E9F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D31310-634C-1E53-9F48-FE9AF1104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8B293D-0718-487B-F8BF-3D7C46E3C4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BA86BE-3680-095B-ABCC-4C73886965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2D3D9B-9CBF-A94E-6C16-ADB235B3B87F}"/>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8" name="Footer Placeholder 7">
            <a:extLst>
              <a:ext uri="{FF2B5EF4-FFF2-40B4-BE49-F238E27FC236}">
                <a16:creationId xmlns:a16="http://schemas.microsoft.com/office/drawing/2014/main" id="{F797E7B1-A571-70A9-8D8D-226AFC65C6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B4F61C-E138-EABD-149F-085314F1B9FB}"/>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3484031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1C6D-D7F2-0C84-3F85-39F036ADA1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E28DE3-67E5-9048-7222-7E2F00AB4786}"/>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4" name="Footer Placeholder 3">
            <a:extLst>
              <a:ext uri="{FF2B5EF4-FFF2-40B4-BE49-F238E27FC236}">
                <a16:creationId xmlns:a16="http://schemas.microsoft.com/office/drawing/2014/main" id="{4A85064C-B08A-7C41-D193-B885D3D64C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2875FA-D5F3-4CC0-468D-E437334D23F8}"/>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4064267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C8E29-A532-A4CD-6681-1996D63792C2}"/>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3" name="Footer Placeholder 2">
            <a:extLst>
              <a:ext uri="{FF2B5EF4-FFF2-40B4-BE49-F238E27FC236}">
                <a16:creationId xmlns:a16="http://schemas.microsoft.com/office/drawing/2014/main" id="{0BABECE6-813E-63D5-980D-78EE0965E4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C56F51-1710-F337-9CD2-D879676EE77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63236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C4F62-4911-E925-4BB6-C9EB17379E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B2E16F-93E1-CB4C-34F3-37E8A9F43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C0CC38-AE8A-6866-52E4-7A672074FE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A3583-CA7E-E3ED-B59E-1C6757C06542}"/>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6" name="Footer Placeholder 5">
            <a:extLst>
              <a:ext uri="{FF2B5EF4-FFF2-40B4-BE49-F238E27FC236}">
                <a16:creationId xmlns:a16="http://schemas.microsoft.com/office/drawing/2014/main" id="{5AD924C6-E994-45B4-275B-9DC613B13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B10EA-A019-90CF-D6D5-56E93C5A0F0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66122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2496-3C36-F69C-1DAC-A9C08487A4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03F93A-8BE5-4BF6-786F-F4260C6DE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295FF9-DB0F-D67B-33DE-5DC9F2A53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A3AD1-29CD-3EEB-E109-802D19329D87}"/>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6" name="Footer Placeholder 5">
            <a:extLst>
              <a:ext uri="{FF2B5EF4-FFF2-40B4-BE49-F238E27FC236}">
                <a16:creationId xmlns:a16="http://schemas.microsoft.com/office/drawing/2014/main" id="{ADC5F187-76B5-C72E-080C-AB66C3B23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19D24-7EA0-8C42-7CA0-ED5C815993AD}"/>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403573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E508E-BF84-2AD1-BA10-960B878582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D1C68A-979D-A4FA-948F-CA98958B86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C600E-B5D6-C0A3-C323-DA78E1868354}"/>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B5945821-134F-9EDC-BFCC-192D192F5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82C268-062F-5CAA-9750-AA507AC6A79F}"/>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66338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52EB96-BEB0-FBB0-B366-CE26CA86F8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DA2736-26C5-9EA6-9864-7D814B99EA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EC0A9-5C86-DBDC-82D3-3F45CFFD6B99}"/>
              </a:ext>
            </a:extLst>
          </p:cNvPr>
          <p:cNvSpPr>
            <a:spLocks noGrp="1"/>
          </p:cNvSpPr>
          <p:nvPr>
            <p:ph type="dt" sz="half" idx="10"/>
          </p:nvPr>
        </p:nvSpPr>
        <p:spPr/>
        <p:txBody>
          <a:body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C85FCC23-3A20-12BC-3AA3-D4023D46D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2EF4D-A3D2-63D8-8EC2-6A6D8688C041}"/>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59143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2D9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081CB6-BF24-BC74-3EEA-5896BC9122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89A131-00FF-7B74-AFB9-D3922CB2F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95DC1C6-B3A4-1D64-CE8C-F7D6B74953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1399A-5209-EB4E-8D86-43B52F9A823B}" type="datetimeFigureOut">
              <a:rPr lang="en-US" smtClean="0"/>
              <a:t>3/9/26</a:t>
            </a:fld>
            <a:endParaRPr lang="en-US"/>
          </a:p>
        </p:txBody>
      </p:sp>
      <p:sp>
        <p:nvSpPr>
          <p:cNvPr id="5" name="Footer Placeholder 4">
            <a:extLst>
              <a:ext uri="{FF2B5EF4-FFF2-40B4-BE49-F238E27FC236}">
                <a16:creationId xmlns:a16="http://schemas.microsoft.com/office/drawing/2014/main" id="{1D42A13B-57FE-44A8-3DBB-60FBC9C2ED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9D596A-5314-C5B6-EE69-4BA3E5A482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41AA28-2B82-134A-9AA5-8F4AA40272FE}" type="slidenum">
              <a:rPr lang="en-US" smtClean="0"/>
              <a:t>‹#›</a:t>
            </a:fld>
            <a:endParaRPr lang="en-US"/>
          </a:p>
        </p:txBody>
      </p:sp>
    </p:spTree>
    <p:extLst>
      <p:ext uri="{BB962C8B-B14F-4D97-AF65-F5344CB8AC3E}">
        <p14:creationId xmlns:p14="http://schemas.microsoft.com/office/powerpoint/2010/main" val="3339629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samuelbf@uark.edu" TargetMode="Externa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newprairiepress.org/cgi/viewcontent.cgi?referer=&amp;httpsredir=1&amp;article=1474&amp;context=agstatconferenc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rstats4ag.org/index.html#sec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m-clark.github.io/mixed-models-with-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FD8B-91DA-157E-01E6-E68C0246D475}"/>
              </a:ext>
            </a:extLst>
          </p:cNvPr>
          <p:cNvSpPr>
            <a:spLocks noGrp="1"/>
          </p:cNvSpPr>
          <p:nvPr>
            <p:ph type="ctrTitle"/>
          </p:nvPr>
        </p:nvSpPr>
        <p:spPr>
          <a:xfrm>
            <a:off x="635211" y="3764129"/>
            <a:ext cx="10916365" cy="1637306"/>
          </a:xfrm>
        </p:spPr>
        <p:txBody>
          <a:bodyPr>
            <a:normAutofit fontScale="90000"/>
          </a:bodyPr>
          <a:lstStyle/>
          <a:p>
            <a:r>
              <a:rPr lang="en-US" b="1" i="0" dirty="0">
                <a:solidFill>
                  <a:schemeClr val="bg2">
                    <a:lumMod val="25000"/>
                  </a:schemeClr>
                </a:solidFill>
                <a:effectLst/>
                <a:latin typeface="Helvetica" pitchFamily="2" charset="0"/>
              </a:rPr>
              <a:t>AGST  50104</a:t>
            </a:r>
            <a:br>
              <a:rPr lang="en-US" b="1" i="0" dirty="0">
                <a:solidFill>
                  <a:schemeClr val="bg2">
                    <a:lumMod val="25000"/>
                  </a:schemeClr>
                </a:solidFill>
                <a:effectLst/>
                <a:latin typeface="Helvetica" pitchFamily="2" charset="0"/>
              </a:rPr>
            </a:br>
            <a:r>
              <a:rPr lang="en-US" b="1" i="0" dirty="0">
                <a:solidFill>
                  <a:schemeClr val="bg2">
                    <a:lumMod val="25000"/>
                  </a:schemeClr>
                </a:solidFill>
                <a:effectLst/>
                <a:latin typeface="Helvetica" pitchFamily="2" charset="0"/>
              </a:rPr>
              <a:t> Experimental Design</a:t>
            </a:r>
          </a:p>
        </p:txBody>
      </p:sp>
      <p:sp>
        <p:nvSpPr>
          <p:cNvPr id="3" name="Subtitle 2">
            <a:extLst>
              <a:ext uri="{FF2B5EF4-FFF2-40B4-BE49-F238E27FC236}">
                <a16:creationId xmlns:a16="http://schemas.microsoft.com/office/drawing/2014/main" id="{D009207E-67F5-6F20-4B70-1C5C3B98149F}"/>
              </a:ext>
            </a:extLst>
          </p:cNvPr>
          <p:cNvSpPr>
            <a:spLocks noGrp="1"/>
          </p:cNvSpPr>
          <p:nvPr>
            <p:ph type="subTitle" idx="1"/>
          </p:nvPr>
        </p:nvSpPr>
        <p:spPr>
          <a:xfrm>
            <a:off x="1267688" y="5401435"/>
            <a:ext cx="9653792" cy="814809"/>
          </a:xfrm>
        </p:spPr>
        <p:txBody>
          <a:bodyPr>
            <a:normAutofit fontScale="92500"/>
          </a:bodyPr>
          <a:lstStyle/>
          <a:p>
            <a:pPr>
              <a:lnSpc>
                <a:spcPct val="110000"/>
              </a:lnSpc>
            </a:pPr>
            <a:r>
              <a:rPr lang="en-US" b="0" i="0">
                <a:solidFill>
                  <a:schemeClr val="bg2">
                    <a:lumMod val="25000"/>
                  </a:schemeClr>
                </a:solidFill>
                <a:effectLst/>
                <a:latin typeface="Helvetica" pitchFamily="2" charset="0"/>
              </a:rPr>
              <a:t>Samuel B. Fernandes, Ph.D.</a:t>
            </a:r>
            <a:br>
              <a:rPr lang="en-US">
                <a:solidFill>
                  <a:schemeClr val="bg2">
                    <a:lumMod val="25000"/>
                  </a:schemeClr>
                </a:solidFill>
                <a:latin typeface="Helvetica" pitchFamily="2" charset="0"/>
              </a:rPr>
            </a:br>
            <a:r>
              <a:rPr lang="en-US" b="0" i="0">
                <a:solidFill>
                  <a:schemeClr val="bg2">
                    <a:lumMod val="25000"/>
                  </a:schemeClr>
                </a:solidFill>
                <a:effectLst/>
                <a:latin typeface="Helvetica" pitchFamily="2" charset="0"/>
              </a:rPr>
              <a:t>E-mail: </a:t>
            </a:r>
            <a:r>
              <a:rPr lang="en-US" b="0" i="0" u="none" strike="noStrike">
                <a:solidFill>
                  <a:schemeClr val="bg2">
                    <a:lumMod val="25000"/>
                  </a:schemeClr>
                </a:solidFill>
                <a:effectLst/>
                <a:latin typeface="Helvetica" pitchFamily="2" charset="0"/>
                <a:hlinkClick r:id="rId2">
                  <a:extLst>
                    <a:ext uri="{A12FA001-AC4F-418D-AE19-62706E023703}">
                      <ahyp:hlinkClr xmlns:ahyp="http://schemas.microsoft.com/office/drawing/2018/hyperlinkcolor" val="tx"/>
                    </a:ext>
                  </a:extLst>
                </a:hlinkClick>
              </a:rPr>
              <a:t>samuelbf@uark.edu</a:t>
            </a:r>
            <a:endParaRPr lang="en-US">
              <a:solidFill>
                <a:schemeClr val="bg2">
                  <a:lumMod val="25000"/>
                </a:schemeClr>
              </a:solidFill>
              <a:latin typeface="Helvetica" pitchFamily="2" charset="0"/>
            </a:endParaRPr>
          </a:p>
        </p:txBody>
      </p:sp>
      <p:pic>
        <p:nvPicPr>
          <p:cNvPr id="7" name="Graphic 6" descr="Test Plan">
            <a:extLst>
              <a:ext uri="{FF2B5EF4-FFF2-40B4-BE49-F238E27FC236}">
                <a16:creationId xmlns:a16="http://schemas.microsoft.com/office/drawing/2014/main" id="{DF8DBBA5-BA5F-3617-3EC1-B8CEE4F602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36412" y="932016"/>
            <a:ext cx="2506511" cy="2506511"/>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66798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B367-3D08-3D30-D3DA-8B99027576CF}"/>
              </a:ext>
            </a:extLst>
          </p:cNvPr>
          <p:cNvSpPr>
            <a:spLocks noGrp="1"/>
          </p:cNvSpPr>
          <p:nvPr>
            <p:ph type="title"/>
          </p:nvPr>
        </p:nvSpPr>
        <p:spPr/>
        <p:txBody>
          <a:bodyPr/>
          <a:lstStyle/>
          <a:p>
            <a:pPr algn="ctr"/>
            <a:r>
              <a:rPr lang="en-US" dirty="0"/>
              <a:t>Comparing different designs (in an RCBD)</a:t>
            </a:r>
          </a:p>
        </p:txBody>
      </p:sp>
      <p:sp>
        <p:nvSpPr>
          <p:cNvPr id="11" name="TextBox 10">
            <a:extLst>
              <a:ext uri="{FF2B5EF4-FFF2-40B4-BE49-F238E27FC236}">
                <a16:creationId xmlns:a16="http://schemas.microsoft.com/office/drawing/2014/main" id="{D2E8221C-657F-7FD1-D05A-40315E7351C4}"/>
              </a:ext>
            </a:extLst>
          </p:cNvPr>
          <p:cNvSpPr txBox="1"/>
          <p:nvPr/>
        </p:nvSpPr>
        <p:spPr>
          <a:xfrm>
            <a:off x="415636" y="1997363"/>
            <a:ext cx="3478895" cy="923330"/>
          </a:xfrm>
          <a:prstGeom prst="rect">
            <a:avLst/>
          </a:prstGeom>
          <a:noFill/>
        </p:spPr>
        <p:txBody>
          <a:bodyPr wrap="square" rtlCol="0">
            <a:spAutoFit/>
          </a:bodyPr>
          <a:lstStyle/>
          <a:p>
            <a:r>
              <a:rPr lang="en-US" dirty="0"/>
              <a:t>Treatments:</a:t>
            </a:r>
          </a:p>
          <a:p>
            <a:r>
              <a:rPr lang="en-US" dirty="0"/>
              <a:t>Row spacing (30cm, 50cm, 80cm)</a:t>
            </a:r>
          </a:p>
          <a:p>
            <a:r>
              <a:rPr lang="en-US" dirty="0"/>
              <a:t>Irrigation (1x, 2x, 3x/week)</a:t>
            </a:r>
          </a:p>
        </p:txBody>
      </p:sp>
      <p:graphicFrame>
        <p:nvGraphicFramePr>
          <p:cNvPr id="14" name="Table 8">
            <a:extLst>
              <a:ext uri="{FF2B5EF4-FFF2-40B4-BE49-F238E27FC236}">
                <a16:creationId xmlns:a16="http://schemas.microsoft.com/office/drawing/2014/main" id="{788EA683-51E9-BC78-4754-F67929F338E5}"/>
              </a:ext>
            </a:extLst>
          </p:cNvPr>
          <p:cNvGraphicFramePr>
            <a:graphicFrameLocks/>
          </p:cNvGraphicFramePr>
          <p:nvPr/>
        </p:nvGraphicFramePr>
        <p:xfrm>
          <a:off x="211286" y="3896035"/>
          <a:ext cx="5257797" cy="1137612"/>
        </p:xfrm>
        <a:graphic>
          <a:graphicData uri="http://schemas.openxmlformats.org/drawingml/2006/table">
            <a:tbl>
              <a:tblPr firstRow="1" bandRow="1">
                <a:tableStyleId>{C083E6E3-FA7D-4D7B-A595-EF9225AFEA82}</a:tableStyleId>
              </a:tblPr>
              <a:tblGrid>
                <a:gridCol w="1752599">
                  <a:extLst>
                    <a:ext uri="{9D8B030D-6E8A-4147-A177-3AD203B41FA5}">
                      <a16:colId xmlns:a16="http://schemas.microsoft.com/office/drawing/2014/main" val="784829068"/>
                    </a:ext>
                  </a:extLst>
                </a:gridCol>
                <a:gridCol w="1752599">
                  <a:extLst>
                    <a:ext uri="{9D8B030D-6E8A-4147-A177-3AD203B41FA5}">
                      <a16:colId xmlns:a16="http://schemas.microsoft.com/office/drawing/2014/main" val="1219213257"/>
                    </a:ext>
                  </a:extLst>
                </a:gridCol>
                <a:gridCol w="1752599">
                  <a:extLst>
                    <a:ext uri="{9D8B030D-6E8A-4147-A177-3AD203B41FA5}">
                      <a16:colId xmlns:a16="http://schemas.microsoft.com/office/drawing/2014/main" val="1030785392"/>
                    </a:ext>
                  </a:extLst>
                </a:gridCol>
              </a:tblGrid>
              <a:tr h="406092">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r h="352463">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057490"/>
                  </a:ext>
                </a:extLst>
              </a:tr>
              <a:tr h="352463">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40891"/>
                  </a:ext>
                </a:extLst>
              </a:tr>
            </a:tbl>
          </a:graphicData>
        </a:graphic>
      </p:graphicFrame>
      <p:sp>
        <p:nvSpPr>
          <p:cNvPr id="15" name="TextBox 14">
            <a:extLst>
              <a:ext uri="{FF2B5EF4-FFF2-40B4-BE49-F238E27FC236}">
                <a16:creationId xmlns:a16="http://schemas.microsoft.com/office/drawing/2014/main" id="{33C1364B-578B-FD00-DE81-11B8D34924D3}"/>
              </a:ext>
            </a:extLst>
          </p:cNvPr>
          <p:cNvSpPr txBox="1"/>
          <p:nvPr/>
        </p:nvSpPr>
        <p:spPr>
          <a:xfrm>
            <a:off x="2412021" y="3497027"/>
            <a:ext cx="856325" cy="369332"/>
          </a:xfrm>
          <a:prstGeom prst="rect">
            <a:avLst/>
          </a:prstGeom>
          <a:noFill/>
        </p:spPr>
        <p:txBody>
          <a:bodyPr wrap="none" rtlCol="0">
            <a:spAutoFit/>
          </a:bodyPr>
          <a:lstStyle/>
          <a:p>
            <a:r>
              <a:rPr lang="en-US" dirty="0"/>
              <a:t>Block 1</a:t>
            </a:r>
          </a:p>
        </p:txBody>
      </p:sp>
      <p:sp>
        <p:nvSpPr>
          <p:cNvPr id="16" name="TextBox 15">
            <a:extLst>
              <a:ext uri="{FF2B5EF4-FFF2-40B4-BE49-F238E27FC236}">
                <a16:creationId xmlns:a16="http://schemas.microsoft.com/office/drawing/2014/main" id="{DF2A150A-0F12-8B0C-0BC6-76A5AA6D3BF1}"/>
              </a:ext>
            </a:extLst>
          </p:cNvPr>
          <p:cNvSpPr txBox="1"/>
          <p:nvPr/>
        </p:nvSpPr>
        <p:spPr>
          <a:xfrm>
            <a:off x="195681" y="3312361"/>
            <a:ext cx="1003288" cy="369332"/>
          </a:xfrm>
          <a:prstGeom prst="rect">
            <a:avLst/>
          </a:prstGeom>
          <a:noFill/>
        </p:spPr>
        <p:txBody>
          <a:bodyPr wrap="none" rtlCol="0">
            <a:spAutoFit/>
          </a:bodyPr>
          <a:lstStyle/>
          <a:p>
            <a:r>
              <a:rPr lang="en-US" b="1" dirty="0"/>
              <a:t>Factorial</a:t>
            </a:r>
          </a:p>
        </p:txBody>
      </p:sp>
      <p:graphicFrame>
        <p:nvGraphicFramePr>
          <p:cNvPr id="17" name="Table 8">
            <a:extLst>
              <a:ext uri="{FF2B5EF4-FFF2-40B4-BE49-F238E27FC236}">
                <a16:creationId xmlns:a16="http://schemas.microsoft.com/office/drawing/2014/main" id="{760DD9B4-864D-47F1-BFF9-42844D6BDF64}"/>
              </a:ext>
            </a:extLst>
          </p:cNvPr>
          <p:cNvGraphicFramePr>
            <a:graphicFrameLocks/>
          </p:cNvGraphicFramePr>
          <p:nvPr>
            <p:extLst>
              <p:ext uri="{D42A27DB-BD31-4B8C-83A1-F6EECF244321}">
                <p14:modId xmlns:p14="http://schemas.microsoft.com/office/powerpoint/2010/main" val="3995579729"/>
              </p:ext>
            </p:extLst>
          </p:nvPr>
        </p:nvGraphicFramePr>
        <p:xfrm>
          <a:off x="211286" y="3892204"/>
          <a:ext cx="5257797" cy="1137612"/>
        </p:xfrm>
        <a:graphic>
          <a:graphicData uri="http://schemas.openxmlformats.org/drawingml/2006/table">
            <a:tbl>
              <a:tblPr firstRow="1" bandRow="1">
                <a:tableStyleId>{616DA210-FB5B-4158-B5E0-FEB733F419BA}</a:tableStyleId>
              </a:tblPr>
              <a:tblGrid>
                <a:gridCol w="1752599">
                  <a:extLst>
                    <a:ext uri="{9D8B030D-6E8A-4147-A177-3AD203B41FA5}">
                      <a16:colId xmlns:a16="http://schemas.microsoft.com/office/drawing/2014/main" val="784829068"/>
                    </a:ext>
                  </a:extLst>
                </a:gridCol>
                <a:gridCol w="1752599">
                  <a:extLst>
                    <a:ext uri="{9D8B030D-6E8A-4147-A177-3AD203B41FA5}">
                      <a16:colId xmlns:a16="http://schemas.microsoft.com/office/drawing/2014/main" val="1219213257"/>
                    </a:ext>
                  </a:extLst>
                </a:gridCol>
                <a:gridCol w="1752599">
                  <a:extLst>
                    <a:ext uri="{9D8B030D-6E8A-4147-A177-3AD203B41FA5}">
                      <a16:colId xmlns:a16="http://schemas.microsoft.com/office/drawing/2014/main" val="1030785392"/>
                    </a:ext>
                  </a:extLst>
                </a:gridCol>
              </a:tblGrid>
              <a:tr h="406092">
                <a:tc>
                  <a:txBody>
                    <a:bodyPr/>
                    <a:lstStyle/>
                    <a:p>
                      <a:r>
                        <a:rPr lang="en-US" b="0" dirty="0"/>
                        <a:t>1x  30</a:t>
                      </a:r>
                    </a:p>
                  </a:txBody>
                  <a:tcPr/>
                </a:tc>
                <a:tc>
                  <a:txBody>
                    <a:bodyPr/>
                    <a:lstStyle/>
                    <a:p>
                      <a:r>
                        <a:rPr lang="en-US" b="0" dirty="0"/>
                        <a:t>2x 30</a:t>
                      </a:r>
                    </a:p>
                  </a:txBody>
                  <a:tcPr/>
                </a:tc>
                <a:tc>
                  <a:txBody>
                    <a:bodyPr/>
                    <a:lstStyle/>
                    <a:p>
                      <a:r>
                        <a:rPr lang="en-US" b="0" dirty="0"/>
                        <a:t>1x 80</a:t>
                      </a:r>
                    </a:p>
                  </a:txBody>
                  <a:tcPr/>
                </a:tc>
                <a:extLst>
                  <a:ext uri="{0D108BD9-81ED-4DB2-BD59-A6C34878D82A}">
                    <a16:rowId xmlns:a16="http://schemas.microsoft.com/office/drawing/2014/main" val="1538488901"/>
                  </a:ext>
                </a:extLst>
              </a:tr>
              <a:tr h="352463">
                <a:tc>
                  <a:txBody>
                    <a:bodyPr/>
                    <a:lstStyle/>
                    <a:p>
                      <a:r>
                        <a:rPr lang="en-US" b="0" dirty="0"/>
                        <a:t>3x 30</a:t>
                      </a:r>
                    </a:p>
                  </a:txBody>
                  <a:tcPr/>
                </a:tc>
                <a:tc>
                  <a:txBody>
                    <a:bodyPr/>
                    <a:lstStyle/>
                    <a:p>
                      <a:r>
                        <a:rPr lang="en-US" b="0" dirty="0"/>
                        <a:t>1x 50</a:t>
                      </a:r>
                    </a:p>
                  </a:txBody>
                  <a:tcPr/>
                </a:tc>
                <a:tc>
                  <a:txBody>
                    <a:bodyPr/>
                    <a:lstStyle/>
                    <a:p>
                      <a:r>
                        <a:rPr lang="en-US" b="0" dirty="0"/>
                        <a:t>3x 80</a:t>
                      </a:r>
                    </a:p>
                  </a:txBody>
                  <a:tcPr/>
                </a:tc>
                <a:extLst>
                  <a:ext uri="{0D108BD9-81ED-4DB2-BD59-A6C34878D82A}">
                    <a16:rowId xmlns:a16="http://schemas.microsoft.com/office/drawing/2014/main" val="3848057490"/>
                  </a:ext>
                </a:extLst>
              </a:tr>
              <a:tr h="352463">
                <a:tc>
                  <a:txBody>
                    <a:bodyPr/>
                    <a:lstStyle/>
                    <a:p>
                      <a:r>
                        <a:rPr lang="en-US" b="0" dirty="0"/>
                        <a:t>2x 80</a:t>
                      </a:r>
                    </a:p>
                  </a:txBody>
                  <a:tcPr/>
                </a:tc>
                <a:tc>
                  <a:txBody>
                    <a:bodyPr/>
                    <a:lstStyle/>
                    <a:p>
                      <a:r>
                        <a:rPr lang="en-US" b="0" dirty="0"/>
                        <a:t>3x 50</a:t>
                      </a:r>
                    </a:p>
                  </a:txBody>
                  <a:tcPr/>
                </a:tc>
                <a:tc>
                  <a:txBody>
                    <a:bodyPr/>
                    <a:lstStyle/>
                    <a:p>
                      <a:r>
                        <a:rPr lang="en-US" b="0" dirty="0"/>
                        <a:t>2x 50</a:t>
                      </a:r>
                    </a:p>
                  </a:txBody>
                  <a:tcPr/>
                </a:tc>
                <a:extLst>
                  <a:ext uri="{0D108BD9-81ED-4DB2-BD59-A6C34878D82A}">
                    <a16:rowId xmlns:a16="http://schemas.microsoft.com/office/drawing/2014/main" val="3715440891"/>
                  </a:ext>
                </a:extLst>
              </a:tr>
            </a:tbl>
          </a:graphicData>
        </a:graphic>
      </p:graphicFrame>
      <p:grpSp>
        <p:nvGrpSpPr>
          <p:cNvPr id="29" name="Group 28">
            <a:extLst>
              <a:ext uri="{FF2B5EF4-FFF2-40B4-BE49-F238E27FC236}">
                <a16:creationId xmlns:a16="http://schemas.microsoft.com/office/drawing/2014/main" id="{4D792F77-21C2-D031-79A8-2C699B856EE4}"/>
              </a:ext>
            </a:extLst>
          </p:cNvPr>
          <p:cNvGrpSpPr/>
          <p:nvPr/>
        </p:nvGrpSpPr>
        <p:grpSpPr>
          <a:xfrm>
            <a:off x="6355773" y="2089696"/>
            <a:ext cx="3057060" cy="553998"/>
            <a:chOff x="6355773" y="2089696"/>
            <a:chExt cx="3057060" cy="553998"/>
          </a:xfrm>
        </p:grpSpPr>
        <p:sp>
          <p:nvSpPr>
            <p:cNvPr id="9" name="TextBox 8">
              <a:extLst>
                <a:ext uri="{FF2B5EF4-FFF2-40B4-BE49-F238E27FC236}">
                  <a16:creationId xmlns:a16="http://schemas.microsoft.com/office/drawing/2014/main" id="{ABA4F799-29B6-CF56-AF24-31F4FDEB18B2}"/>
                </a:ext>
              </a:extLst>
            </p:cNvPr>
            <p:cNvSpPr txBox="1"/>
            <p:nvPr/>
          </p:nvSpPr>
          <p:spPr>
            <a:xfrm>
              <a:off x="8556508" y="2274362"/>
              <a:ext cx="856325" cy="369332"/>
            </a:xfrm>
            <a:prstGeom prst="rect">
              <a:avLst/>
            </a:prstGeom>
            <a:noFill/>
          </p:spPr>
          <p:txBody>
            <a:bodyPr wrap="none" rtlCol="0">
              <a:spAutoFit/>
            </a:bodyPr>
            <a:lstStyle/>
            <a:p>
              <a:r>
                <a:rPr lang="en-US" dirty="0"/>
                <a:t>Block 1</a:t>
              </a:r>
            </a:p>
          </p:txBody>
        </p:sp>
        <p:sp>
          <p:nvSpPr>
            <p:cNvPr id="18" name="TextBox 17">
              <a:extLst>
                <a:ext uri="{FF2B5EF4-FFF2-40B4-BE49-F238E27FC236}">
                  <a16:creationId xmlns:a16="http://schemas.microsoft.com/office/drawing/2014/main" id="{B6319614-0045-A271-E78F-C8E6EA970501}"/>
                </a:ext>
              </a:extLst>
            </p:cNvPr>
            <p:cNvSpPr txBox="1"/>
            <p:nvPr/>
          </p:nvSpPr>
          <p:spPr>
            <a:xfrm>
              <a:off x="6355773" y="2089696"/>
              <a:ext cx="1057469" cy="369332"/>
            </a:xfrm>
            <a:prstGeom prst="rect">
              <a:avLst/>
            </a:prstGeom>
            <a:noFill/>
          </p:spPr>
          <p:txBody>
            <a:bodyPr wrap="none" rtlCol="0">
              <a:spAutoFit/>
            </a:bodyPr>
            <a:lstStyle/>
            <a:p>
              <a:r>
                <a:rPr lang="en-US" b="1" dirty="0"/>
                <a:t>Split-plot</a:t>
              </a:r>
            </a:p>
          </p:txBody>
        </p:sp>
      </p:grpSp>
      <p:graphicFrame>
        <p:nvGraphicFramePr>
          <p:cNvPr id="19" name="Table 8">
            <a:extLst>
              <a:ext uri="{FF2B5EF4-FFF2-40B4-BE49-F238E27FC236}">
                <a16:creationId xmlns:a16="http://schemas.microsoft.com/office/drawing/2014/main" id="{3D9EDB92-7966-D778-76B7-4676942DB4D3}"/>
              </a:ext>
            </a:extLst>
          </p:cNvPr>
          <p:cNvGraphicFramePr>
            <a:graphicFrameLocks/>
          </p:cNvGraphicFramePr>
          <p:nvPr/>
        </p:nvGraphicFramePr>
        <p:xfrm>
          <a:off x="6354810" y="2643694"/>
          <a:ext cx="5257797" cy="1137612"/>
        </p:xfrm>
        <a:graphic>
          <a:graphicData uri="http://schemas.openxmlformats.org/drawingml/2006/table">
            <a:tbl>
              <a:tblPr firstRow="1" bandRow="1">
                <a:tableStyleId>{C083E6E3-FA7D-4D7B-A595-EF9225AFEA82}</a:tableStyleId>
              </a:tblPr>
              <a:tblGrid>
                <a:gridCol w="5257797">
                  <a:extLst>
                    <a:ext uri="{9D8B030D-6E8A-4147-A177-3AD203B41FA5}">
                      <a16:colId xmlns:a16="http://schemas.microsoft.com/office/drawing/2014/main" val="784829068"/>
                    </a:ext>
                  </a:extLst>
                </a:gridCol>
              </a:tblGrid>
              <a:tr h="406092">
                <a:tc>
                  <a:txBody>
                    <a:bodyPr/>
                    <a:lstStyle/>
                    <a:p>
                      <a:r>
                        <a:rPr lang="en-US" b="0" dirty="0"/>
                        <a:t>1x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r h="352463">
                <a:tc>
                  <a:txBody>
                    <a:bodyPr/>
                    <a:lstStyle/>
                    <a:p>
                      <a:r>
                        <a:rPr lang="en-US" b="0" dirty="0"/>
                        <a:t>3x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057490"/>
                  </a:ext>
                </a:extLst>
              </a:tr>
              <a:tr h="352463">
                <a:tc>
                  <a:txBody>
                    <a:bodyPr/>
                    <a:lstStyle/>
                    <a:p>
                      <a:r>
                        <a:rPr lang="en-US" b="0" dirty="0"/>
                        <a:t>2x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40891"/>
                  </a:ext>
                </a:extLst>
              </a:tr>
            </a:tbl>
          </a:graphicData>
        </a:graphic>
      </p:graphicFrame>
      <p:graphicFrame>
        <p:nvGraphicFramePr>
          <p:cNvPr id="20" name="Table 8">
            <a:extLst>
              <a:ext uri="{FF2B5EF4-FFF2-40B4-BE49-F238E27FC236}">
                <a16:creationId xmlns:a16="http://schemas.microsoft.com/office/drawing/2014/main" id="{CF356CD0-22C4-1031-93EE-91683C6ED45C}"/>
              </a:ext>
            </a:extLst>
          </p:cNvPr>
          <p:cNvGraphicFramePr>
            <a:graphicFrameLocks/>
          </p:cNvGraphicFramePr>
          <p:nvPr>
            <p:extLst>
              <p:ext uri="{D42A27DB-BD31-4B8C-83A1-F6EECF244321}">
                <p14:modId xmlns:p14="http://schemas.microsoft.com/office/powerpoint/2010/main" val="1843860005"/>
              </p:ext>
            </p:extLst>
          </p:nvPr>
        </p:nvGraphicFramePr>
        <p:xfrm>
          <a:off x="6354809" y="2642524"/>
          <a:ext cx="5257797" cy="1137612"/>
        </p:xfrm>
        <a:graphic>
          <a:graphicData uri="http://schemas.openxmlformats.org/drawingml/2006/table">
            <a:tbl>
              <a:tblPr firstRow="1" bandRow="1">
                <a:tableStyleId>{C083E6E3-FA7D-4D7B-A595-EF9225AFEA82}</a:tableStyleId>
              </a:tblPr>
              <a:tblGrid>
                <a:gridCol w="1752599">
                  <a:extLst>
                    <a:ext uri="{9D8B030D-6E8A-4147-A177-3AD203B41FA5}">
                      <a16:colId xmlns:a16="http://schemas.microsoft.com/office/drawing/2014/main" val="784829068"/>
                    </a:ext>
                  </a:extLst>
                </a:gridCol>
                <a:gridCol w="1752599">
                  <a:extLst>
                    <a:ext uri="{9D8B030D-6E8A-4147-A177-3AD203B41FA5}">
                      <a16:colId xmlns:a16="http://schemas.microsoft.com/office/drawing/2014/main" val="1219213257"/>
                    </a:ext>
                  </a:extLst>
                </a:gridCol>
                <a:gridCol w="1752599">
                  <a:extLst>
                    <a:ext uri="{9D8B030D-6E8A-4147-A177-3AD203B41FA5}">
                      <a16:colId xmlns:a16="http://schemas.microsoft.com/office/drawing/2014/main" val="1030785392"/>
                    </a:ext>
                  </a:extLst>
                </a:gridCol>
              </a:tblGrid>
              <a:tr h="406092">
                <a:tc>
                  <a:txBody>
                    <a:bodyPr/>
                    <a:lstStyle/>
                    <a:p>
                      <a:r>
                        <a:rPr lang="en-US" b="0" dirty="0"/>
                        <a:t>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r h="352463">
                <a:tc>
                  <a:txBody>
                    <a:bodyPr/>
                    <a:lstStyle/>
                    <a:p>
                      <a:r>
                        <a:rPr lang="en-US" b="0" dirty="0"/>
                        <a:t>      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057490"/>
                  </a:ext>
                </a:extLst>
              </a:tr>
              <a:tr h="352463">
                <a:tc>
                  <a:txBody>
                    <a:bodyPr/>
                    <a:lstStyle/>
                    <a:p>
                      <a:r>
                        <a:rPr lang="en-US" b="0" dirty="0"/>
                        <a:t>      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40891"/>
                  </a:ext>
                </a:extLst>
              </a:tr>
            </a:tbl>
          </a:graphicData>
        </a:graphic>
      </p:graphicFrame>
      <p:grpSp>
        <p:nvGrpSpPr>
          <p:cNvPr id="28" name="Group 27">
            <a:extLst>
              <a:ext uri="{FF2B5EF4-FFF2-40B4-BE49-F238E27FC236}">
                <a16:creationId xmlns:a16="http://schemas.microsoft.com/office/drawing/2014/main" id="{6D3A4BD6-59BC-F042-F682-14BB1D223786}"/>
              </a:ext>
            </a:extLst>
          </p:cNvPr>
          <p:cNvGrpSpPr/>
          <p:nvPr/>
        </p:nvGrpSpPr>
        <p:grpSpPr>
          <a:xfrm>
            <a:off x="5931478" y="2809295"/>
            <a:ext cx="329044" cy="872398"/>
            <a:chOff x="5931478" y="2809295"/>
            <a:chExt cx="329044" cy="872398"/>
          </a:xfrm>
        </p:grpSpPr>
        <p:sp>
          <p:nvSpPr>
            <p:cNvPr id="25" name="Right Arrow 24">
              <a:extLst>
                <a:ext uri="{FF2B5EF4-FFF2-40B4-BE49-F238E27FC236}">
                  <a16:creationId xmlns:a16="http://schemas.microsoft.com/office/drawing/2014/main" id="{92F6CB8C-7076-9CC6-03CB-4268212CCAF2}"/>
                </a:ext>
              </a:extLst>
            </p:cNvPr>
            <p:cNvSpPr/>
            <p:nvPr/>
          </p:nvSpPr>
          <p:spPr>
            <a:xfrm>
              <a:off x="5931478" y="2809295"/>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BF0D0859-84BF-A7D6-1BCA-2366F1DCCF3D}"/>
                </a:ext>
              </a:extLst>
            </p:cNvPr>
            <p:cNvSpPr/>
            <p:nvPr/>
          </p:nvSpPr>
          <p:spPr>
            <a:xfrm>
              <a:off x="5931478" y="3159221"/>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17F3B5F1-5A1F-FC27-0B4D-E4ABDB303468}"/>
                </a:ext>
              </a:extLst>
            </p:cNvPr>
            <p:cNvSpPr/>
            <p:nvPr/>
          </p:nvSpPr>
          <p:spPr>
            <a:xfrm>
              <a:off x="5931478" y="3539102"/>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1C79962F-E7E6-3574-ED58-0D950B029CA5}"/>
              </a:ext>
            </a:extLst>
          </p:cNvPr>
          <p:cNvGrpSpPr/>
          <p:nvPr/>
        </p:nvGrpSpPr>
        <p:grpSpPr>
          <a:xfrm>
            <a:off x="6361617" y="4137907"/>
            <a:ext cx="3147925" cy="390706"/>
            <a:chOff x="6361617" y="4137907"/>
            <a:chExt cx="3147925" cy="390706"/>
          </a:xfrm>
        </p:grpSpPr>
        <p:sp>
          <p:nvSpPr>
            <p:cNvPr id="13" name="TextBox 12">
              <a:extLst>
                <a:ext uri="{FF2B5EF4-FFF2-40B4-BE49-F238E27FC236}">
                  <a16:creationId xmlns:a16="http://schemas.microsoft.com/office/drawing/2014/main" id="{6ED581D1-EA53-223E-B3CC-C033EA5DA926}"/>
                </a:ext>
              </a:extLst>
            </p:cNvPr>
            <p:cNvSpPr txBox="1"/>
            <p:nvPr/>
          </p:nvSpPr>
          <p:spPr>
            <a:xfrm>
              <a:off x="8653217" y="4159281"/>
              <a:ext cx="856325" cy="369332"/>
            </a:xfrm>
            <a:prstGeom prst="rect">
              <a:avLst/>
            </a:prstGeom>
            <a:noFill/>
          </p:spPr>
          <p:txBody>
            <a:bodyPr wrap="none" rtlCol="0">
              <a:spAutoFit/>
            </a:bodyPr>
            <a:lstStyle/>
            <a:p>
              <a:r>
                <a:rPr lang="en-US" dirty="0"/>
                <a:t>Block 1</a:t>
              </a:r>
            </a:p>
          </p:txBody>
        </p:sp>
        <p:sp>
          <p:nvSpPr>
            <p:cNvPr id="30" name="TextBox 29">
              <a:extLst>
                <a:ext uri="{FF2B5EF4-FFF2-40B4-BE49-F238E27FC236}">
                  <a16:creationId xmlns:a16="http://schemas.microsoft.com/office/drawing/2014/main" id="{B04C08A6-A0D0-2497-7ADE-49B6D393AB09}"/>
                </a:ext>
              </a:extLst>
            </p:cNvPr>
            <p:cNvSpPr txBox="1"/>
            <p:nvPr/>
          </p:nvSpPr>
          <p:spPr>
            <a:xfrm>
              <a:off x="6361617" y="4137907"/>
              <a:ext cx="1088760" cy="369332"/>
            </a:xfrm>
            <a:prstGeom prst="rect">
              <a:avLst/>
            </a:prstGeom>
            <a:noFill/>
          </p:spPr>
          <p:txBody>
            <a:bodyPr wrap="none" rtlCol="0">
              <a:spAutoFit/>
            </a:bodyPr>
            <a:lstStyle/>
            <a:p>
              <a:r>
                <a:rPr lang="en-US" b="1" dirty="0">
                  <a:solidFill>
                    <a:srgbClr val="C00000"/>
                  </a:solidFill>
                </a:rPr>
                <a:t>Strip-plot</a:t>
              </a:r>
            </a:p>
          </p:txBody>
        </p:sp>
      </p:grpSp>
      <p:grpSp>
        <p:nvGrpSpPr>
          <p:cNvPr id="40" name="Group 39">
            <a:extLst>
              <a:ext uri="{FF2B5EF4-FFF2-40B4-BE49-F238E27FC236}">
                <a16:creationId xmlns:a16="http://schemas.microsoft.com/office/drawing/2014/main" id="{5A4E0E74-4B29-31B9-7F56-A5A464A39EF2}"/>
              </a:ext>
            </a:extLst>
          </p:cNvPr>
          <p:cNvGrpSpPr/>
          <p:nvPr/>
        </p:nvGrpSpPr>
        <p:grpSpPr>
          <a:xfrm>
            <a:off x="5961026" y="4898743"/>
            <a:ext cx="5677958" cy="1137612"/>
            <a:chOff x="1735284" y="5542804"/>
            <a:chExt cx="5677958" cy="1137612"/>
          </a:xfrm>
        </p:grpSpPr>
        <p:graphicFrame>
          <p:nvGraphicFramePr>
            <p:cNvPr id="31" name="Table 8">
              <a:extLst>
                <a:ext uri="{FF2B5EF4-FFF2-40B4-BE49-F238E27FC236}">
                  <a16:creationId xmlns:a16="http://schemas.microsoft.com/office/drawing/2014/main" id="{C00CF3EB-113D-CBC6-1900-ED95DEB61403}"/>
                </a:ext>
              </a:extLst>
            </p:cNvPr>
            <p:cNvGraphicFramePr>
              <a:graphicFrameLocks/>
            </p:cNvGraphicFramePr>
            <p:nvPr/>
          </p:nvGraphicFramePr>
          <p:xfrm>
            <a:off x="2155445" y="5542804"/>
            <a:ext cx="5257797" cy="1137612"/>
          </p:xfrm>
          <a:graphic>
            <a:graphicData uri="http://schemas.openxmlformats.org/drawingml/2006/table">
              <a:tbl>
                <a:tblPr firstRow="1" bandRow="1">
                  <a:tableStyleId>{C083E6E3-FA7D-4D7B-A595-EF9225AFEA82}</a:tableStyleId>
                </a:tblPr>
                <a:tblGrid>
                  <a:gridCol w="5257797">
                    <a:extLst>
                      <a:ext uri="{9D8B030D-6E8A-4147-A177-3AD203B41FA5}">
                        <a16:colId xmlns:a16="http://schemas.microsoft.com/office/drawing/2014/main" val="784829068"/>
                      </a:ext>
                    </a:extLst>
                  </a:gridCol>
                </a:tblGrid>
                <a:tr h="406092">
                  <a:tc>
                    <a:txBody>
                      <a:bodyPr/>
                      <a:lstStyle/>
                      <a:p>
                        <a:r>
                          <a:rPr lang="en-US" b="0" dirty="0"/>
                          <a:t>1x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r h="352463">
                  <a:tc>
                    <a:txBody>
                      <a:bodyPr/>
                      <a:lstStyle/>
                      <a:p>
                        <a:r>
                          <a:rPr lang="en-US" b="0" dirty="0"/>
                          <a:t>3x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057490"/>
                    </a:ext>
                  </a:extLst>
                </a:tr>
                <a:tr h="352463">
                  <a:tc>
                    <a:txBody>
                      <a:bodyPr/>
                      <a:lstStyle/>
                      <a:p>
                        <a:r>
                          <a:rPr lang="en-US" b="0" dirty="0"/>
                          <a:t>2x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40891"/>
                    </a:ext>
                  </a:extLst>
                </a:tr>
              </a:tbl>
            </a:graphicData>
          </a:graphic>
        </p:graphicFrame>
        <p:grpSp>
          <p:nvGrpSpPr>
            <p:cNvPr id="32" name="Group 31">
              <a:extLst>
                <a:ext uri="{FF2B5EF4-FFF2-40B4-BE49-F238E27FC236}">
                  <a16:creationId xmlns:a16="http://schemas.microsoft.com/office/drawing/2014/main" id="{F3990C74-857D-E391-E3C6-848C655EA187}"/>
                </a:ext>
              </a:extLst>
            </p:cNvPr>
            <p:cNvGrpSpPr/>
            <p:nvPr/>
          </p:nvGrpSpPr>
          <p:grpSpPr>
            <a:xfrm>
              <a:off x="1735284" y="5675411"/>
              <a:ext cx="329044" cy="872398"/>
              <a:chOff x="5931478" y="2809295"/>
              <a:chExt cx="329044" cy="872398"/>
            </a:xfrm>
          </p:grpSpPr>
          <p:sp>
            <p:nvSpPr>
              <p:cNvPr id="33" name="Right Arrow 32">
                <a:extLst>
                  <a:ext uri="{FF2B5EF4-FFF2-40B4-BE49-F238E27FC236}">
                    <a16:creationId xmlns:a16="http://schemas.microsoft.com/office/drawing/2014/main" id="{DCD07F40-F88E-561E-6A58-663C4D3ED3E4}"/>
                  </a:ext>
                </a:extLst>
              </p:cNvPr>
              <p:cNvSpPr/>
              <p:nvPr/>
            </p:nvSpPr>
            <p:spPr>
              <a:xfrm>
                <a:off x="5931478" y="2809295"/>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ight Arrow 33">
                <a:extLst>
                  <a:ext uri="{FF2B5EF4-FFF2-40B4-BE49-F238E27FC236}">
                    <a16:creationId xmlns:a16="http://schemas.microsoft.com/office/drawing/2014/main" id="{0F34F461-3C4C-C278-CBDB-0E216B834FC9}"/>
                  </a:ext>
                </a:extLst>
              </p:cNvPr>
              <p:cNvSpPr/>
              <p:nvPr/>
            </p:nvSpPr>
            <p:spPr>
              <a:xfrm>
                <a:off x="5931478" y="3159221"/>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Arrow 34">
                <a:extLst>
                  <a:ext uri="{FF2B5EF4-FFF2-40B4-BE49-F238E27FC236}">
                    <a16:creationId xmlns:a16="http://schemas.microsoft.com/office/drawing/2014/main" id="{94946C57-F472-7791-B311-6B4359F4BE39}"/>
                  </a:ext>
                </a:extLst>
              </p:cNvPr>
              <p:cNvSpPr/>
              <p:nvPr/>
            </p:nvSpPr>
            <p:spPr>
              <a:xfrm>
                <a:off x="5931478" y="3539102"/>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2" name="Group 41">
            <a:extLst>
              <a:ext uri="{FF2B5EF4-FFF2-40B4-BE49-F238E27FC236}">
                <a16:creationId xmlns:a16="http://schemas.microsoft.com/office/drawing/2014/main" id="{9F13EEF0-F874-1086-4BC9-C0CDD22D4274}"/>
              </a:ext>
            </a:extLst>
          </p:cNvPr>
          <p:cNvGrpSpPr/>
          <p:nvPr/>
        </p:nvGrpSpPr>
        <p:grpSpPr>
          <a:xfrm>
            <a:off x="6381187" y="4507239"/>
            <a:ext cx="5257797" cy="1513152"/>
            <a:chOff x="6508171" y="4930327"/>
            <a:chExt cx="5257797" cy="1513152"/>
          </a:xfrm>
        </p:grpSpPr>
        <p:graphicFrame>
          <p:nvGraphicFramePr>
            <p:cNvPr id="12" name="Table 8">
              <a:extLst>
                <a:ext uri="{FF2B5EF4-FFF2-40B4-BE49-F238E27FC236}">
                  <a16:creationId xmlns:a16="http://schemas.microsoft.com/office/drawing/2014/main" id="{26472E7B-9B36-D037-52CE-D36698061EC0}"/>
                </a:ext>
              </a:extLst>
            </p:cNvPr>
            <p:cNvGraphicFramePr>
              <a:graphicFrameLocks/>
            </p:cNvGraphicFramePr>
            <p:nvPr/>
          </p:nvGraphicFramePr>
          <p:xfrm>
            <a:off x="6508171" y="5332461"/>
            <a:ext cx="5257797" cy="1111018"/>
          </p:xfrm>
          <a:graphic>
            <a:graphicData uri="http://schemas.openxmlformats.org/drawingml/2006/table">
              <a:tbl>
                <a:tblPr firstRow="1" bandRow="1">
                  <a:tableStyleId>{C083E6E3-FA7D-4D7B-A595-EF9225AFEA82}</a:tableStyleId>
                </a:tblPr>
                <a:tblGrid>
                  <a:gridCol w="1752599">
                    <a:extLst>
                      <a:ext uri="{9D8B030D-6E8A-4147-A177-3AD203B41FA5}">
                        <a16:colId xmlns:a16="http://schemas.microsoft.com/office/drawing/2014/main" val="784829068"/>
                      </a:ext>
                    </a:extLst>
                  </a:gridCol>
                  <a:gridCol w="1752599">
                    <a:extLst>
                      <a:ext uri="{9D8B030D-6E8A-4147-A177-3AD203B41FA5}">
                        <a16:colId xmlns:a16="http://schemas.microsoft.com/office/drawing/2014/main" val="1219213257"/>
                      </a:ext>
                    </a:extLst>
                  </a:gridCol>
                  <a:gridCol w="1752599">
                    <a:extLst>
                      <a:ext uri="{9D8B030D-6E8A-4147-A177-3AD203B41FA5}">
                        <a16:colId xmlns:a16="http://schemas.microsoft.com/office/drawing/2014/main" val="1030785392"/>
                      </a:ext>
                    </a:extLst>
                  </a:gridCol>
                </a:tblGrid>
                <a:tr h="1111018">
                  <a:tc>
                    <a:txBody>
                      <a:bodyPr/>
                      <a:lstStyle/>
                      <a:p>
                        <a:pPr algn="ctr"/>
                        <a:r>
                          <a:rPr lang="en-US" b="0"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bl>
            </a:graphicData>
          </a:graphic>
        </p:graphicFrame>
        <p:grpSp>
          <p:nvGrpSpPr>
            <p:cNvPr id="41" name="Group 40">
              <a:extLst>
                <a:ext uri="{FF2B5EF4-FFF2-40B4-BE49-F238E27FC236}">
                  <a16:creationId xmlns:a16="http://schemas.microsoft.com/office/drawing/2014/main" id="{25A82457-F878-CB3A-6431-82A9997E715C}"/>
                </a:ext>
              </a:extLst>
            </p:cNvPr>
            <p:cNvGrpSpPr/>
            <p:nvPr/>
          </p:nvGrpSpPr>
          <p:grpSpPr>
            <a:xfrm>
              <a:off x="7341945" y="4930327"/>
              <a:ext cx="3615052" cy="329045"/>
              <a:chOff x="7341945" y="4930327"/>
              <a:chExt cx="3615052" cy="329045"/>
            </a:xfrm>
          </p:grpSpPr>
          <p:sp>
            <p:nvSpPr>
              <p:cNvPr id="37" name="Right Arrow 36">
                <a:extLst>
                  <a:ext uri="{FF2B5EF4-FFF2-40B4-BE49-F238E27FC236}">
                    <a16:creationId xmlns:a16="http://schemas.microsoft.com/office/drawing/2014/main" id="{200E1AAA-A773-B9DD-28AD-EBC77363E8F2}"/>
                  </a:ext>
                </a:extLst>
              </p:cNvPr>
              <p:cNvSpPr/>
              <p:nvPr/>
            </p:nvSpPr>
            <p:spPr>
              <a:xfrm rot="5400000">
                <a:off x="10721180" y="5023553"/>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a:extLst>
                  <a:ext uri="{FF2B5EF4-FFF2-40B4-BE49-F238E27FC236}">
                    <a16:creationId xmlns:a16="http://schemas.microsoft.com/office/drawing/2014/main" id="{8684D83D-6FC4-F2C2-855A-A6B5935A89C1}"/>
                  </a:ext>
                </a:extLst>
              </p:cNvPr>
              <p:cNvSpPr/>
              <p:nvPr/>
            </p:nvSpPr>
            <p:spPr>
              <a:xfrm rot="5400000">
                <a:off x="8972546" y="5023554"/>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38">
                <a:extLst>
                  <a:ext uri="{FF2B5EF4-FFF2-40B4-BE49-F238E27FC236}">
                    <a16:creationId xmlns:a16="http://schemas.microsoft.com/office/drawing/2014/main" id="{F3219513-9C74-1B26-FD27-4B2809A08B51}"/>
                  </a:ext>
                </a:extLst>
              </p:cNvPr>
              <p:cNvSpPr/>
              <p:nvPr/>
            </p:nvSpPr>
            <p:spPr>
              <a:xfrm rot="5400000">
                <a:off x="7248719" y="5023553"/>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D699E755-FF42-FFEF-D0A4-9CE2DC401924}"/>
              </a:ext>
            </a:extLst>
          </p:cNvPr>
          <p:cNvGrpSpPr/>
          <p:nvPr/>
        </p:nvGrpSpPr>
        <p:grpSpPr>
          <a:xfrm>
            <a:off x="5955430" y="4896600"/>
            <a:ext cx="5677958" cy="1137612"/>
            <a:chOff x="1735284" y="5542804"/>
            <a:chExt cx="5677958" cy="1137612"/>
          </a:xfrm>
        </p:grpSpPr>
        <p:graphicFrame>
          <p:nvGraphicFramePr>
            <p:cNvPr id="45" name="Table 8">
              <a:extLst>
                <a:ext uri="{FF2B5EF4-FFF2-40B4-BE49-F238E27FC236}">
                  <a16:creationId xmlns:a16="http://schemas.microsoft.com/office/drawing/2014/main" id="{08C4F626-0AC8-B14D-8DC8-594CC71C27B9}"/>
                </a:ext>
              </a:extLst>
            </p:cNvPr>
            <p:cNvGraphicFramePr>
              <a:graphicFrameLocks/>
            </p:cNvGraphicFramePr>
            <p:nvPr/>
          </p:nvGraphicFramePr>
          <p:xfrm>
            <a:off x="2155445" y="5542804"/>
            <a:ext cx="5257797" cy="1137612"/>
          </p:xfrm>
          <a:graphic>
            <a:graphicData uri="http://schemas.openxmlformats.org/drawingml/2006/table">
              <a:tbl>
                <a:tblPr firstRow="1" bandRow="1">
                  <a:tableStyleId>{C083E6E3-FA7D-4D7B-A595-EF9225AFEA82}</a:tableStyleId>
                </a:tblPr>
                <a:tblGrid>
                  <a:gridCol w="5257797">
                    <a:extLst>
                      <a:ext uri="{9D8B030D-6E8A-4147-A177-3AD203B41FA5}">
                        <a16:colId xmlns:a16="http://schemas.microsoft.com/office/drawing/2014/main" val="784829068"/>
                      </a:ext>
                    </a:extLst>
                  </a:gridCol>
                </a:tblGrid>
                <a:tr h="406092">
                  <a:tc>
                    <a:txBody>
                      <a:bodyPr/>
                      <a:lstStyle/>
                      <a:p>
                        <a:r>
                          <a:rPr lang="en-US" b="0" dirty="0"/>
                          <a:t>1x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488901"/>
                    </a:ext>
                  </a:extLst>
                </a:tr>
                <a:tr h="352463">
                  <a:tc>
                    <a:txBody>
                      <a:bodyPr/>
                      <a:lstStyle/>
                      <a:p>
                        <a:r>
                          <a:rPr lang="en-US" b="0" dirty="0"/>
                          <a:t>3x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057490"/>
                    </a:ext>
                  </a:extLst>
                </a:tr>
                <a:tr h="352463">
                  <a:tc>
                    <a:txBody>
                      <a:bodyPr/>
                      <a:lstStyle/>
                      <a:p>
                        <a:r>
                          <a:rPr lang="en-US" b="0" dirty="0"/>
                          <a:t>2x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40891"/>
                    </a:ext>
                  </a:extLst>
                </a:tr>
              </a:tbl>
            </a:graphicData>
          </a:graphic>
        </p:graphicFrame>
        <p:grpSp>
          <p:nvGrpSpPr>
            <p:cNvPr id="46" name="Group 45">
              <a:extLst>
                <a:ext uri="{FF2B5EF4-FFF2-40B4-BE49-F238E27FC236}">
                  <a16:creationId xmlns:a16="http://schemas.microsoft.com/office/drawing/2014/main" id="{BDBA73A3-A187-8000-C842-4C22FA06F24D}"/>
                </a:ext>
              </a:extLst>
            </p:cNvPr>
            <p:cNvGrpSpPr/>
            <p:nvPr/>
          </p:nvGrpSpPr>
          <p:grpSpPr>
            <a:xfrm>
              <a:off x="1735284" y="5675411"/>
              <a:ext cx="329044" cy="872398"/>
              <a:chOff x="5931478" y="2809295"/>
              <a:chExt cx="329044" cy="872398"/>
            </a:xfrm>
          </p:grpSpPr>
          <p:sp>
            <p:nvSpPr>
              <p:cNvPr id="47" name="Right Arrow 46">
                <a:extLst>
                  <a:ext uri="{FF2B5EF4-FFF2-40B4-BE49-F238E27FC236}">
                    <a16:creationId xmlns:a16="http://schemas.microsoft.com/office/drawing/2014/main" id="{67FF7EB3-1494-DD50-8D0D-7697A097BEB6}"/>
                  </a:ext>
                </a:extLst>
              </p:cNvPr>
              <p:cNvSpPr/>
              <p:nvPr/>
            </p:nvSpPr>
            <p:spPr>
              <a:xfrm>
                <a:off x="5931478" y="2809295"/>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ight Arrow 47">
                <a:extLst>
                  <a:ext uri="{FF2B5EF4-FFF2-40B4-BE49-F238E27FC236}">
                    <a16:creationId xmlns:a16="http://schemas.microsoft.com/office/drawing/2014/main" id="{DBB18BFE-5C6C-47F9-175D-DA70F73B9C80}"/>
                  </a:ext>
                </a:extLst>
              </p:cNvPr>
              <p:cNvSpPr/>
              <p:nvPr/>
            </p:nvSpPr>
            <p:spPr>
              <a:xfrm>
                <a:off x="5931478" y="3159221"/>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48">
                <a:extLst>
                  <a:ext uri="{FF2B5EF4-FFF2-40B4-BE49-F238E27FC236}">
                    <a16:creationId xmlns:a16="http://schemas.microsoft.com/office/drawing/2014/main" id="{10F8D2C4-C1F9-995E-A335-B73F70263210}"/>
                  </a:ext>
                </a:extLst>
              </p:cNvPr>
              <p:cNvSpPr/>
              <p:nvPr/>
            </p:nvSpPr>
            <p:spPr>
              <a:xfrm>
                <a:off x="5931478" y="3539102"/>
                <a:ext cx="329044" cy="1425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81995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40"/>
                                        </p:tgtEl>
                                      </p:cBhvr>
                                    </p:animEffect>
                                    <p:set>
                                      <p:cBhvr>
                                        <p:cTn id="39" dur="1" fill="hold">
                                          <p:stCondLst>
                                            <p:cond delay="499"/>
                                          </p:stCondLst>
                                        </p:cTn>
                                        <p:tgtEl>
                                          <p:spTgt spid="40"/>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2CDE-B11D-07FC-75A3-D5FB34F17BBD}"/>
              </a:ext>
            </a:extLst>
          </p:cNvPr>
          <p:cNvSpPr>
            <a:spLocks noGrp="1"/>
          </p:cNvSpPr>
          <p:nvPr>
            <p:ph type="title"/>
          </p:nvPr>
        </p:nvSpPr>
        <p:spPr/>
        <p:txBody>
          <a:bodyPr/>
          <a:lstStyle/>
          <a:p>
            <a:pPr algn="ctr"/>
            <a:r>
              <a:rPr lang="en-US" dirty="0"/>
              <a:t>Comparing different designs</a:t>
            </a:r>
          </a:p>
        </p:txBody>
      </p:sp>
      <p:pic>
        <p:nvPicPr>
          <p:cNvPr id="6" name="Picture 5">
            <a:extLst>
              <a:ext uri="{FF2B5EF4-FFF2-40B4-BE49-F238E27FC236}">
                <a16:creationId xmlns:a16="http://schemas.microsoft.com/office/drawing/2014/main" id="{9554C5EB-8F11-B91E-B9C1-546202D68A03}"/>
              </a:ext>
            </a:extLst>
          </p:cNvPr>
          <p:cNvPicPr>
            <a:picLocks noChangeAspect="1"/>
          </p:cNvPicPr>
          <p:nvPr/>
        </p:nvPicPr>
        <p:blipFill>
          <a:blip r:embed="rId2"/>
          <a:stretch>
            <a:fillRect/>
          </a:stretch>
        </p:blipFill>
        <p:spPr>
          <a:xfrm>
            <a:off x="1842946" y="2015681"/>
            <a:ext cx="8034576" cy="2614191"/>
          </a:xfrm>
          <a:prstGeom prst="rect">
            <a:avLst/>
          </a:prstGeom>
        </p:spPr>
      </p:pic>
    </p:spTree>
    <p:extLst>
      <p:ext uri="{BB962C8B-B14F-4D97-AF65-F5344CB8AC3E}">
        <p14:creationId xmlns:p14="http://schemas.microsoft.com/office/powerpoint/2010/main" val="1492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3195-8362-6EFD-EEDA-629B230DAA2F}"/>
              </a:ext>
            </a:extLst>
          </p:cNvPr>
          <p:cNvSpPr>
            <a:spLocks noGrp="1"/>
          </p:cNvSpPr>
          <p:nvPr>
            <p:ph type="title"/>
          </p:nvPr>
        </p:nvSpPr>
        <p:spPr/>
        <p:txBody>
          <a:bodyPr/>
          <a:lstStyle/>
          <a:p>
            <a:pPr algn="ctr"/>
            <a:r>
              <a:rPr lang="en-US" dirty="0"/>
              <a:t>Factorial CRD</a:t>
            </a:r>
          </a:p>
        </p:txBody>
      </p:sp>
      <p:sp>
        <p:nvSpPr>
          <p:cNvPr id="3" name="Content Placeholder 2">
            <a:extLst>
              <a:ext uri="{FF2B5EF4-FFF2-40B4-BE49-F238E27FC236}">
                <a16:creationId xmlns:a16="http://schemas.microsoft.com/office/drawing/2014/main" id="{4EB5C3C1-37EE-44D2-3761-FFA9672F69B4}"/>
              </a:ext>
            </a:extLst>
          </p:cNvPr>
          <p:cNvSpPr>
            <a:spLocks noGrp="1"/>
          </p:cNvSpPr>
          <p:nvPr>
            <p:ph idx="1"/>
          </p:nvPr>
        </p:nvSpPr>
        <p:spPr>
          <a:xfrm>
            <a:off x="838200" y="1825626"/>
            <a:ext cx="10515600" cy="521946"/>
          </a:xfrm>
        </p:spPr>
        <p:txBody>
          <a:bodyPr/>
          <a:lstStyle/>
          <a:p>
            <a:r>
              <a:rPr lang="en-US" dirty="0"/>
              <a:t>fat2.crd(treat, cultivar, height, </a:t>
            </a:r>
            <a:r>
              <a:rPr lang="en-US" dirty="0" err="1"/>
              <a:t>fac.names</a:t>
            </a:r>
            <a:r>
              <a:rPr lang="en-US" dirty="0"/>
              <a:t> = c("</a:t>
            </a:r>
            <a:r>
              <a:rPr lang="en-US" dirty="0" err="1"/>
              <a:t>treat","cultivar</a:t>
            </a:r>
            <a:r>
              <a:rPr lang="en-US" dirty="0"/>
              <a:t>"))</a:t>
            </a:r>
          </a:p>
        </p:txBody>
      </p:sp>
      <p:pic>
        <p:nvPicPr>
          <p:cNvPr id="5" name="Picture 4">
            <a:extLst>
              <a:ext uri="{FF2B5EF4-FFF2-40B4-BE49-F238E27FC236}">
                <a16:creationId xmlns:a16="http://schemas.microsoft.com/office/drawing/2014/main" id="{2CEC5E77-33BB-868F-4561-C77AF7EBFFD4}"/>
              </a:ext>
            </a:extLst>
          </p:cNvPr>
          <p:cNvPicPr>
            <a:picLocks noChangeAspect="1"/>
          </p:cNvPicPr>
          <p:nvPr/>
        </p:nvPicPr>
        <p:blipFill>
          <a:blip r:embed="rId2"/>
          <a:stretch>
            <a:fillRect/>
          </a:stretch>
        </p:blipFill>
        <p:spPr>
          <a:xfrm>
            <a:off x="838200" y="2347572"/>
            <a:ext cx="4508500" cy="2463800"/>
          </a:xfrm>
          <a:prstGeom prst="rect">
            <a:avLst/>
          </a:prstGeom>
        </p:spPr>
      </p:pic>
      <p:pic>
        <p:nvPicPr>
          <p:cNvPr id="6" name="Picture 5">
            <a:extLst>
              <a:ext uri="{FF2B5EF4-FFF2-40B4-BE49-F238E27FC236}">
                <a16:creationId xmlns:a16="http://schemas.microsoft.com/office/drawing/2014/main" id="{0E89ECFA-422A-AD2C-BFCC-2F0451164293}"/>
              </a:ext>
            </a:extLst>
          </p:cNvPr>
          <p:cNvPicPr>
            <a:picLocks noChangeAspect="1"/>
          </p:cNvPicPr>
          <p:nvPr/>
        </p:nvPicPr>
        <p:blipFill>
          <a:blip r:embed="rId3"/>
          <a:stretch>
            <a:fillRect/>
          </a:stretch>
        </p:blipFill>
        <p:spPr>
          <a:xfrm>
            <a:off x="5821102" y="2707511"/>
            <a:ext cx="5973848" cy="1802918"/>
          </a:xfrm>
          <a:prstGeom prst="rect">
            <a:avLst/>
          </a:prstGeom>
        </p:spPr>
      </p:pic>
    </p:spTree>
    <p:extLst>
      <p:ext uri="{BB962C8B-B14F-4D97-AF65-F5344CB8AC3E}">
        <p14:creationId xmlns:p14="http://schemas.microsoft.com/office/powerpoint/2010/main" val="231704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6222E-1C44-1D39-169B-122D8FB86AA3}"/>
              </a:ext>
            </a:extLst>
          </p:cNvPr>
          <p:cNvSpPr>
            <a:spLocks noGrp="1"/>
          </p:cNvSpPr>
          <p:nvPr>
            <p:ph type="title"/>
          </p:nvPr>
        </p:nvSpPr>
        <p:spPr/>
        <p:txBody>
          <a:bodyPr/>
          <a:lstStyle/>
          <a:p>
            <a:pPr algn="ctr"/>
            <a:r>
              <a:rPr lang="en-US" dirty="0"/>
              <a:t>Factorial RCBD</a:t>
            </a:r>
          </a:p>
        </p:txBody>
      </p:sp>
      <p:sp>
        <p:nvSpPr>
          <p:cNvPr id="3" name="Content Placeholder 2">
            <a:extLst>
              <a:ext uri="{FF2B5EF4-FFF2-40B4-BE49-F238E27FC236}">
                <a16:creationId xmlns:a16="http://schemas.microsoft.com/office/drawing/2014/main" id="{B189D368-0A03-21ED-BD29-F8B2D02E41D1}"/>
              </a:ext>
            </a:extLst>
          </p:cNvPr>
          <p:cNvSpPr>
            <a:spLocks noGrp="1"/>
          </p:cNvSpPr>
          <p:nvPr>
            <p:ph idx="1"/>
          </p:nvPr>
        </p:nvSpPr>
        <p:spPr>
          <a:xfrm>
            <a:off x="838200" y="1825625"/>
            <a:ext cx="10515600" cy="586105"/>
          </a:xfrm>
        </p:spPr>
        <p:txBody>
          <a:bodyPr>
            <a:normAutofit fontScale="92500"/>
          </a:bodyPr>
          <a:lstStyle/>
          <a:p>
            <a:r>
              <a:rPr lang="en-US" dirty="0"/>
              <a:t>fat2.rbd(treat, cultivar, block, height, </a:t>
            </a:r>
            <a:r>
              <a:rPr lang="en-US" dirty="0" err="1"/>
              <a:t>fac.names</a:t>
            </a:r>
            <a:r>
              <a:rPr lang="en-US" dirty="0"/>
              <a:t> = c("</a:t>
            </a:r>
            <a:r>
              <a:rPr lang="en-US" dirty="0" err="1"/>
              <a:t>treat","cultivar</a:t>
            </a:r>
            <a:r>
              <a:rPr lang="en-US" dirty="0"/>
              <a:t>"))</a:t>
            </a:r>
          </a:p>
        </p:txBody>
      </p:sp>
      <p:pic>
        <p:nvPicPr>
          <p:cNvPr id="4" name="Picture 3">
            <a:extLst>
              <a:ext uri="{FF2B5EF4-FFF2-40B4-BE49-F238E27FC236}">
                <a16:creationId xmlns:a16="http://schemas.microsoft.com/office/drawing/2014/main" id="{9DE52922-C697-72E6-EFDD-23E1D0FA4D02}"/>
              </a:ext>
            </a:extLst>
          </p:cNvPr>
          <p:cNvPicPr>
            <a:picLocks noChangeAspect="1"/>
          </p:cNvPicPr>
          <p:nvPr/>
        </p:nvPicPr>
        <p:blipFill>
          <a:blip r:embed="rId2"/>
          <a:stretch>
            <a:fillRect/>
          </a:stretch>
        </p:blipFill>
        <p:spPr>
          <a:xfrm>
            <a:off x="218344" y="2319984"/>
            <a:ext cx="5232400" cy="2730500"/>
          </a:xfrm>
          <a:prstGeom prst="rect">
            <a:avLst/>
          </a:prstGeom>
        </p:spPr>
      </p:pic>
      <p:pic>
        <p:nvPicPr>
          <p:cNvPr id="5" name="Picture 4">
            <a:extLst>
              <a:ext uri="{FF2B5EF4-FFF2-40B4-BE49-F238E27FC236}">
                <a16:creationId xmlns:a16="http://schemas.microsoft.com/office/drawing/2014/main" id="{D97627A8-0DE1-5A88-B188-C04A1FA46A31}"/>
              </a:ext>
            </a:extLst>
          </p:cNvPr>
          <p:cNvPicPr>
            <a:picLocks noChangeAspect="1"/>
          </p:cNvPicPr>
          <p:nvPr/>
        </p:nvPicPr>
        <p:blipFill>
          <a:blip r:embed="rId3"/>
          <a:stretch>
            <a:fillRect/>
          </a:stretch>
        </p:blipFill>
        <p:spPr>
          <a:xfrm>
            <a:off x="6096000" y="2546667"/>
            <a:ext cx="6045200" cy="2514600"/>
          </a:xfrm>
          <a:prstGeom prst="rect">
            <a:avLst/>
          </a:prstGeom>
        </p:spPr>
      </p:pic>
    </p:spTree>
    <p:extLst>
      <p:ext uri="{BB962C8B-B14F-4D97-AF65-F5344CB8AC3E}">
        <p14:creationId xmlns:p14="http://schemas.microsoft.com/office/powerpoint/2010/main" val="105789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C853-7833-39EB-0DF4-1710DE8DE2E9}"/>
              </a:ext>
            </a:extLst>
          </p:cNvPr>
          <p:cNvSpPr>
            <a:spLocks noGrp="1"/>
          </p:cNvSpPr>
          <p:nvPr>
            <p:ph type="title"/>
          </p:nvPr>
        </p:nvSpPr>
        <p:spPr/>
        <p:txBody>
          <a:bodyPr/>
          <a:lstStyle/>
          <a:p>
            <a:pPr algn="ctr"/>
            <a:r>
              <a:rPr lang="en-US" dirty="0"/>
              <a:t>Split-plot RCBD</a:t>
            </a:r>
          </a:p>
        </p:txBody>
      </p:sp>
      <p:sp>
        <p:nvSpPr>
          <p:cNvPr id="3" name="Content Placeholder 2">
            <a:extLst>
              <a:ext uri="{FF2B5EF4-FFF2-40B4-BE49-F238E27FC236}">
                <a16:creationId xmlns:a16="http://schemas.microsoft.com/office/drawing/2014/main" id="{EC645A79-6593-C9CA-AF9B-483517F6D096}"/>
              </a:ext>
            </a:extLst>
          </p:cNvPr>
          <p:cNvSpPr>
            <a:spLocks noGrp="1"/>
          </p:cNvSpPr>
          <p:nvPr>
            <p:ph idx="1"/>
          </p:nvPr>
        </p:nvSpPr>
        <p:spPr>
          <a:xfrm>
            <a:off x="502920" y="1825625"/>
            <a:ext cx="10850880" cy="540385"/>
          </a:xfrm>
        </p:spPr>
        <p:txBody>
          <a:bodyPr>
            <a:normAutofit fontScale="92500"/>
          </a:bodyPr>
          <a:lstStyle/>
          <a:p>
            <a:r>
              <a:rPr lang="en-US" dirty="0"/>
              <a:t>split2.rbd(treat, cultivar, block, height, </a:t>
            </a:r>
            <a:r>
              <a:rPr lang="en-US" dirty="0" err="1"/>
              <a:t>fac.names</a:t>
            </a:r>
            <a:r>
              <a:rPr lang="en-US" dirty="0"/>
              <a:t> = c("</a:t>
            </a:r>
            <a:r>
              <a:rPr lang="en-US" dirty="0" err="1"/>
              <a:t>treat","cultivar</a:t>
            </a:r>
            <a:r>
              <a:rPr lang="en-US" dirty="0"/>
              <a:t>"))</a:t>
            </a:r>
          </a:p>
        </p:txBody>
      </p:sp>
      <p:pic>
        <p:nvPicPr>
          <p:cNvPr id="4" name="Picture 3">
            <a:extLst>
              <a:ext uri="{FF2B5EF4-FFF2-40B4-BE49-F238E27FC236}">
                <a16:creationId xmlns:a16="http://schemas.microsoft.com/office/drawing/2014/main" id="{3B6B2224-FFE0-E1CE-5C46-F4031342029D}"/>
              </a:ext>
            </a:extLst>
          </p:cNvPr>
          <p:cNvPicPr>
            <a:picLocks noChangeAspect="1"/>
          </p:cNvPicPr>
          <p:nvPr/>
        </p:nvPicPr>
        <p:blipFill>
          <a:blip r:embed="rId3"/>
          <a:stretch>
            <a:fillRect/>
          </a:stretch>
        </p:blipFill>
        <p:spPr>
          <a:xfrm>
            <a:off x="47974" y="2763982"/>
            <a:ext cx="5373446" cy="3183428"/>
          </a:xfrm>
          <a:prstGeom prst="rect">
            <a:avLst/>
          </a:prstGeom>
        </p:spPr>
      </p:pic>
      <p:pic>
        <p:nvPicPr>
          <p:cNvPr id="5" name="Picture 4">
            <a:extLst>
              <a:ext uri="{FF2B5EF4-FFF2-40B4-BE49-F238E27FC236}">
                <a16:creationId xmlns:a16="http://schemas.microsoft.com/office/drawing/2014/main" id="{5938C612-BCFE-6242-0F16-7FF058C8AF78}"/>
              </a:ext>
            </a:extLst>
          </p:cNvPr>
          <p:cNvPicPr>
            <a:picLocks noChangeAspect="1"/>
          </p:cNvPicPr>
          <p:nvPr/>
        </p:nvPicPr>
        <p:blipFill>
          <a:blip r:embed="rId4"/>
          <a:stretch>
            <a:fillRect/>
          </a:stretch>
        </p:blipFill>
        <p:spPr>
          <a:xfrm>
            <a:off x="5646244" y="2617887"/>
            <a:ext cx="6497782" cy="4022921"/>
          </a:xfrm>
          <a:prstGeom prst="rect">
            <a:avLst/>
          </a:prstGeom>
        </p:spPr>
      </p:pic>
      <p:sp>
        <p:nvSpPr>
          <p:cNvPr id="6" name="TextBox 5">
            <a:extLst>
              <a:ext uri="{FF2B5EF4-FFF2-40B4-BE49-F238E27FC236}">
                <a16:creationId xmlns:a16="http://schemas.microsoft.com/office/drawing/2014/main" id="{E3ABD312-912C-A171-6829-92CEA13946CD}"/>
              </a:ext>
            </a:extLst>
          </p:cNvPr>
          <p:cNvSpPr txBox="1"/>
          <p:nvPr/>
        </p:nvSpPr>
        <p:spPr>
          <a:xfrm>
            <a:off x="4316893" y="1306578"/>
            <a:ext cx="3222934" cy="523220"/>
          </a:xfrm>
          <a:prstGeom prst="rect">
            <a:avLst/>
          </a:prstGeom>
          <a:solidFill>
            <a:schemeClr val="accent2"/>
          </a:solidFill>
        </p:spPr>
        <p:txBody>
          <a:bodyPr wrap="none" rtlCol="0">
            <a:spAutoFit/>
          </a:bodyPr>
          <a:lstStyle/>
          <a:p>
            <a:r>
              <a:rPr lang="en-US" sz="2800" dirty="0"/>
              <a:t>Block is a fixed effect</a:t>
            </a:r>
          </a:p>
        </p:txBody>
      </p:sp>
    </p:spTree>
    <p:extLst>
      <p:ext uri="{BB962C8B-B14F-4D97-AF65-F5344CB8AC3E}">
        <p14:creationId xmlns:p14="http://schemas.microsoft.com/office/powerpoint/2010/main" val="112380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C853-7833-39EB-0DF4-1710DE8DE2E9}"/>
              </a:ext>
            </a:extLst>
          </p:cNvPr>
          <p:cNvSpPr>
            <a:spLocks noGrp="1"/>
          </p:cNvSpPr>
          <p:nvPr>
            <p:ph type="title"/>
          </p:nvPr>
        </p:nvSpPr>
        <p:spPr/>
        <p:txBody>
          <a:bodyPr/>
          <a:lstStyle/>
          <a:p>
            <a:pPr algn="ctr"/>
            <a:r>
              <a:rPr lang="en-US" dirty="0"/>
              <a:t>Split-plot RCBD (with </a:t>
            </a:r>
            <a:r>
              <a:rPr lang="en-US" dirty="0" err="1"/>
              <a:t>agricolae</a:t>
            </a:r>
            <a:r>
              <a:rPr lang="en-US" dirty="0"/>
              <a:t>)</a:t>
            </a:r>
          </a:p>
        </p:txBody>
      </p:sp>
      <p:sp>
        <p:nvSpPr>
          <p:cNvPr id="7" name="Content Placeholder 6">
            <a:extLst>
              <a:ext uri="{FF2B5EF4-FFF2-40B4-BE49-F238E27FC236}">
                <a16:creationId xmlns:a16="http://schemas.microsoft.com/office/drawing/2014/main" id="{818ABB9D-71B0-0E3A-144F-EA195876CC50}"/>
              </a:ext>
            </a:extLst>
          </p:cNvPr>
          <p:cNvSpPr>
            <a:spLocks noGrp="1"/>
          </p:cNvSpPr>
          <p:nvPr>
            <p:ph idx="1"/>
          </p:nvPr>
        </p:nvSpPr>
        <p:spPr/>
        <p:txBody>
          <a:bodyPr/>
          <a:lstStyle/>
          <a:p>
            <a:r>
              <a:rPr lang="en-US" dirty="0" err="1"/>
              <a:t>sp.plot</a:t>
            </a:r>
            <a:r>
              <a:rPr lang="en-US" dirty="0"/>
              <a:t>(block = block, </a:t>
            </a:r>
            <a:r>
              <a:rPr lang="en-US" dirty="0" err="1"/>
              <a:t>pplot</a:t>
            </a:r>
            <a:r>
              <a:rPr lang="en-US" dirty="0"/>
              <a:t> = treat, </a:t>
            </a:r>
            <a:r>
              <a:rPr lang="en-US" dirty="0" err="1"/>
              <a:t>splot</a:t>
            </a:r>
            <a:r>
              <a:rPr lang="en-US" dirty="0"/>
              <a:t> = cultivar, Y = height)</a:t>
            </a:r>
          </a:p>
        </p:txBody>
      </p:sp>
      <p:pic>
        <p:nvPicPr>
          <p:cNvPr id="8" name="Picture 7">
            <a:extLst>
              <a:ext uri="{FF2B5EF4-FFF2-40B4-BE49-F238E27FC236}">
                <a16:creationId xmlns:a16="http://schemas.microsoft.com/office/drawing/2014/main" id="{BEF65309-EF75-003B-B6E9-71DE6EB99125}"/>
              </a:ext>
            </a:extLst>
          </p:cNvPr>
          <p:cNvPicPr>
            <a:picLocks noChangeAspect="1"/>
          </p:cNvPicPr>
          <p:nvPr/>
        </p:nvPicPr>
        <p:blipFill>
          <a:blip r:embed="rId2"/>
          <a:stretch>
            <a:fillRect/>
          </a:stretch>
        </p:blipFill>
        <p:spPr>
          <a:xfrm>
            <a:off x="115455" y="2836718"/>
            <a:ext cx="5529680" cy="3094268"/>
          </a:xfrm>
          <a:prstGeom prst="rect">
            <a:avLst/>
          </a:prstGeom>
        </p:spPr>
      </p:pic>
      <p:pic>
        <p:nvPicPr>
          <p:cNvPr id="9" name="Picture 8">
            <a:extLst>
              <a:ext uri="{FF2B5EF4-FFF2-40B4-BE49-F238E27FC236}">
                <a16:creationId xmlns:a16="http://schemas.microsoft.com/office/drawing/2014/main" id="{A11FF346-7851-9C65-29F0-9DE72211194B}"/>
              </a:ext>
            </a:extLst>
          </p:cNvPr>
          <p:cNvPicPr>
            <a:picLocks noChangeAspect="1"/>
          </p:cNvPicPr>
          <p:nvPr/>
        </p:nvPicPr>
        <p:blipFill>
          <a:blip r:embed="rId3"/>
          <a:stretch>
            <a:fillRect/>
          </a:stretch>
        </p:blipFill>
        <p:spPr>
          <a:xfrm>
            <a:off x="5704608" y="2468938"/>
            <a:ext cx="6371937" cy="4389062"/>
          </a:xfrm>
          <a:prstGeom prst="rect">
            <a:avLst/>
          </a:prstGeom>
        </p:spPr>
      </p:pic>
      <p:sp>
        <p:nvSpPr>
          <p:cNvPr id="10" name="TextBox 9">
            <a:extLst>
              <a:ext uri="{FF2B5EF4-FFF2-40B4-BE49-F238E27FC236}">
                <a16:creationId xmlns:a16="http://schemas.microsoft.com/office/drawing/2014/main" id="{3A4C5525-7EEB-EE9E-7282-66B16FFC2587}"/>
              </a:ext>
            </a:extLst>
          </p:cNvPr>
          <p:cNvSpPr txBox="1"/>
          <p:nvPr/>
        </p:nvSpPr>
        <p:spPr>
          <a:xfrm>
            <a:off x="4264665" y="1294983"/>
            <a:ext cx="3662669" cy="523220"/>
          </a:xfrm>
          <a:prstGeom prst="rect">
            <a:avLst/>
          </a:prstGeom>
          <a:solidFill>
            <a:schemeClr val="accent2"/>
          </a:solidFill>
        </p:spPr>
        <p:txBody>
          <a:bodyPr wrap="none" rtlCol="0">
            <a:spAutoFit/>
          </a:bodyPr>
          <a:lstStyle/>
          <a:p>
            <a:r>
              <a:rPr lang="en-US" sz="2800" dirty="0"/>
              <a:t>Block is a random effect</a:t>
            </a:r>
          </a:p>
        </p:txBody>
      </p:sp>
    </p:spTree>
    <p:extLst>
      <p:ext uri="{BB962C8B-B14F-4D97-AF65-F5344CB8AC3E}">
        <p14:creationId xmlns:p14="http://schemas.microsoft.com/office/powerpoint/2010/main" val="383218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BFD1-50B4-28E7-4A5B-387334A84DEE}"/>
              </a:ext>
            </a:extLst>
          </p:cNvPr>
          <p:cNvSpPr>
            <a:spLocks noGrp="1"/>
          </p:cNvSpPr>
          <p:nvPr>
            <p:ph type="title"/>
          </p:nvPr>
        </p:nvSpPr>
        <p:spPr/>
        <p:txBody>
          <a:bodyPr/>
          <a:lstStyle/>
          <a:p>
            <a:pPr algn="ctr"/>
            <a:r>
              <a:rPr lang="en-US" b="1" dirty="0">
                <a:solidFill>
                  <a:srgbClr val="C00000"/>
                </a:solidFill>
              </a:rPr>
              <a:t>Strip</a:t>
            </a:r>
            <a:r>
              <a:rPr lang="en-US" dirty="0"/>
              <a:t>-plot RCBD</a:t>
            </a:r>
          </a:p>
        </p:txBody>
      </p:sp>
      <p:sp>
        <p:nvSpPr>
          <p:cNvPr id="6" name="TextBox 5">
            <a:extLst>
              <a:ext uri="{FF2B5EF4-FFF2-40B4-BE49-F238E27FC236}">
                <a16:creationId xmlns:a16="http://schemas.microsoft.com/office/drawing/2014/main" id="{708503FF-5CFE-BD8F-6859-EBBBAD720268}"/>
              </a:ext>
            </a:extLst>
          </p:cNvPr>
          <p:cNvSpPr txBox="1"/>
          <p:nvPr/>
        </p:nvSpPr>
        <p:spPr>
          <a:xfrm>
            <a:off x="8624454" y="1939078"/>
            <a:ext cx="1113253" cy="369332"/>
          </a:xfrm>
          <a:prstGeom prst="rect">
            <a:avLst/>
          </a:prstGeom>
          <a:noFill/>
        </p:spPr>
        <p:txBody>
          <a:bodyPr wrap="none" rtlCol="0">
            <a:spAutoFit/>
          </a:bodyPr>
          <a:lstStyle/>
          <a:p>
            <a:r>
              <a:rPr lang="en-US" b="1" dirty="0" err="1"/>
              <a:t>agricolae</a:t>
            </a:r>
            <a:r>
              <a:rPr lang="en-US" b="1" dirty="0"/>
              <a:t>:</a:t>
            </a:r>
          </a:p>
        </p:txBody>
      </p:sp>
      <p:pic>
        <p:nvPicPr>
          <p:cNvPr id="7" name="Picture 6">
            <a:extLst>
              <a:ext uri="{FF2B5EF4-FFF2-40B4-BE49-F238E27FC236}">
                <a16:creationId xmlns:a16="http://schemas.microsoft.com/office/drawing/2014/main" id="{F98DE71A-64A5-72A1-4490-2F5AA63B0DCF}"/>
              </a:ext>
            </a:extLst>
          </p:cNvPr>
          <p:cNvPicPr>
            <a:picLocks noChangeAspect="1"/>
          </p:cNvPicPr>
          <p:nvPr/>
        </p:nvPicPr>
        <p:blipFill>
          <a:blip r:embed="rId2"/>
          <a:stretch>
            <a:fillRect/>
          </a:stretch>
        </p:blipFill>
        <p:spPr>
          <a:xfrm>
            <a:off x="507422" y="1939078"/>
            <a:ext cx="7772400" cy="2452515"/>
          </a:xfrm>
          <a:prstGeom prst="rect">
            <a:avLst/>
          </a:prstGeom>
        </p:spPr>
      </p:pic>
      <p:pic>
        <p:nvPicPr>
          <p:cNvPr id="5" name="Picture 4">
            <a:extLst>
              <a:ext uri="{FF2B5EF4-FFF2-40B4-BE49-F238E27FC236}">
                <a16:creationId xmlns:a16="http://schemas.microsoft.com/office/drawing/2014/main" id="{76C72C0C-A420-76D0-6EE4-72930BD7A5F9}"/>
              </a:ext>
            </a:extLst>
          </p:cNvPr>
          <p:cNvPicPr>
            <a:picLocks noChangeAspect="1"/>
          </p:cNvPicPr>
          <p:nvPr/>
        </p:nvPicPr>
        <p:blipFill>
          <a:blip r:embed="rId3"/>
          <a:stretch>
            <a:fillRect/>
          </a:stretch>
        </p:blipFill>
        <p:spPr>
          <a:xfrm>
            <a:off x="6184900" y="2308410"/>
            <a:ext cx="6007100" cy="3670300"/>
          </a:xfrm>
          <a:prstGeom prst="rect">
            <a:avLst/>
          </a:prstGeom>
        </p:spPr>
      </p:pic>
      <p:grpSp>
        <p:nvGrpSpPr>
          <p:cNvPr id="9" name="Group 8">
            <a:extLst>
              <a:ext uri="{FF2B5EF4-FFF2-40B4-BE49-F238E27FC236}">
                <a16:creationId xmlns:a16="http://schemas.microsoft.com/office/drawing/2014/main" id="{2EEBA4ED-3950-6F0E-65DB-26754BC44753}"/>
              </a:ext>
            </a:extLst>
          </p:cNvPr>
          <p:cNvGrpSpPr/>
          <p:nvPr/>
        </p:nvGrpSpPr>
        <p:grpSpPr>
          <a:xfrm>
            <a:off x="238413" y="1742643"/>
            <a:ext cx="5636491" cy="4410313"/>
            <a:chOff x="88900" y="1438037"/>
            <a:chExt cx="5636491" cy="4410313"/>
          </a:xfrm>
        </p:grpSpPr>
        <p:pic>
          <p:nvPicPr>
            <p:cNvPr id="4" name="Picture 3">
              <a:extLst>
                <a:ext uri="{FF2B5EF4-FFF2-40B4-BE49-F238E27FC236}">
                  <a16:creationId xmlns:a16="http://schemas.microsoft.com/office/drawing/2014/main" id="{B2B27995-5A95-253C-B262-C5827D0C767D}"/>
                </a:ext>
              </a:extLst>
            </p:cNvPr>
            <p:cNvPicPr>
              <a:picLocks noChangeAspect="1"/>
            </p:cNvPicPr>
            <p:nvPr/>
          </p:nvPicPr>
          <p:blipFill>
            <a:blip r:embed="rId4"/>
            <a:stretch>
              <a:fillRect/>
            </a:stretch>
          </p:blipFill>
          <p:spPr>
            <a:xfrm>
              <a:off x="88900" y="1924050"/>
              <a:ext cx="5636491" cy="3924300"/>
            </a:xfrm>
            <a:prstGeom prst="rect">
              <a:avLst/>
            </a:prstGeom>
          </p:spPr>
        </p:pic>
        <p:sp>
          <p:nvSpPr>
            <p:cNvPr id="8" name="TextBox 7">
              <a:extLst>
                <a:ext uri="{FF2B5EF4-FFF2-40B4-BE49-F238E27FC236}">
                  <a16:creationId xmlns:a16="http://schemas.microsoft.com/office/drawing/2014/main" id="{FE0F1D2B-19E2-6EBD-0A93-13D24C1D6714}"/>
                </a:ext>
              </a:extLst>
            </p:cNvPr>
            <p:cNvSpPr txBox="1"/>
            <p:nvPr/>
          </p:nvSpPr>
          <p:spPr>
            <a:xfrm>
              <a:off x="1586345" y="1438037"/>
              <a:ext cx="942887" cy="369332"/>
            </a:xfrm>
            <a:prstGeom prst="rect">
              <a:avLst/>
            </a:prstGeom>
            <a:noFill/>
          </p:spPr>
          <p:txBody>
            <a:bodyPr wrap="none" rtlCol="0">
              <a:spAutoFit/>
            </a:bodyPr>
            <a:lstStyle/>
            <a:p>
              <a:r>
                <a:rPr lang="en-US" b="1" dirty="0" err="1"/>
                <a:t>ExpDes</a:t>
              </a:r>
              <a:r>
                <a:rPr lang="en-US" b="1" dirty="0"/>
                <a:t>:</a:t>
              </a:r>
            </a:p>
          </p:txBody>
        </p:sp>
      </p:grpSp>
    </p:spTree>
    <p:extLst>
      <p:ext uri="{BB962C8B-B14F-4D97-AF65-F5344CB8AC3E}">
        <p14:creationId xmlns:p14="http://schemas.microsoft.com/office/powerpoint/2010/main" val="130805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4FA91C8-742E-7D14-8FF1-1541A31D16F0}"/>
              </a:ext>
            </a:extLst>
          </p:cNvPr>
          <p:cNvSpPr>
            <a:spLocks noGrp="1"/>
          </p:cNvSpPr>
          <p:nvPr>
            <p:ph type="title"/>
          </p:nvPr>
        </p:nvSpPr>
        <p:spPr/>
        <p:txBody>
          <a:bodyPr/>
          <a:lstStyle/>
          <a:p>
            <a:pPr algn="ctr"/>
            <a:r>
              <a:rPr lang="en-US" dirty="0"/>
              <a:t>Factorial x Split-plot x Strip-plot</a:t>
            </a:r>
          </a:p>
        </p:txBody>
      </p:sp>
      <p:grpSp>
        <p:nvGrpSpPr>
          <p:cNvPr id="18" name="Group 17">
            <a:extLst>
              <a:ext uri="{FF2B5EF4-FFF2-40B4-BE49-F238E27FC236}">
                <a16:creationId xmlns:a16="http://schemas.microsoft.com/office/drawing/2014/main" id="{3BDD9493-CA44-A9A2-0DDC-633FFD037B02}"/>
              </a:ext>
            </a:extLst>
          </p:cNvPr>
          <p:cNvGrpSpPr/>
          <p:nvPr/>
        </p:nvGrpSpPr>
        <p:grpSpPr>
          <a:xfrm>
            <a:off x="838200" y="1409539"/>
            <a:ext cx="3948841" cy="2413033"/>
            <a:chOff x="145472" y="1357585"/>
            <a:chExt cx="3948841" cy="2413033"/>
          </a:xfrm>
        </p:grpSpPr>
        <p:pic>
          <p:nvPicPr>
            <p:cNvPr id="4" name="Picture 3">
              <a:extLst>
                <a:ext uri="{FF2B5EF4-FFF2-40B4-BE49-F238E27FC236}">
                  <a16:creationId xmlns:a16="http://schemas.microsoft.com/office/drawing/2014/main" id="{1287FC5A-EBA0-D841-DAE8-3BEFB7FF7E85}"/>
                </a:ext>
              </a:extLst>
            </p:cNvPr>
            <p:cNvPicPr>
              <a:picLocks noChangeAspect="1"/>
            </p:cNvPicPr>
            <p:nvPr/>
          </p:nvPicPr>
          <p:blipFill>
            <a:blip r:embed="rId2"/>
            <a:stretch>
              <a:fillRect/>
            </a:stretch>
          </p:blipFill>
          <p:spPr>
            <a:xfrm>
              <a:off x="145472" y="1707349"/>
              <a:ext cx="3948841" cy="2063269"/>
            </a:xfrm>
            <a:prstGeom prst="rect">
              <a:avLst/>
            </a:prstGeom>
          </p:spPr>
        </p:pic>
        <p:sp>
          <p:nvSpPr>
            <p:cNvPr id="8" name="TextBox 7">
              <a:extLst>
                <a:ext uri="{FF2B5EF4-FFF2-40B4-BE49-F238E27FC236}">
                  <a16:creationId xmlns:a16="http://schemas.microsoft.com/office/drawing/2014/main" id="{524607CE-687E-33E2-FF79-DD38A4892720}"/>
                </a:ext>
              </a:extLst>
            </p:cNvPr>
            <p:cNvSpPr txBox="1"/>
            <p:nvPr/>
          </p:nvSpPr>
          <p:spPr>
            <a:xfrm>
              <a:off x="145473" y="1357585"/>
              <a:ext cx="1581908" cy="369332"/>
            </a:xfrm>
            <a:prstGeom prst="rect">
              <a:avLst/>
            </a:prstGeom>
            <a:noFill/>
          </p:spPr>
          <p:txBody>
            <a:bodyPr wrap="none" rtlCol="0">
              <a:spAutoFit/>
            </a:bodyPr>
            <a:lstStyle/>
            <a:p>
              <a:r>
                <a:rPr lang="en-US" b="1" dirty="0"/>
                <a:t>Factorial RCBD</a:t>
              </a:r>
            </a:p>
          </p:txBody>
        </p:sp>
      </p:grpSp>
      <p:grpSp>
        <p:nvGrpSpPr>
          <p:cNvPr id="23" name="Group 22">
            <a:extLst>
              <a:ext uri="{FF2B5EF4-FFF2-40B4-BE49-F238E27FC236}">
                <a16:creationId xmlns:a16="http://schemas.microsoft.com/office/drawing/2014/main" id="{BE1C5A0F-225F-53B0-24B5-9EA95749C21D}"/>
              </a:ext>
            </a:extLst>
          </p:cNvPr>
          <p:cNvGrpSpPr/>
          <p:nvPr/>
        </p:nvGrpSpPr>
        <p:grpSpPr>
          <a:xfrm>
            <a:off x="838201" y="4015384"/>
            <a:ext cx="3948840" cy="2718952"/>
            <a:chOff x="145473" y="3963430"/>
            <a:chExt cx="3948840" cy="2718952"/>
          </a:xfrm>
        </p:grpSpPr>
        <p:pic>
          <p:nvPicPr>
            <p:cNvPr id="5" name="Picture 4">
              <a:extLst>
                <a:ext uri="{FF2B5EF4-FFF2-40B4-BE49-F238E27FC236}">
                  <a16:creationId xmlns:a16="http://schemas.microsoft.com/office/drawing/2014/main" id="{A794400E-B193-47AC-ED78-3BC5C4F53B25}"/>
                </a:ext>
              </a:extLst>
            </p:cNvPr>
            <p:cNvPicPr>
              <a:picLocks noChangeAspect="1"/>
            </p:cNvPicPr>
            <p:nvPr/>
          </p:nvPicPr>
          <p:blipFill>
            <a:blip r:embed="rId3"/>
            <a:stretch>
              <a:fillRect/>
            </a:stretch>
          </p:blipFill>
          <p:spPr>
            <a:xfrm>
              <a:off x="145473" y="4342695"/>
              <a:ext cx="3948840" cy="2339687"/>
            </a:xfrm>
            <a:prstGeom prst="rect">
              <a:avLst/>
            </a:prstGeom>
          </p:spPr>
        </p:pic>
        <p:sp>
          <p:nvSpPr>
            <p:cNvPr id="9" name="TextBox 8">
              <a:extLst>
                <a:ext uri="{FF2B5EF4-FFF2-40B4-BE49-F238E27FC236}">
                  <a16:creationId xmlns:a16="http://schemas.microsoft.com/office/drawing/2014/main" id="{11F3B349-2934-F041-D829-479167C325E4}"/>
                </a:ext>
              </a:extLst>
            </p:cNvPr>
            <p:cNvSpPr txBox="1"/>
            <p:nvPr/>
          </p:nvSpPr>
          <p:spPr>
            <a:xfrm>
              <a:off x="145473" y="3963430"/>
              <a:ext cx="1636089" cy="369332"/>
            </a:xfrm>
            <a:prstGeom prst="rect">
              <a:avLst/>
            </a:prstGeom>
            <a:noFill/>
          </p:spPr>
          <p:txBody>
            <a:bodyPr wrap="none" rtlCol="0">
              <a:spAutoFit/>
            </a:bodyPr>
            <a:lstStyle/>
            <a:p>
              <a:r>
                <a:rPr lang="en-US" b="1" dirty="0"/>
                <a:t>Split-plot RCBD</a:t>
              </a:r>
            </a:p>
          </p:txBody>
        </p:sp>
      </p:grpSp>
      <p:grpSp>
        <p:nvGrpSpPr>
          <p:cNvPr id="12" name="Group 11">
            <a:extLst>
              <a:ext uri="{FF2B5EF4-FFF2-40B4-BE49-F238E27FC236}">
                <a16:creationId xmlns:a16="http://schemas.microsoft.com/office/drawing/2014/main" id="{6F2CCF53-0E46-EFE9-44B7-99A1262435D1}"/>
              </a:ext>
            </a:extLst>
          </p:cNvPr>
          <p:cNvGrpSpPr/>
          <p:nvPr/>
        </p:nvGrpSpPr>
        <p:grpSpPr>
          <a:xfrm>
            <a:off x="5605317" y="2151654"/>
            <a:ext cx="4984743" cy="3623551"/>
            <a:chOff x="5605317" y="3058831"/>
            <a:chExt cx="4984743" cy="3623551"/>
          </a:xfrm>
        </p:grpSpPr>
        <p:pic>
          <p:nvPicPr>
            <p:cNvPr id="6" name="Picture 5">
              <a:extLst>
                <a:ext uri="{FF2B5EF4-FFF2-40B4-BE49-F238E27FC236}">
                  <a16:creationId xmlns:a16="http://schemas.microsoft.com/office/drawing/2014/main" id="{6774197D-FB6C-6191-E93F-29879AAC3C81}"/>
                </a:ext>
              </a:extLst>
            </p:cNvPr>
            <p:cNvPicPr>
              <a:picLocks noChangeAspect="1"/>
            </p:cNvPicPr>
            <p:nvPr/>
          </p:nvPicPr>
          <p:blipFill>
            <a:blip r:embed="rId4"/>
            <a:stretch>
              <a:fillRect/>
            </a:stretch>
          </p:blipFill>
          <p:spPr>
            <a:xfrm>
              <a:off x="5605317" y="3429837"/>
              <a:ext cx="4984743" cy="3252545"/>
            </a:xfrm>
            <a:prstGeom prst="rect">
              <a:avLst/>
            </a:prstGeom>
          </p:spPr>
        </p:pic>
        <p:sp>
          <p:nvSpPr>
            <p:cNvPr id="10" name="TextBox 9">
              <a:extLst>
                <a:ext uri="{FF2B5EF4-FFF2-40B4-BE49-F238E27FC236}">
                  <a16:creationId xmlns:a16="http://schemas.microsoft.com/office/drawing/2014/main" id="{F92ACE73-6918-DF22-09F8-FE13D5E0FF9E}"/>
                </a:ext>
              </a:extLst>
            </p:cNvPr>
            <p:cNvSpPr txBox="1"/>
            <p:nvPr/>
          </p:nvSpPr>
          <p:spPr>
            <a:xfrm>
              <a:off x="5605317" y="3058831"/>
              <a:ext cx="1667380" cy="369332"/>
            </a:xfrm>
            <a:prstGeom prst="rect">
              <a:avLst/>
            </a:prstGeom>
            <a:noFill/>
          </p:spPr>
          <p:txBody>
            <a:bodyPr wrap="none" rtlCol="0">
              <a:spAutoFit/>
            </a:bodyPr>
            <a:lstStyle/>
            <a:p>
              <a:r>
                <a:rPr lang="en-US" b="1" dirty="0"/>
                <a:t>Strip-plot RCBD</a:t>
              </a:r>
            </a:p>
          </p:txBody>
        </p:sp>
      </p:grpSp>
    </p:spTree>
    <p:extLst>
      <p:ext uri="{BB962C8B-B14F-4D97-AF65-F5344CB8AC3E}">
        <p14:creationId xmlns:p14="http://schemas.microsoft.com/office/powerpoint/2010/main" val="44957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92EE-F5A3-F00C-A30C-580CCC0D281E}"/>
              </a:ext>
            </a:extLst>
          </p:cNvPr>
          <p:cNvSpPr>
            <a:spLocks noGrp="1"/>
          </p:cNvSpPr>
          <p:nvPr>
            <p:ph type="title"/>
          </p:nvPr>
        </p:nvSpPr>
        <p:spPr/>
        <p:txBody>
          <a:bodyPr/>
          <a:lstStyle/>
          <a:p>
            <a:r>
              <a:rPr lang="en-US" dirty="0"/>
              <a:t>Linear Mixed Models</a:t>
            </a:r>
          </a:p>
        </p:txBody>
      </p:sp>
      <p:sp>
        <p:nvSpPr>
          <p:cNvPr id="3" name="Content Placeholder 2">
            <a:extLst>
              <a:ext uri="{FF2B5EF4-FFF2-40B4-BE49-F238E27FC236}">
                <a16:creationId xmlns:a16="http://schemas.microsoft.com/office/drawing/2014/main" id="{A79A65B8-49F6-6D48-228B-306DB9FA1EBD}"/>
              </a:ext>
            </a:extLst>
          </p:cNvPr>
          <p:cNvSpPr>
            <a:spLocks noGrp="1"/>
          </p:cNvSpPr>
          <p:nvPr>
            <p:ph idx="1"/>
          </p:nvPr>
        </p:nvSpPr>
        <p:spPr/>
        <p:txBody>
          <a:bodyPr>
            <a:normAutofit/>
          </a:bodyPr>
          <a:lstStyle/>
          <a:p>
            <a:r>
              <a:rPr lang="en-US" dirty="0"/>
              <a:t>What are Linear Mixed Models (LMMs)?</a:t>
            </a:r>
          </a:p>
          <a:p>
            <a:pPr lvl="1"/>
            <a:r>
              <a:rPr lang="en-US" dirty="0"/>
              <a:t>Statistical models that incorporate both fixed and random effects</a:t>
            </a:r>
          </a:p>
          <a:p>
            <a:pPr lvl="1"/>
            <a:r>
              <a:rPr lang="en-US" dirty="0"/>
              <a:t>ANOVA and linear regression can be seen as special cases of a mixed model</a:t>
            </a:r>
          </a:p>
          <a:p>
            <a:r>
              <a:rPr lang="en-US" dirty="0"/>
              <a:t>Some advantages of mixed models over traditional ANOVA:</a:t>
            </a:r>
          </a:p>
          <a:p>
            <a:pPr lvl="1"/>
            <a:r>
              <a:rPr lang="en-US" dirty="0"/>
              <a:t>Useful for modeling correlated data and accounting for within-group variability</a:t>
            </a:r>
          </a:p>
          <a:p>
            <a:pPr lvl="1"/>
            <a:r>
              <a:rPr lang="en-US" dirty="0"/>
              <a:t>Better handle unbalanced data, missing values, and unequal variances</a:t>
            </a:r>
          </a:p>
          <a:p>
            <a:pPr lvl="1"/>
            <a:r>
              <a:rPr lang="en-US" dirty="0"/>
              <a:t>allow for more complex experimental designs, including nested and crossed factors, repeated measures</a:t>
            </a:r>
          </a:p>
          <a:p>
            <a:endParaRPr lang="en-US" dirty="0"/>
          </a:p>
        </p:txBody>
      </p:sp>
    </p:spTree>
    <p:extLst>
      <p:ext uri="{BB962C8B-B14F-4D97-AF65-F5344CB8AC3E}">
        <p14:creationId xmlns:p14="http://schemas.microsoft.com/office/powerpoint/2010/main" val="330239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F6E6-908C-8015-B4B8-72E0D0474FA7}"/>
              </a:ext>
            </a:extLst>
          </p:cNvPr>
          <p:cNvSpPr>
            <a:spLocks noGrp="1"/>
          </p:cNvSpPr>
          <p:nvPr>
            <p:ph type="title"/>
          </p:nvPr>
        </p:nvSpPr>
        <p:spPr/>
        <p:txBody>
          <a:bodyPr/>
          <a:lstStyle/>
          <a:p>
            <a:r>
              <a:rPr lang="en-US" dirty="0"/>
              <a:t>Fixed vs Random</a:t>
            </a:r>
          </a:p>
        </p:txBody>
      </p:sp>
      <p:sp>
        <p:nvSpPr>
          <p:cNvPr id="3" name="Content Placeholder 2">
            <a:extLst>
              <a:ext uri="{FF2B5EF4-FFF2-40B4-BE49-F238E27FC236}">
                <a16:creationId xmlns:a16="http://schemas.microsoft.com/office/drawing/2014/main" id="{7E8C8372-1504-F0DF-768A-72AEC8392C9E}"/>
              </a:ext>
            </a:extLst>
          </p:cNvPr>
          <p:cNvSpPr>
            <a:spLocks noGrp="1"/>
          </p:cNvSpPr>
          <p:nvPr>
            <p:ph idx="1"/>
          </p:nvPr>
        </p:nvSpPr>
        <p:spPr/>
        <p:txBody>
          <a:bodyPr>
            <a:normAutofit fontScale="92500" lnSpcReduction="20000"/>
          </a:bodyPr>
          <a:lstStyle/>
          <a:p>
            <a:r>
              <a:rPr lang="en-US" b="1" dirty="0"/>
              <a:t>Fixed Effects</a:t>
            </a:r>
            <a:r>
              <a:rPr lang="en-US" dirty="0"/>
              <a:t>:</a:t>
            </a:r>
          </a:p>
          <a:p>
            <a:pPr lvl="1"/>
            <a:r>
              <a:rPr lang="en-US" dirty="0"/>
              <a:t>Factors where we want to estimate specific differences (e.g., treatment groups, specific diets, fertilizers).</a:t>
            </a:r>
          </a:p>
          <a:p>
            <a:pPr lvl="1"/>
            <a:r>
              <a:rPr lang="en-US" dirty="0"/>
              <a:t>Effects apply to the whole population.</a:t>
            </a:r>
          </a:p>
          <a:p>
            <a:r>
              <a:rPr lang="en-US" b="1" dirty="0"/>
              <a:t>Random Effects</a:t>
            </a:r>
            <a:r>
              <a:rPr lang="en-US" dirty="0"/>
              <a:t>:</a:t>
            </a:r>
          </a:p>
          <a:p>
            <a:pPr lvl="1"/>
            <a:r>
              <a:rPr lang="en-US" dirty="0"/>
              <a:t>Factors that introduce variation </a:t>
            </a:r>
            <a:r>
              <a:rPr lang="en-US" b="1" dirty="0"/>
              <a:t>but are not of primary interest</a:t>
            </a:r>
            <a:r>
              <a:rPr lang="en-US" dirty="0"/>
              <a:t> (e.g., farm-to-farm variation, individual differences in repeated measures).</a:t>
            </a:r>
          </a:p>
          <a:p>
            <a:pPr lvl="1"/>
            <a:r>
              <a:rPr lang="en-US" dirty="0"/>
              <a:t>Effects represent a </a:t>
            </a:r>
            <a:r>
              <a:rPr lang="en-US" b="1" dirty="0"/>
              <a:t>random sample</a:t>
            </a:r>
            <a:r>
              <a:rPr lang="en-US" dirty="0"/>
              <a:t> from a larger population.</a:t>
            </a:r>
          </a:p>
          <a:p>
            <a:r>
              <a:rPr lang="en-US" dirty="0"/>
              <a:t> </a:t>
            </a:r>
            <a:r>
              <a:rPr lang="en-US" b="1" dirty="0"/>
              <a:t>Analogy:</a:t>
            </a:r>
            <a:endParaRPr lang="en-US" dirty="0"/>
          </a:p>
          <a:p>
            <a:pPr lvl="1"/>
            <a:r>
              <a:rPr lang="en-US" b="1" dirty="0"/>
              <a:t>Fixed Effect</a:t>
            </a:r>
            <a:r>
              <a:rPr lang="en-US" dirty="0"/>
              <a:t> = “Recipe ingredients” (we care about which flour makes the best cake).</a:t>
            </a:r>
          </a:p>
          <a:p>
            <a:pPr lvl="1"/>
            <a:r>
              <a:rPr lang="en-US" b="1" dirty="0"/>
              <a:t>Random Effect</a:t>
            </a:r>
            <a:r>
              <a:rPr lang="en-US" dirty="0"/>
              <a:t> = “Different ovens” (we recognize they add variability, but we don’t care which oven exactly).</a:t>
            </a:r>
          </a:p>
          <a:p>
            <a:endParaRPr lang="en-US" dirty="0"/>
          </a:p>
        </p:txBody>
      </p:sp>
    </p:spTree>
    <p:extLst>
      <p:ext uri="{BB962C8B-B14F-4D97-AF65-F5344CB8AC3E}">
        <p14:creationId xmlns:p14="http://schemas.microsoft.com/office/powerpoint/2010/main" val="257630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02C6E-3157-7256-8F53-BFBAF4455C16}"/>
              </a:ext>
            </a:extLst>
          </p:cNvPr>
          <p:cNvSpPr>
            <a:spLocks noGrp="1"/>
          </p:cNvSpPr>
          <p:nvPr>
            <p:ph type="title"/>
          </p:nvPr>
        </p:nvSpPr>
        <p:spPr/>
        <p:txBody>
          <a:bodyPr/>
          <a:lstStyle/>
          <a:p>
            <a:r>
              <a:rPr lang="en-US" dirty="0"/>
              <a:t>Examples of random and fixed effects</a:t>
            </a:r>
          </a:p>
        </p:txBody>
      </p:sp>
      <p:sp>
        <p:nvSpPr>
          <p:cNvPr id="3" name="Content Placeholder 2">
            <a:extLst>
              <a:ext uri="{FF2B5EF4-FFF2-40B4-BE49-F238E27FC236}">
                <a16:creationId xmlns:a16="http://schemas.microsoft.com/office/drawing/2014/main" id="{15FE2CCD-213B-85E1-D7CC-3CCE467EFB70}"/>
              </a:ext>
            </a:extLst>
          </p:cNvPr>
          <p:cNvSpPr>
            <a:spLocks noGrp="1"/>
          </p:cNvSpPr>
          <p:nvPr>
            <p:ph idx="1"/>
          </p:nvPr>
        </p:nvSpPr>
        <p:spPr/>
        <p:txBody>
          <a:bodyPr/>
          <a:lstStyle/>
          <a:p>
            <a:pPr marL="0" indent="0">
              <a:buNone/>
            </a:pPr>
            <a:r>
              <a:rPr lang="en-US" dirty="0"/>
              <a:t>Suppose we test different fertilizers on multiple farms:</a:t>
            </a:r>
          </a:p>
          <a:p>
            <a:r>
              <a:rPr lang="en-US" b="1" dirty="0"/>
              <a:t>Fixed Effect</a:t>
            </a:r>
            <a:r>
              <a:rPr lang="en-US" dirty="0"/>
              <a:t>: The fertilizer type (since we are interested in comparing them).</a:t>
            </a:r>
          </a:p>
          <a:p>
            <a:r>
              <a:rPr lang="en-US" b="1" dirty="0"/>
              <a:t>Random Effect</a:t>
            </a:r>
            <a:r>
              <a:rPr lang="en-US" dirty="0"/>
              <a:t>: The different farms (since they represent a larger population, and we don’t care about their individual identities).</a:t>
            </a:r>
          </a:p>
          <a:p>
            <a:endParaRPr lang="en-US" dirty="0"/>
          </a:p>
        </p:txBody>
      </p:sp>
    </p:spTree>
    <p:extLst>
      <p:ext uri="{BB962C8B-B14F-4D97-AF65-F5344CB8AC3E}">
        <p14:creationId xmlns:p14="http://schemas.microsoft.com/office/powerpoint/2010/main" val="353286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DE94-F90E-BA29-B056-E928C653E416}"/>
              </a:ext>
            </a:extLst>
          </p:cNvPr>
          <p:cNvSpPr>
            <a:spLocks noGrp="1"/>
          </p:cNvSpPr>
          <p:nvPr>
            <p:ph type="title"/>
          </p:nvPr>
        </p:nvSpPr>
        <p:spPr/>
        <p:txBody>
          <a:bodyPr/>
          <a:lstStyle/>
          <a:p>
            <a:r>
              <a:rPr lang="en-US" dirty="0"/>
              <a:t>When Do We Need Mixed Models?</a:t>
            </a:r>
          </a:p>
        </p:txBody>
      </p:sp>
      <p:sp>
        <p:nvSpPr>
          <p:cNvPr id="3" name="Content Placeholder 2">
            <a:extLst>
              <a:ext uri="{FF2B5EF4-FFF2-40B4-BE49-F238E27FC236}">
                <a16:creationId xmlns:a16="http://schemas.microsoft.com/office/drawing/2014/main" id="{AF629EB6-8078-6960-3434-17699E91F467}"/>
              </a:ext>
            </a:extLst>
          </p:cNvPr>
          <p:cNvSpPr>
            <a:spLocks noGrp="1"/>
          </p:cNvSpPr>
          <p:nvPr>
            <p:ph idx="1"/>
          </p:nvPr>
        </p:nvSpPr>
        <p:spPr/>
        <p:txBody>
          <a:bodyPr>
            <a:normAutofit fontScale="92500" lnSpcReduction="10000"/>
          </a:bodyPr>
          <a:lstStyle/>
          <a:p>
            <a:pPr marL="0" indent="0">
              <a:buNone/>
            </a:pPr>
            <a:r>
              <a:rPr lang="en-US" b="1" dirty="0"/>
              <a:t>Where Mixed Models are Useful</a:t>
            </a:r>
            <a:r>
              <a:rPr lang="en-US" dirty="0"/>
              <a:t>:</a:t>
            </a:r>
          </a:p>
          <a:p>
            <a:pPr lvl="1"/>
            <a:r>
              <a:rPr lang="en-US" b="1" dirty="0"/>
              <a:t>Block Designs (e.g., RCBD):</a:t>
            </a:r>
            <a:r>
              <a:rPr lang="en-US" dirty="0"/>
              <a:t> When blocks (e.g., farms, labs) introduce variation.</a:t>
            </a:r>
          </a:p>
          <a:p>
            <a:pPr lvl="1"/>
            <a:r>
              <a:rPr lang="en-US" b="1" dirty="0"/>
              <a:t>Repeated Measures (e.g., time-based studies):</a:t>
            </a:r>
            <a:r>
              <a:rPr lang="en-US" dirty="0"/>
              <a:t> When measurements are taken over time from the same subjects.</a:t>
            </a:r>
          </a:p>
          <a:p>
            <a:pPr lvl="1"/>
            <a:r>
              <a:rPr lang="en-US" b="1" dirty="0"/>
              <a:t>Hierarchical/Clustered Data:</a:t>
            </a:r>
            <a:r>
              <a:rPr lang="en-US" dirty="0"/>
              <a:t> When subjects belong to groups (e.g., students in different schools).</a:t>
            </a:r>
            <a:br>
              <a:rPr lang="en-US" dirty="0"/>
            </a:br>
            <a:endParaRPr lang="en-US" dirty="0"/>
          </a:p>
          <a:p>
            <a:pPr marL="0" indent="0">
              <a:buNone/>
            </a:pPr>
            <a:r>
              <a:rPr lang="en-US" b="1" dirty="0"/>
              <a:t>Example:</a:t>
            </a:r>
            <a:r>
              <a:rPr lang="en-US" dirty="0"/>
              <a:t> Suppose we study student test scores from </a:t>
            </a:r>
            <a:r>
              <a:rPr lang="en-US" b="1" dirty="0"/>
              <a:t>multiple schools</a:t>
            </a:r>
            <a:r>
              <a:rPr lang="en-US" dirty="0"/>
              <a:t>.</a:t>
            </a:r>
          </a:p>
          <a:p>
            <a:pPr lvl="1"/>
            <a:r>
              <a:rPr lang="en-US" b="1" dirty="0"/>
              <a:t>Fixed Effect:</a:t>
            </a:r>
            <a:r>
              <a:rPr lang="en-US" dirty="0"/>
              <a:t> Teaching method.</a:t>
            </a:r>
          </a:p>
          <a:p>
            <a:pPr lvl="1"/>
            <a:r>
              <a:rPr lang="en-US" b="1" dirty="0"/>
              <a:t>Random Effect:</a:t>
            </a:r>
            <a:r>
              <a:rPr lang="en-US" dirty="0"/>
              <a:t> Schools (since each school represents a random selection of all schools).</a:t>
            </a:r>
          </a:p>
          <a:p>
            <a:endParaRPr lang="en-US" dirty="0"/>
          </a:p>
        </p:txBody>
      </p:sp>
    </p:spTree>
    <p:extLst>
      <p:ext uri="{BB962C8B-B14F-4D97-AF65-F5344CB8AC3E}">
        <p14:creationId xmlns:p14="http://schemas.microsoft.com/office/powerpoint/2010/main" val="279699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16C1-D143-C34D-E7EE-A76A3F489951}"/>
              </a:ext>
            </a:extLst>
          </p:cNvPr>
          <p:cNvSpPr>
            <a:spLocks noGrp="1"/>
          </p:cNvSpPr>
          <p:nvPr>
            <p:ph type="title"/>
          </p:nvPr>
        </p:nvSpPr>
        <p:spPr/>
        <p:txBody>
          <a:bodyPr/>
          <a:lstStyle/>
          <a:p>
            <a:r>
              <a:rPr lang="en-US" dirty="0"/>
              <a:t>Maximum likelihood (ML) estimation and Variance components</a:t>
            </a:r>
          </a:p>
        </p:txBody>
      </p:sp>
      <p:sp>
        <p:nvSpPr>
          <p:cNvPr id="3" name="Content Placeholder 2">
            <a:extLst>
              <a:ext uri="{FF2B5EF4-FFF2-40B4-BE49-F238E27FC236}">
                <a16:creationId xmlns:a16="http://schemas.microsoft.com/office/drawing/2014/main" id="{7825A4BC-8D0E-EF5A-5FE4-E4CB3CD9D298}"/>
              </a:ext>
            </a:extLst>
          </p:cNvPr>
          <p:cNvSpPr>
            <a:spLocks noGrp="1"/>
          </p:cNvSpPr>
          <p:nvPr>
            <p:ph idx="1"/>
          </p:nvPr>
        </p:nvSpPr>
        <p:spPr/>
        <p:txBody>
          <a:bodyPr>
            <a:normAutofit/>
          </a:bodyPr>
          <a:lstStyle/>
          <a:p>
            <a:r>
              <a:rPr lang="en-US" dirty="0"/>
              <a:t>What are the parameters that most likely generated our data?</a:t>
            </a:r>
          </a:p>
          <a:p>
            <a:r>
              <a:rPr lang="en-US" dirty="0"/>
              <a:t>Iterative process</a:t>
            </a:r>
          </a:p>
          <a:p>
            <a:r>
              <a:rPr lang="en-US" dirty="0"/>
              <a:t>ML is a more general method for estimating model parameters that does not assume normality or equal variances. ML estimates the model parameters that maximize the likelihood of the observed data, given the assumed distribution of the data.</a:t>
            </a:r>
          </a:p>
        </p:txBody>
      </p:sp>
      <p:sp>
        <p:nvSpPr>
          <p:cNvPr id="8" name="TextBox 7">
            <a:extLst>
              <a:ext uri="{FF2B5EF4-FFF2-40B4-BE49-F238E27FC236}">
                <a16:creationId xmlns:a16="http://schemas.microsoft.com/office/drawing/2014/main" id="{A1A24517-0098-C67C-AAC9-55E79D1AE436}"/>
              </a:ext>
            </a:extLst>
          </p:cNvPr>
          <p:cNvSpPr txBox="1"/>
          <p:nvPr/>
        </p:nvSpPr>
        <p:spPr>
          <a:xfrm>
            <a:off x="1626325" y="5665569"/>
            <a:ext cx="6100354" cy="646331"/>
          </a:xfrm>
          <a:prstGeom prst="rect">
            <a:avLst/>
          </a:prstGeom>
          <a:solidFill>
            <a:schemeClr val="bg1"/>
          </a:solidFill>
        </p:spPr>
        <p:txBody>
          <a:bodyPr wrap="square">
            <a:spAutoFit/>
          </a:bodyPr>
          <a:lstStyle/>
          <a:p>
            <a:r>
              <a:rPr lang="en-US" i="1" dirty="0">
                <a:effectLst/>
                <a:latin typeface="Helvetica" pitchFamily="2" charset="0"/>
              </a:rPr>
              <a:t>&gt;y1 &lt;- </a:t>
            </a:r>
            <a:r>
              <a:rPr lang="en-US" i="1" dirty="0" err="1">
                <a:effectLst/>
                <a:latin typeface="Helvetica" pitchFamily="2" charset="0"/>
              </a:rPr>
              <a:t>rnorm</a:t>
            </a:r>
            <a:r>
              <a:rPr lang="en-US" i="1" dirty="0">
                <a:effectLst/>
                <a:latin typeface="Helvetica" pitchFamily="2" charset="0"/>
              </a:rPr>
              <a:t>(n = 10, mean = 10, </a:t>
            </a:r>
            <a:r>
              <a:rPr lang="en-US" i="1" dirty="0" err="1">
                <a:effectLst/>
                <a:latin typeface="Helvetica" pitchFamily="2" charset="0"/>
              </a:rPr>
              <a:t>sd</a:t>
            </a:r>
            <a:r>
              <a:rPr lang="en-US" i="1" dirty="0">
                <a:effectLst/>
                <a:latin typeface="Helvetica" pitchFamily="2" charset="0"/>
              </a:rPr>
              <a:t> = </a:t>
            </a:r>
            <a:r>
              <a:rPr lang="en-US" i="1" dirty="0">
                <a:highlight>
                  <a:srgbClr val="FFFF00"/>
                </a:highlight>
                <a:latin typeface="Helvetica" pitchFamily="2" charset="0"/>
              </a:rPr>
              <a:t>1</a:t>
            </a:r>
            <a:r>
              <a:rPr lang="en-US" i="1" dirty="0">
                <a:effectLst/>
                <a:latin typeface="Helvetica" pitchFamily="2" charset="0"/>
              </a:rPr>
              <a:t>)</a:t>
            </a:r>
            <a:endParaRPr lang="en-US" dirty="0">
              <a:effectLst/>
              <a:latin typeface="Helvetica" pitchFamily="2" charset="0"/>
            </a:endParaRPr>
          </a:p>
          <a:p>
            <a:r>
              <a:rPr lang="en-US" i="1" dirty="0">
                <a:effectLst/>
                <a:latin typeface="Helvetica" pitchFamily="2" charset="0"/>
              </a:rPr>
              <a:t>&gt;y2 &lt;- </a:t>
            </a:r>
            <a:r>
              <a:rPr lang="en-US" i="1" dirty="0" err="1">
                <a:effectLst/>
                <a:latin typeface="Helvetica" pitchFamily="2" charset="0"/>
              </a:rPr>
              <a:t>rnorm</a:t>
            </a:r>
            <a:r>
              <a:rPr lang="en-US" i="1" dirty="0">
                <a:effectLst/>
                <a:latin typeface="Helvetica" pitchFamily="2" charset="0"/>
              </a:rPr>
              <a:t>(n = 10, mean = 10, </a:t>
            </a:r>
            <a:r>
              <a:rPr lang="en-US" i="1" dirty="0" err="1">
                <a:effectLst/>
                <a:latin typeface="Helvetica" pitchFamily="2" charset="0"/>
              </a:rPr>
              <a:t>sd</a:t>
            </a:r>
            <a:r>
              <a:rPr lang="en-US" i="1" dirty="0">
                <a:effectLst/>
                <a:latin typeface="Helvetica" pitchFamily="2" charset="0"/>
              </a:rPr>
              <a:t> = </a:t>
            </a:r>
            <a:r>
              <a:rPr lang="en-US" i="1" dirty="0">
                <a:effectLst/>
                <a:highlight>
                  <a:srgbClr val="FFFF00"/>
                </a:highlight>
                <a:latin typeface="Helvetica" pitchFamily="2" charset="0"/>
              </a:rPr>
              <a:t>1000</a:t>
            </a:r>
            <a:r>
              <a:rPr lang="en-US" i="1" dirty="0">
                <a:effectLst/>
                <a:latin typeface="Helvetica" pitchFamily="2" charset="0"/>
              </a:rPr>
              <a:t>)</a:t>
            </a:r>
            <a:endParaRPr lang="en-US" dirty="0">
              <a:effectLst/>
              <a:latin typeface="Helvetica" pitchFamily="2" charset="0"/>
            </a:endParaRPr>
          </a:p>
        </p:txBody>
      </p:sp>
      <p:grpSp>
        <p:nvGrpSpPr>
          <p:cNvPr id="10" name="Group 9">
            <a:extLst>
              <a:ext uri="{FF2B5EF4-FFF2-40B4-BE49-F238E27FC236}">
                <a16:creationId xmlns:a16="http://schemas.microsoft.com/office/drawing/2014/main" id="{FC626F46-99B6-45DC-3BE6-7D7F8177DA53}"/>
              </a:ext>
            </a:extLst>
          </p:cNvPr>
          <p:cNvGrpSpPr/>
          <p:nvPr/>
        </p:nvGrpSpPr>
        <p:grpSpPr>
          <a:xfrm>
            <a:off x="6250757" y="1803135"/>
            <a:ext cx="5891168" cy="4508765"/>
            <a:chOff x="4337049" y="2082799"/>
            <a:chExt cx="5891168" cy="4508765"/>
          </a:xfrm>
        </p:grpSpPr>
        <p:pic>
          <p:nvPicPr>
            <p:cNvPr id="9" name="Picture 8">
              <a:extLst>
                <a:ext uri="{FF2B5EF4-FFF2-40B4-BE49-F238E27FC236}">
                  <a16:creationId xmlns:a16="http://schemas.microsoft.com/office/drawing/2014/main" id="{B5FE4AF5-0D95-3704-896B-0ED1622297AF}"/>
                </a:ext>
              </a:extLst>
            </p:cNvPr>
            <p:cNvPicPr>
              <a:picLocks noChangeAspect="1"/>
            </p:cNvPicPr>
            <p:nvPr/>
          </p:nvPicPr>
          <p:blipFill>
            <a:blip r:embed="rId3"/>
            <a:stretch>
              <a:fillRect/>
            </a:stretch>
          </p:blipFill>
          <p:spPr>
            <a:xfrm>
              <a:off x="4337049" y="2082799"/>
              <a:ext cx="5891168" cy="4508765"/>
            </a:xfrm>
            <a:prstGeom prst="rect">
              <a:avLst/>
            </a:prstGeom>
          </p:spPr>
        </p:pic>
        <p:sp>
          <p:nvSpPr>
            <p:cNvPr id="5" name="TextBox 4">
              <a:extLst>
                <a:ext uri="{FF2B5EF4-FFF2-40B4-BE49-F238E27FC236}">
                  <a16:creationId xmlns:a16="http://schemas.microsoft.com/office/drawing/2014/main" id="{AE0CA60E-CDC9-97D6-EA4D-7B5951ABD5F6}"/>
                </a:ext>
              </a:extLst>
            </p:cNvPr>
            <p:cNvSpPr txBox="1"/>
            <p:nvPr/>
          </p:nvSpPr>
          <p:spPr>
            <a:xfrm>
              <a:off x="8778289" y="3059668"/>
              <a:ext cx="1006879" cy="369332"/>
            </a:xfrm>
            <a:prstGeom prst="rect">
              <a:avLst/>
            </a:prstGeom>
            <a:noFill/>
          </p:spPr>
          <p:txBody>
            <a:bodyPr wrap="none" rtlCol="0">
              <a:spAutoFit/>
            </a:bodyPr>
            <a:lstStyle/>
            <a:p>
              <a:r>
                <a:rPr lang="en-US" dirty="0"/>
                <a:t>Our data</a:t>
              </a:r>
            </a:p>
          </p:txBody>
        </p:sp>
      </p:grpSp>
    </p:spTree>
    <p:extLst>
      <p:ext uri="{BB962C8B-B14F-4D97-AF65-F5344CB8AC3E}">
        <p14:creationId xmlns:p14="http://schemas.microsoft.com/office/powerpoint/2010/main" val="53874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F38B3-68D2-35BB-6B7B-C7371996F845}"/>
              </a:ext>
            </a:extLst>
          </p:cNvPr>
          <p:cNvSpPr>
            <a:spLocks noGrp="1"/>
          </p:cNvSpPr>
          <p:nvPr>
            <p:ph type="title"/>
          </p:nvPr>
        </p:nvSpPr>
        <p:spPr/>
        <p:txBody>
          <a:bodyPr/>
          <a:lstStyle/>
          <a:p>
            <a:r>
              <a:rPr lang="en-US" dirty="0"/>
              <a:t>Fixed vs. random effects</a:t>
            </a:r>
          </a:p>
        </p:txBody>
      </p:sp>
      <p:sp>
        <p:nvSpPr>
          <p:cNvPr id="3" name="Content Placeholder 2">
            <a:extLst>
              <a:ext uri="{FF2B5EF4-FFF2-40B4-BE49-F238E27FC236}">
                <a16:creationId xmlns:a16="http://schemas.microsoft.com/office/drawing/2014/main" id="{D7285453-F88C-6944-AE5F-EA9E3B6D5037}"/>
              </a:ext>
            </a:extLst>
          </p:cNvPr>
          <p:cNvSpPr>
            <a:spLocks noGrp="1"/>
          </p:cNvSpPr>
          <p:nvPr>
            <p:ph idx="1"/>
          </p:nvPr>
        </p:nvSpPr>
        <p:spPr/>
        <p:txBody>
          <a:bodyPr>
            <a:normAutofit fontScale="92500" lnSpcReduction="20000"/>
          </a:bodyPr>
          <a:lstStyle/>
          <a:p>
            <a:r>
              <a:rPr lang="en-US" dirty="0"/>
              <a:t>Fixed effects: the primary interest in the study </a:t>
            </a:r>
            <a:r>
              <a:rPr lang="en-US" dirty="0">
                <a:sym typeface="Wingdings" pitchFamily="2" charset="2"/>
              </a:rPr>
              <a:t> </a:t>
            </a:r>
            <a:r>
              <a:rPr lang="en-US" dirty="0"/>
              <a:t>we want to make inferences about.</a:t>
            </a:r>
          </a:p>
          <a:p>
            <a:pPr lvl="1"/>
            <a:r>
              <a:rPr lang="en-US" dirty="0"/>
              <a:t>Example: In a study comparing the effect of three different fertilizers on crop yield, the type of fertilizer is a fixed effect.</a:t>
            </a:r>
          </a:p>
          <a:p>
            <a:r>
              <a:rPr lang="en-US" dirty="0"/>
              <a:t>Random effects: Not of primary interest, their values are assumed to be sampled from a larger population. </a:t>
            </a:r>
          </a:p>
          <a:p>
            <a:pPr lvl="1"/>
            <a:r>
              <a:rPr lang="en-US" dirty="0"/>
              <a:t>Example: In a study that aims to estimate heritability of milk production, different caws are considered a random effect</a:t>
            </a:r>
          </a:p>
          <a:p>
            <a:r>
              <a:rPr lang="en-US" dirty="0"/>
              <a:t>The choice between fixed and random effects depends on the research question and the nature of the data.</a:t>
            </a:r>
          </a:p>
          <a:p>
            <a:r>
              <a:rPr lang="en-US" dirty="0"/>
              <a:t>Blocks as fixed vs random: </a:t>
            </a:r>
            <a:br>
              <a:rPr lang="en-US" dirty="0"/>
            </a:br>
            <a:r>
              <a:rPr lang="en-US" dirty="0">
                <a:highlight>
                  <a:srgbClr val="FFFF00"/>
                </a:highlight>
              </a:rPr>
              <a:t>ASSIGNMENT – READ IT: </a:t>
            </a:r>
            <a:r>
              <a:rPr lang="en-US" dirty="0">
                <a:hlinkClick r:id="rId3"/>
              </a:rPr>
              <a:t>https://newprairiepress.org/cgi/viewcontent.cgi?referer=&amp;httpsredir=1&amp;article=1474&amp;context=agstatconference</a:t>
            </a:r>
            <a:r>
              <a:rPr lang="en-US" dirty="0"/>
              <a:t> </a:t>
            </a:r>
          </a:p>
        </p:txBody>
      </p:sp>
    </p:spTree>
    <p:extLst>
      <p:ext uri="{BB962C8B-B14F-4D97-AF65-F5344CB8AC3E}">
        <p14:creationId xmlns:p14="http://schemas.microsoft.com/office/powerpoint/2010/main" val="159923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06AA-DEB0-BCD0-2FE9-DB7C01E30684}"/>
              </a:ext>
            </a:extLst>
          </p:cNvPr>
          <p:cNvSpPr>
            <a:spLocks noGrp="1"/>
          </p:cNvSpPr>
          <p:nvPr>
            <p:ph type="title"/>
          </p:nvPr>
        </p:nvSpPr>
        <p:spPr/>
        <p:txBody>
          <a:bodyPr/>
          <a:lstStyle/>
          <a:p>
            <a:r>
              <a:rPr lang="en-US" dirty="0"/>
              <a:t>Fixed vs. random effects</a:t>
            </a:r>
          </a:p>
        </p:txBody>
      </p:sp>
      <p:sp>
        <p:nvSpPr>
          <p:cNvPr id="3" name="Content Placeholder 2">
            <a:extLst>
              <a:ext uri="{FF2B5EF4-FFF2-40B4-BE49-F238E27FC236}">
                <a16:creationId xmlns:a16="http://schemas.microsoft.com/office/drawing/2014/main" id="{A11E4004-D9C3-9DCA-1CCB-2E36BA424BA4}"/>
              </a:ext>
            </a:extLst>
          </p:cNvPr>
          <p:cNvSpPr>
            <a:spLocks noGrp="1"/>
          </p:cNvSpPr>
          <p:nvPr>
            <p:ph idx="1"/>
          </p:nvPr>
        </p:nvSpPr>
        <p:spPr/>
        <p:txBody>
          <a:bodyPr>
            <a:normAutofit fontScale="85000" lnSpcReduction="20000"/>
          </a:bodyPr>
          <a:lstStyle/>
          <a:p>
            <a:r>
              <a:rPr lang="en-US" dirty="0"/>
              <a:t>Example: If the goal of the study is to compare the effects of different fertilizers on yield, then the type of fertilizer should be treated as a fixed effect. However, if the goal is to estimate the overall variability in yield across different fields, then the field should be treated as a random effect.</a:t>
            </a:r>
          </a:p>
          <a:p>
            <a:r>
              <a:rPr lang="en-US" dirty="0"/>
              <a:t>The choice between fixed and random effects can have a significant impact on the results of the analysis, and it is important to choose the appropriate model specification.</a:t>
            </a:r>
          </a:p>
          <a:p>
            <a:r>
              <a:rPr lang="en-US" dirty="0"/>
              <a:t>Treating a random effect as a fixed effect can lead to biased estimates of the fixed effects, and treating a fixed effect as random can lead to an overestimation of the random effects.</a:t>
            </a:r>
          </a:p>
          <a:p>
            <a:r>
              <a:rPr lang="en-US" dirty="0"/>
              <a:t>Fixed or random?</a:t>
            </a:r>
          </a:p>
          <a:p>
            <a:pPr marL="0" indent="0">
              <a:buNone/>
            </a:pPr>
            <a:r>
              <a:rPr lang="en-US" dirty="0"/>
              <a:t> Field, location, year, genotype, type of fertilizer, type of crop, irrigation method</a:t>
            </a:r>
          </a:p>
        </p:txBody>
      </p:sp>
    </p:spTree>
    <p:extLst>
      <p:ext uri="{BB962C8B-B14F-4D97-AF65-F5344CB8AC3E}">
        <p14:creationId xmlns:p14="http://schemas.microsoft.com/office/powerpoint/2010/main" val="1440212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C7EDC-F5FF-7AAF-E5FD-E8AE89EBBE9D}"/>
              </a:ext>
            </a:extLst>
          </p:cNvPr>
          <p:cNvSpPr>
            <a:spLocks noGrp="1"/>
          </p:cNvSpPr>
          <p:nvPr>
            <p:ph type="title"/>
          </p:nvPr>
        </p:nvSpPr>
        <p:spPr/>
        <p:txBody>
          <a:bodyPr/>
          <a:lstStyle/>
          <a:p>
            <a:r>
              <a:rPr lang="en-US" dirty="0"/>
              <a:t>Mixed models in R</a:t>
            </a:r>
          </a:p>
        </p:txBody>
      </p:sp>
      <p:pic>
        <p:nvPicPr>
          <p:cNvPr id="4" name="Picture 3">
            <a:extLst>
              <a:ext uri="{FF2B5EF4-FFF2-40B4-BE49-F238E27FC236}">
                <a16:creationId xmlns:a16="http://schemas.microsoft.com/office/drawing/2014/main" id="{FABCF705-89FB-173E-BE66-106717C289B7}"/>
              </a:ext>
            </a:extLst>
          </p:cNvPr>
          <p:cNvPicPr>
            <a:picLocks noChangeAspect="1"/>
          </p:cNvPicPr>
          <p:nvPr/>
        </p:nvPicPr>
        <p:blipFill>
          <a:blip r:embed="rId3"/>
          <a:stretch>
            <a:fillRect/>
          </a:stretch>
        </p:blipFill>
        <p:spPr>
          <a:xfrm>
            <a:off x="707571" y="1384780"/>
            <a:ext cx="8266611" cy="5293161"/>
          </a:xfrm>
          <a:prstGeom prst="rect">
            <a:avLst/>
          </a:prstGeom>
        </p:spPr>
      </p:pic>
    </p:spTree>
    <p:extLst>
      <p:ext uri="{BB962C8B-B14F-4D97-AF65-F5344CB8AC3E}">
        <p14:creationId xmlns:p14="http://schemas.microsoft.com/office/powerpoint/2010/main" val="3772943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3C37E-C761-DC7D-890C-6B60A30DDD08}"/>
              </a:ext>
            </a:extLst>
          </p:cNvPr>
          <p:cNvSpPr>
            <a:spLocks noGrp="1"/>
          </p:cNvSpPr>
          <p:nvPr>
            <p:ph type="title"/>
          </p:nvPr>
        </p:nvSpPr>
        <p:spPr/>
        <p:txBody>
          <a:bodyPr/>
          <a:lstStyle/>
          <a:p>
            <a:r>
              <a:rPr lang="en-US" dirty="0"/>
              <a:t>Some interesting resources</a:t>
            </a:r>
          </a:p>
        </p:txBody>
      </p:sp>
      <p:sp>
        <p:nvSpPr>
          <p:cNvPr id="6" name="Content Placeholder 5">
            <a:extLst>
              <a:ext uri="{FF2B5EF4-FFF2-40B4-BE49-F238E27FC236}">
                <a16:creationId xmlns:a16="http://schemas.microsoft.com/office/drawing/2014/main" id="{B9016561-78CE-AF15-0025-AFCEE2C85EC8}"/>
              </a:ext>
            </a:extLst>
          </p:cNvPr>
          <p:cNvSpPr>
            <a:spLocks noGrp="1"/>
          </p:cNvSpPr>
          <p:nvPr>
            <p:ph idx="1"/>
          </p:nvPr>
        </p:nvSpPr>
        <p:spPr/>
        <p:txBody>
          <a:bodyPr/>
          <a:lstStyle/>
          <a:p>
            <a:r>
              <a:rPr lang="en-US" i="0" dirty="0">
                <a:solidFill>
                  <a:srgbClr val="333333"/>
                </a:solidFill>
                <a:effectLst/>
                <a:latin typeface="Helvetica Neue" panose="02000503000000020004" pitchFamily="2" charset="0"/>
              </a:rPr>
              <a:t>Statistical Analysis of Agricultural Experiments using R </a:t>
            </a:r>
            <a:r>
              <a:rPr lang="en-US" dirty="0">
                <a:hlinkClick r:id="rId3"/>
              </a:rPr>
              <a:t>https://rstats4ag.org/index.html#section</a:t>
            </a:r>
            <a:r>
              <a:rPr lang="en-US" dirty="0"/>
              <a:t> </a:t>
            </a:r>
          </a:p>
          <a:p>
            <a:r>
              <a:rPr lang="en-US" dirty="0"/>
              <a:t>Mixed models with R</a:t>
            </a:r>
          </a:p>
          <a:p>
            <a:pPr marL="0" indent="0">
              <a:buNone/>
            </a:pPr>
            <a:r>
              <a:rPr lang="en-US" dirty="0"/>
              <a:t>   </a:t>
            </a:r>
            <a:r>
              <a:rPr lang="en-US" dirty="0">
                <a:hlinkClick r:id="rId4"/>
              </a:rPr>
              <a:t>https://m-clark.github.io/mixed-models-with-R/</a:t>
            </a:r>
            <a:r>
              <a:rPr lang="en-US" dirty="0"/>
              <a:t> </a:t>
            </a:r>
          </a:p>
          <a:p>
            <a:pPr marL="0" indent="0">
              <a:buNone/>
            </a:pPr>
            <a:endParaRPr lang="en-US" dirty="0"/>
          </a:p>
        </p:txBody>
      </p:sp>
    </p:spTree>
    <p:extLst>
      <p:ext uri="{BB962C8B-B14F-4D97-AF65-F5344CB8AC3E}">
        <p14:creationId xmlns:p14="http://schemas.microsoft.com/office/powerpoint/2010/main" val="1345846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17552</TotalTime>
  <Words>1029</Words>
  <Application>Microsoft Macintosh PowerPoint</Application>
  <PresentationFormat>Widescreen</PresentationFormat>
  <Paragraphs>121</Paragraphs>
  <Slides>18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Helvetica</vt:lpstr>
      <vt:lpstr>Helvetica Neue</vt:lpstr>
      <vt:lpstr>Wingdings</vt:lpstr>
      <vt:lpstr>Office Theme</vt:lpstr>
      <vt:lpstr>AGST  50104  Experimental Design</vt:lpstr>
      <vt:lpstr>Comparing different designs (in an RCBD)</vt:lpstr>
      <vt:lpstr>Comparing different designs</vt:lpstr>
      <vt:lpstr>Factorial CRD</vt:lpstr>
      <vt:lpstr>Factorial RCBD</vt:lpstr>
      <vt:lpstr>Split-plot RCBD</vt:lpstr>
      <vt:lpstr>Split-plot RCBD (with agricolae)</vt:lpstr>
      <vt:lpstr>Strip-plot RCBD</vt:lpstr>
      <vt:lpstr>Factorial x Split-plot x Strip-plot</vt:lpstr>
      <vt:lpstr>Linear Mixed Models</vt:lpstr>
      <vt:lpstr>Fixed vs Random</vt:lpstr>
      <vt:lpstr>Examples of random and fixed effects</vt:lpstr>
      <vt:lpstr>When Do We Need Mixed Models?</vt:lpstr>
      <vt:lpstr>Maximum likelihood (ML) estimation and Variance components</vt:lpstr>
      <vt:lpstr>Fixed vs. random effects</vt:lpstr>
      <vt:lpstr>Fixed vs. random effects</vt:lpstr>
      <vt:lpstr>Mixed models in R</vt:lpstr>
      <vt:lpstr>Some interesting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stats</dc:title>
  <dc:creator>Samuel B Fernandes</dc:creator>
  <cp:lastModifiedBy>Samuel B Fernandes</cp:lastModifiedBy>
  <cp:revision>54</cp:revision>
  <dcterms:created xsi:type="dcterms:W3CDTF">2023-01-21T17:19:51Z</dcterms:created>
  <dcterms:modified xsi:type="dcterms:W3CDTF">2026-03-09T15:36:25Z</dcterms:modified>
</cp:coreProperties>
</file>