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73" r:id="rId2"/>
    <p:sldId id="375" r:id="rId3"/>
    <p:sldId id="294" r:id="rId4"/>
    <p:sldId id="377" r:id="rId5"/>
    <p:sldId id="378" r:id="rId6"/>
    <p:sldId id="379" r:id="rId7"/>
    <p:sldId id="380" r:id="rId8"/>
    <p:sldId id="341" r:id="rId9"/>
    <p:sldId id="381" r:id="rId10"/>
    <p:sldId id="338" r:id="rId11"/>
    <p:sldId id="365" r:id="rId12"/>
    <p:sldId id="346" r:id="rId13"/>
    <p:sldId id="366" r:id="rId14"/>
    <p:sldId id="367" r:id="rId15"/>
    <p:sldId id="334" r:id="rId16"/>
    <p:sldId id="359" r:id="rId17"/>
    <p:sldId id="369" r:id="rId18"/>
    <p:sldId id="370" r:id="rId19"/>
    <p:sldId id="371" r:id="rId20"/>
    <p:sldId id="368" r:id="rId21"/>
    <p:sldId id="3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2CFFE-7362-9D44-A63E-E635D77BDF94}" v="24" dt="2026-02-18T16:33:39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7"/>
    <p:restoredTop sz="77687"/>
  </p:normalViewPr>
  <p:slideViewPr>
    <p:cSldViewPr snapToGrid="0">
      <p:cViewPr varScale="1">
        <p:scale>
          <a:sx n="98" d="100"/>
          <a:sy n="98" d="100"/>
        </p:scale>
        <p:origin x="1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6F276-EE6D-DF4F-8392-FA3E83168DD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35B9D-3EDA-0B44-BE90-13B8E384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17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null hypothesis;</a:t>
            </a:r>
          </a:p>
          <a:p>
            <a:r>
              <a:rPr lang="en-US" dirty="0"/>
              <a:t>What type of experiment I’d need to test it;</a:t>
            </a:r>
          </a:p>
          <a:p>
            <a:r>
              <a:rPr lang="en-US" dirty="0"/>
              <a:t>Factors/levels</a:t>
            </a:r>
          </a:p>
          <a:p>
            <a:r>
              <a:rPr lang="en-US" dirty="0"/>
              <a:t># of reps, is the experimental area homogeneous?</a:t>
            </a:r>
          </a:p>
          <a:p>
            <a:r>
              <a:rPr lang="en-US" dirty="0"/>
              <a:t>Statistical model</a:t>
            </a:r>
          </a:p>
          <a:p>
            <a:r>
              <a:rPr lang="en-US" dirty="0"/>
              <a:t>Design the experiment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97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D19F6-7604-4443-8119-CC34B1F36DB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77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37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9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null hypothesis;</a:t>
            </a:r>
          </a:p>
          <a:p>
            <a:r>
              <a:rPr lang="en-US" dirty="0"/>
              <a:t>What type of experiment I’d need to test it;</a:t>
            </a:r>
          </a:p>
          <a:p>
            <a:r>
              <a:rPr lang="en-US" dirty="0"/>
              <a:t>Factors/levels</a:t>
            </a:r>
          </a:p>
          <a:p>
            <a:r>
              <a:rPr lang="en-US" dirty="0"/>
              <a:t># of reps, is the experimental area homogeneous?</a:t>
            </a:r>
          </a:p>
          <a:p>
            <a:r>
              <a:rPr lang="en-US" dirty="0"/>
              <a:t>Statistical model</a:t>
            </a:r>
          </a:p>
          <a:p>
            <a:r>
              <a:rPr lang="en-US" dirty="0"/>
              <a:t>Design the experiment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9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26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83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4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65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48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26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2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1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9F5-46A5-E653-ACEB-98E3E8BCA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A73D-E705-8722-ABD6-4C3DC957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3EEB-BF3C-0C38-567A-EE22C3E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5733-F42D-587B-A3E9-FAADA814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5F9E-66CF-FD89-ADA5-7DFF8F1B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E441-6BD7-0ECB-9CFF-B3E2CDF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5AD-9B07-A82C-4456-4B0978DF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2FD0-AC30-733B-65D7-42BC9B7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FF81-D8DB-8EF2-26B2-DEDF596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F5FB-E667-C6C6-9BAA-2D7779D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77C2-8C0C-CED4-2C3D-DC9A27B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D89E-02F7-2213-D1E7-DA79F625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5A36-7990-B9CD-BFAF-59603572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8799-DFB5-F958-59AC-F4395C8D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546-3C9B-5272-BED6-9863BF3D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4-3EF4-7C0C-C0F0-C89E4705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C622-5669-D61A-4BA7-8C841C05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14FC-7BA8-A86E-E1F6-C9C78AD4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C73C-9134-2336-771D-626E627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6D73-F61F-BBA0-2B42-B394CFA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3EC6-87AA-2BAF-B417-3B7322F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C3B-289F-A2BD-756F-E3DE140E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9B30-5D19-50A3-7E96-9C7F090E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31310-634C-1E53-9F48-FE9AF110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293D-0718-487B-F8BF-3D7C46E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A86BE-3680-095B-ABCC-4C738869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3D9B-9CBF-A94E-6C16-ADB235B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7E7B1-A571-70A9-8D8D-226AFC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F61C-E138-EABD-149F-085314F1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C6D-D7F2-0C84-3F85-39F036A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DE3-67E5-9048-7222-7E2F00AB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5064C-B08A-7C41-D193-B885D3D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875FA-D5F3-4CC0-468D-E437334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8E29-A532-A4CD-6681-1996D63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BECE6-813E-63D5-980D-78EE0965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6F51-1710-F337-9CD2-D879676E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4F62-4911-E925-4BB6-C9EB173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E16F-93E1-CB4C-34F3-37E8A9F4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0CC38-AE8A-6866-52E4-7A672074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3583-CA7E-E3ED-B59E-1C6757C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24C6-E994-45B4-275B-9DC613B1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10EA-A019-90CF-D6D5-56E93C5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496-3C36-F69C-1DAC-A9C0848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3F93A-8BE5-4BF6-786F-F4260C6D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5FF9-DB0F-D67B-33DE-5DC9F2A5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A3AD1-29CD-3EEB-E109-802D193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F187-76B5-C72E-080C-AB66C3B2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9D24-7EA0-8C42-7CA0-ED5C8159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08E-BF84-2AD1-BA10-960B878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C68A-979D-A4FA-948F-CA98958B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600E-B5D6-C0A3-C323-DA78E186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5821-134F-9EDC-BFCC-192D192F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C268-062F-5CAA-9750-AA507AC6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8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2EB96-BEB0-FBB0-B366-CE26CA86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A2736-26C5-9EA6-9864-7D814B99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C0A9-5C86-DBDC-82D3-3F45CFF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CC23-3A20-12BC-3AA3-D4023D46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EF4D-A3D2-63D8-8EC2-6A6D868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676400"/>
          </a:xfrm>
        </p:spPr>
        <p:txBody>
          <a:bodyPr/>
          <a:lstStyle>
            <a:lvl1pPr marL="457200" indent="-457200">
              <a:buFont typeface="Arial" pitchFamily="34" charset="0"/>
              <a:buChar char="•"/>
              <a:defRPr sz="26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 marL="1143000" indent="-228600"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3pPr>
            <a:lvl4pPr marL="1371600" indent="0">
              <a:buFontTx/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FontTx/>
              <a:buNone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04800" y="6409157"/>
            <a:ext cx="115232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lvl="0" indent="0" algn="ctr">
              <a:spcBef>
                <a:spcPts val="0"/>
              </a:spcBef>
              <a:buClr>
                <a:srgbClr val="008080"/>
              </a:buClr>
              <a:buSzPct val="25000"/>
              <a:buNone/>
            </a:pPr>
            <a:r>
              <a:rPr lang="en-US" sz="1200" b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Copyright © 2018 W. H. Freeman and Company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4114800"/>
            <a:ext cx="10160000" cy="167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9245600" y="3124200"/>
            <a:ext cx="1219200" cy="381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9245600" y="3886200"/>
            <a:ext cx="1219200" cy="533400"/>
          </a:xfrm>
        </p:spPr>
        <p:txBody>
          <a:bodyPr/>
          <a:lstStyle/>
          <a:p>
            <a:pPr lvl="0"/>
            <a:r>
              <a:rPr lang="en-US" dirty="0" err="1"/>
              <a:t>Cick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74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1CB6-BF24-BC74-3EEA-5896BC9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9A131-00FF-7B74-AFB9-D3922CB2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C1C6-B3A4-1D64-CE8C-F7D6B749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399A-5209-EB4E-8D86-43B52F9A823B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13B-57FE-44A8-3DBB-60FBC9C2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D596A-5314-C5B6-EE69-4BA3E5A4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novas-three-types-of-estimating-sums-of-squares-don-t-make-the-wrong-choice-91107c77a27a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solidFill>
                  <a:srgbClr val="333333"/>
                </a:solidFill>
                <a:effectLst/>
                <a:latin typeface="Helvetica" pitchFamily="2" charset="0"/>
              </a:rPr>
              <a:t>AGST 50104</a:t>
            </a:r>
            <a:r>
              <a:rPr lang="en-US" b="1" i="0" dirty="0">
                <a:solidFill>
                  <a:srgbClr val="333333"/>
                </a:solidFill>
                <a:effectLst/>
                <a:latin typeface="Helvetica" pitchFamily="2" charset="0"/>
              </a:rPr>
              <a:t> </a:t>
            </a:r>
            <a:r>
              <a:rPr lang="en-US" dirty="0"/>
              <a:t>EXPERIMENTAL DESIGN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207E-67F5-6F20-4B70-1C5C3B981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Review – CRD, Factorial Design, and RCBD</a:t>
            </a:r>
          </a:p>
        </p:txBody>
      </p:sp>
    </p:spTree>
    <p:extLst>
      <p:ext uri="{BB962C8B-B14F-4D97-AF65-F5344CB8AC3E}">
        <p14:creationId xmlns:p14="http://schemas.microsoft.com/office/powerpoint/2010/main" val="28698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B3C2-74E1-9207-7E2D-C5DE9200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Doses of K vs blackberry sweetness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EB838-15D9-CBB7-5B56-5B5A96B08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200" dirty="0"/>
                  <a:t>H0: Research question</a:t>
                </a:r>
              </a:p>
              <a:p>
                <a:r>
                  <a:rPr lang="en-US" sz="3200" dirty="0"/>
                  <a:t>Variables: K, sweetness</a:t>
                </a:r>
              </a:p>
              <a:p>
                <a:r>
                  <a:rPr lang="en-US" sz="3200" b="1" dirty="0"/>
                  <a:t># of EU or reps</a:t>
                </a:r>
              </a:p>
              <a:p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3200" b="0" i="1" dirty="0" smtClean="0">
                        <a:latin typeface="Cambria Math" panose="02040503050406030204" pitchFamily="18" charset="0"/>
                      </a:rPr>
                      <m:t>Choose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the</m:t>
                    </m:r>
                    <m:r>
                      <m:rPr>
                        <m:nor/>
                      </m:rPr>
                      <a:rPr lang="en-US" sz="3200" b="0" i="0" dirty="0" smtClean="0"/>
                      <m:t>] </m:t>
                    </m:r>
                    <m:r>
                      <m:rPr>
                        <m:nor/>
                      </m:rPr>
                      <a:rPr lang="en-US" sz="3200" b="0" i="0" dirty="0" smtClean="0"/>
                      <m:t>Experimental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design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</m:oMath>
                </a14:m>
                <a:endParaRPr lang="en-US" sz="3200" b="0" dirty="0"/>
              </a:p>
              <a:p>
                <a:r>
                  <a:rPr lang="en-US" sz="3200" dirty="0"/>
                  <a:t>Design the experiment [vs Analysis of experiments]</a:t>
                </a:r>
                <a:br>
                  <a:rPr lang="en-US" dirty="0"/>
                </a:br>
                <a:endParaRPr lang="en-US" dirty="0"/>
              </a:p>
              <a:p>
                <a:endParaRPr lang="en-US" sz="28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EB838-15D9-CBB7-5B56-5B5A96B08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37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Assumptions (on the residuals not the raw data)</a:t>
            </a:r>
          </a:p>
        </p:txBody>
      </p:sp>
      <p:pic>
        <p:nvPicPr>
          <p:cNvPr id="9" name="Picture 3" descr="Three scatterplots depicting residual plots are shown. &#10;&quot;&#10;&#10;&#10;&#10;In all three plots, the horizontal axis represents X. The vertical axis represents the residuals, marked from -4 to 4 with intervals of 1 unit. A horizontal line is drawn through the residual value 0 in all 3 plots. &#10;In the first plot, the data points are distributed, approximately, as follows:&#10;Between residuals minus 1 and 0, 12 points; Between residuals 0 and 1, 15 points; Between residuals minus 2 and minus 1, 6 points; Between residuals 1 and 2, 4 points. &#10;In the second plot, the data points are distributed, approximately, as follows:&#10;Between residuals minus 1 and 0, 6 points; Between residuals 0 and 1, 3 points; Between residuals minus 2 and minus 1, 6 points; Between residuals 1 and 2, 5 points; Between residuals minus 3 and minus 2, 1 point; Between residuals 2 and 3, 1 point. &#10;In the third plot, the data points are distributed, approximately, as follows:&#10;Between residuals minus 1 and 0, 9 points; Between residuals 0 and 1, 9 points; Between residuals minus 2 and minus 1, 3 points; Between residuals 1 and 2, 3 points; Between residuals minus 3 and minus 2, 6 points, Between residuals 2 and 3, 3 points; Between residuals minus 4 and minus 3, 2 points. &#10;&quot;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914401" y="1420944"/>
            <a:ext cx="3897085" cy="5401905"/>
          </a:xfrm>
          <a:prstGeom prst="rect">
            <a:avLst/>
          </a:prstGeom>
          <a:noFill/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203370" y="1912096"/>
            <a:ext cx="6803571" cy="4419600"/>
          </a:xfrm>
        </p:spPr>
        <p:txBody>
          <a:bodyPr>
            <a:normAutofit/>
          </a:bodyPr>
          <a:lstStyle/>
          <a:p>
            <a:pPr eaLnBrk="0" hangingPunct="0">
              <a:lnSpc>
                <a:spcPct val="130000"/>
              </a:lnSpc>
              <a:buFont typeface="Arial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Residuals are randomly scattered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good!</a:t>
            </a:r>
          </a:p>
          <a:p>
            <a:pPr eaLnBrk="0" hangingPunct="0">
              <a:lnSpc>
                <a:spcPct val="130000"/>
              </a:lnSpc>
              <a:buFont typeface="Arial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Curved pattern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relationship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 linear.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Arial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Change in variability across plot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b="1" i="1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not equal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all values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12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4E18-DF84-6981-1D56-8B624C06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28FAF-0DE6-7C94-F999-618D578C3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9" y="2508068"/>
            <a:ext cx="5985211" cy="3801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51097-8B8C-E8FD-D7FD-CD09D3CBF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8068"/>
            <a:ext cx="5985211" cy="380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9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8177-8218-9C01-E2B1-0F6B95E3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25110-6AA0-D1EB-C952-8C1E5F059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8" y="1520960"/>
            <a:ext cx="7299960" cy="1284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D78EBB-4044-F1F6-EF87-1F43A678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58" y="3100604"/>
            <a:ext cx="7772400" cy="1720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AE2F7E-3CAD-61AE-01C1-E5059EF152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711"/>
          <a:stretch/>
        </p:blipFill>
        <p:spPr>
          <a:xfrm>
            <a:off x="480958" y="5203668"/>
            <a:ext cx="8902880" cy="10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0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054A-4567-64DC-8BCF-A41E7A05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8098-E6A2-B5DC-0F4B-215AE277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have interaction in </a:t>
            </a:r>
            <a:br>
              <a:rPr lang="en-US" dirty="0"/>
            </a:br>
            <a:r>
              <a:rPr lang="en-US" dirty="0"/>
              <a:t>the model?</a:t>
            </a:r>
          </a:p>
          <a:p>
            <a:endParaRPr lang="en-US" dirty="0"/>
          </a:p>
          <a:p>
            <a:r>
              <a:rPr lang="en-US" dirty="0"/>
              <a:t>No need for an interaction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507C7-F5EE-16B0-754A-01EE8BF8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5557"/>
            <a:ext cx="6363789" cy="4406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19B32F-6E37-0E0C-2F28-CD1A81312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01294"/>
            <a:ext cx="7772400" cy="204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492B-649F-BE54-8E17-8B32F29A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307E-9B20-9CA3-496B-944DBA1E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have interaction?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88BF4-FCB1-7D36-E055-36433CD5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23" y="1825625"/>
            <a:ext cx="4955177" cy="2760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2B43C1-E442-BC35-411D-EA752FF4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9" y="2392632"/>
            <a:ext cx="6241869" cy="2524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08B40E-8A11-5CC4-8A00-7BCB2F1BB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69" y="4999870"/>
            <a:ext cx="60960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3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59FCC8A-77E6-8019-F97C-0CAC0510B3E2}"/>
              </a:ext>
            </a:extLst>
          </p:cNvPr>
          <p:cNvGrpSpPr/>
          <p:nvPr/>
        </p:nvGrpSpPr>
        <p:grpSpPr>
          <a:xfrm>
            <a:off x="8536564" y="2121752"/>
            <a:ext cx="3028841" cy="2614495"/>
            <a:chOff x="5038344" y="1825625"/>
            <a:chExt cx="5263896" cy="468124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F74AE21-2DE8-C351-DBEC-5DD09719F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8344" y="1825625"/>
              <a:ext cx="5263896" cy="431191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B9D153-2C4D-B686-2F5E-E8525BDFA9A5}"/>
                </a:ext>
              </a:extLst>
            </p:cNvPr>
            <p:cNvSpPr txBox="1"/>
            <p:nvPr/>
          </p:nvSpPr>
          <p:spPr>
            <a:xfrm>
              <a:off x="8656320" y="6137540"/>
              <a:ext cx="1271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Source: </a:t>
              </a:r>
              <a:r>
                <a:rPr lang="en-US" dirty="0">
                  <a:hlinkClick r:id="rId3"/>
                </a:rPr>
                <a:t>link</a:t>
              </a:r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746207F-7674-81AA-6878-6F2168B83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5" y="1543745"/>
            <a:ext cx="6482398" cy="51801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2A1B12E-C9DA-BDBC-0D96-10A5623D54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I vs Type II and III [Balanced data]</a:t>
            </a:r>
          </a:p>
        </p:txBody>
      </p:sp>
    </p:spTree>
    <p:extLst>
      <p:ext uri="{BB962C8B-B14F-4D97-AF65-F5344CB8AC3E}">
        <p14:creationId xmlns:p14="http://schemas.microsoft.com/office/powerpoint/2010/main" val="428655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46207F-7674-81AA-6878-6F2168B8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95" y="1543745"/>
            <a:ext cx="6482398" cy="51801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2A1B12E-C9DA-BDBC-0D96-10A5623D54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I vs Type II and III [unbalanced data]</a:t>
            </a:r>
          </a:p>
        </p:txBody>
      </p:sp>
    </p:spTree>
    <p:extLst>
      <p:ext uri="{BB962C8B-B14F-4D97-AF65-F5344CB8AC3E}">
        <p14:creationId xmlns:p14="http://schemas.microsoft.com/office/powerpoint/2010/main" val="296371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0306-82E5-35B7-80F5-F1D3BCBB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design does this model represent?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CC64F-6F78-6072-62EF-67A77FEF4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1-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b="0" i="0" baseline="-25000" dirty="0" smtClean="0"/>
                      <m:t>k</m:t>
                    </m:r>
                    <m:r>
                      <m:rPr>
                        <m:nor/>
                      </m:rPr>
                      <a:rPr lang="en-US" sz="3200" dirty="0" smtClean="0"/>
                      <m:t> 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dirty="0"/>
                  <a:t>⍺</a:t>
                </a:r>
                <a14:m>
                  <m:oMath xmlns:m="http://schemas.openxmlformats.org/officeDocument/2006/math"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3200" dirty="0"/>
                      <m:t>⍺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𝑖𝑗𝑘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2-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dirty="0" smtClean="0"/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dirty="0" smtClean="0"/>
                      <m:t>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3200" dirty="0"/>
                      <m:t>⍺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3-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dirty="0" smtClean="0"/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dirty="0" smtClean="0"/>
                      <m:t>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3200" dirty="0"/>
                      <m:t>⍺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3200" dirty="0"/>
                      <m:t>−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dirty="0"/>
                      <m:t>Y</m:t>
                    </m:r>
                    <m:r>
                      <m:rPr>
                        <m:nor/>
                      </m:rPr>
                      <a:rPr lang="en-US" sz="3200" baseline="-25000" dirty="0"/>
                      <m:t>ij</m:t>
                    </m:r>
                    <m:r>
                      <m:rPr>
                        <m:nor/>
                      </m:rPr>
                      <a:rPr lang="en-US" sz="3200" dirty="0"/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dirty="0"/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0" i="0" dirty="0" smtClean="0"/>
                      <m:t>5− </m:t>
                    </m:r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b="0" i="0" baseline="-25000" dirty="0" smtClean="0"/>
                      <m:t>k</m:t>
                    </m:r>
                    <m:r>
                      <m:rPr>
                        <m:nor/>
                      </m:rPr>
                      <a:rPr lang="en-US" sz="3200" dirty="0" smtClean="0"/>
                      <m:t> 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dirty="0"/>
                  <a:t>⍺</a:t>
                </a:r>
                <a14:m>
                  <m:oMath xmlns:m="http://schemas.openxmlformats.org/officeDocument/2006/math"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3200" dirty="0"/>
                      <m:t>⍺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𝑖𝑗𝑘</m:t>
                    </m:r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CC64F-6F78-6072-62EF-67A77FEF4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FE64CDA-1613-F5B9-7561-2706F264C292}"/>
              </a:ext>
            </a:extLst>
          </p:cNvPr>
          <p:cNvSpPr txBox="1"/>
          <p:nvPr/>
        </p:nvSpPr>
        <p:spPr>
          <a:xfrm>
            <a:off x="6590211" y="1825625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Factorial CRD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E0E7B-E47B-25AF-9FAB-4034440E448E}"/>
              </a:ext>
            </a:extLst>
          </p:cNvPr>
          <p:cNvSpPr txBox="1"/>
          <p:nvPr/>
        </p:nvSpPr>
        <p:spPr>
          <a:xfrm>
            <a:off x="5253446" y="2479586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RCBD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96309-A2AB-0AFD-D320-ABE8655C5260}"/>
              </a:ext>
            </a:extLst>
          </p:cNvPr>
          <p:cNvSpPr txBox="1"/>
          <p:nvPr/>
        </p:nvSpPr>
        <p:spPr>
          <a:xfrm>
            <a:off x="5253446" y="2977593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CRD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5F69A3-4017-63BC-4874-BBE0341DED86}"/>
              </a:ext>
            </a:extLst>
          </p:cNvPr>
          <p:cNvSpPr txBox="1"/>
          <p:nvPr/>
        </p:nvSpPr>
        <p:spPr>
          <a:xfrm>
            <a:off x="7569925" y="4119684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Factorial RCBD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D2F26-814B-88DA-0A2F-4F9AD1D4640B}"/>
              </a:ext>
            </a:extLst>
          </p:cNvPr>
          <p:cNvSpPr txBox="1"/>
          <p:nvPr/>
        </p:nvSpPr>
        <p:spPr>
          <a:xfrm>
            <a:off x="3762103" y="3617885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CRD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6059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B3C2-74E1-9207-7E2D-C5DE9200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Doses of K vs blackberry sweetness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EB838-15D9-CBB7-5B56-5B5A96B08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200" dirty="0"/>
                  <a:t>H0: ?</a:t>
                </a:r>
              </a:p>
              <a:p>
                <a:r>
                  <a:rPr lang="en-US" sz="3200" dirty="0"/>
                  <a:t>Variables: K, sweetness</a:t>
                </a:r>
              </a:p>
              <a:p>
                <a:r>
                  <a:rPr lang="en-US" sz="3200" dirty="0"/>
                  <a:t># of EU or reps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0" i="0" dirty="0" smtClean="0"/>
                      <m:t>Experimental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b="0" i="0" dirty="0" smtClean="0"/>
                      <m:t>design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   </m:t>
                    </m:r>
                    <m:r>
                      <m:rPr>
                        <m:nor/>
                      </m:rPr>
                      <a:rPr lang="en-US" sz="3200" b="0" i="0" dirty="0" smtClean="0"/>
                      <m:t> </m:t>
                    </m:r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dirty="0" smtClean="0"/>
                      <m:t> 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  <m:r>
                      <m:rPr>
                        <m:nor/>
                      </m:rPr>
                      <a:rPr lang="en-US" sz="32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dirty="0"/>
                      <m:t>Y</m:t>
                    </m:r>
                    <m:r>
                      <m:rPr>
                        <m:nor/>
                      </m:rPr>
                      <a:rPr lang="en-US" sz="3200" baseline="-25000" dirty="0"/>
                      <m:t>ij</m:t>
                    </m:r>
                    <m:r>
                      <m:rPr>
                        <m:nor/>
                      </m:rPr>
                      <a:rPr lang="en-US" sz="3200" dirty="0"/>
                      <m:t> =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r>
                  <a:rPr lang="en-US" sz="3200" dirty="0"/>
                  <a:t>Design the experiment</a:t>
                </a:r>
              </a:p>
              <a:p>
                <a:r>
                  <a:rPr lang="en-US" sz="3200" dirty="0"/>
                  <a:t>Collect the data</a:t>
                </a:r>
              </a:p>
              <a:p>
                <a:endParaRPr lang="en-US" sz="28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EB838-15D9-CBB7-5B56-5B5A96B08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ABBC089-3D4F-C0DB-4221-BB5494F216D7}"/>
              </a:ext>
            </a:extLst>
          </p:cNvPr>
          <p:cNvGrpSpPr/>
          <p:nvPr/>
        </p:nvGrpSpPr>
        <p:grpSpPr>
          <a:xfrm>
            <a:off x="5121174" y="4815218"/>
            <a:ext cx="5136752" cy="1588093"/>
            <a:chOff x="1045563" y="4156224"/>
            <a:chExt cx="5136752" cy="158809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274F0BE-4F8D-0DB5-9BFC-F39906CC4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159" y="5016725"/>
              <a:ext cx="3456062" cy="72759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8503F4-8B83-0214-DE0E-01064714A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563" y="4156224"/>
              <a:ext cx="5136752" cy="829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783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BD12CE0-DAD8-C117-BBED-5D73FC03B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 experiment with one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F59D-30FA-E120-1388-C783FA4D82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987550"/>
            <a:ext cx="8162925" cy="4351338"/>
          </a:xfrm>
        </p:spPr>
        <p:txBody>
          <a:bodyPr/>
          <a:lstStyle/>
          <a:p>
            <a:endParaRPr lang="en-US" sz="32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B01C39-86E9-227A-2EDE-CEED0FA45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134" y="1743869"/>
            <a:ext cx="4559300" cy="4838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4DA809-A768-8708-B7D3-09D47EE09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34" y="2503488"/>
            <a:ext cx="73406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E6BCED-9C1C-787F-3FDB-CC802176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83" y="1690688"/>
            <a:ext cx="11536428" cy="475487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7999F2-0160-F982-E834-470F46A2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 experiment with multiple factors</a:t>
            </a:r>
          </a:p>
        </p:txBody>
      </p:sp>
    </p:spTree>
    <p:extLst>
      <p:ext uri="{BB962C8B-B14F-4D97-AF65-F5344CB8AC3E}">
        <p14:creationId xmlns:p14="http://schemas.microsoft.com/office/powerpoint/2010/main" val="377305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9C596B-E7FE-659A-25ED-E60FFC3C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37" y="1690688"/>
            <a:ext cx="5804263" cy="39961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0D25DF-6246-787A-B648-C9F07D79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layout:</a:t>
            </a:r>
          </a:p>
        </p:txBody>
      </p:sp>
    </p:spTree>
    <p:extLst>
      <p:ext uri="{BB962C8B-B14F-4D97-AF65-F5344CB8AC3E}">
        <p14:creationId xmlns:p14="http://schemas.microsoft.com/office/powerpoint/2010/main" val="187933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FB2CD7-CA3A-D213-984B-EA6507696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12" y="164003"/>
            <a:ext cx="9072575" cy="66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7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A54A-F7FD-F1F9-A1CB-971F72C7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ANOVA: are we missing something?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56188-8176-A688-E5E2-BD32B5883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5" y="1670297"/>
            <a:ext cx="10811128" cy="1190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37C840-FC17-3288-FD37-EC0E22582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439" y="2860766"/>
            <a:ext cx="7641121" cy="2102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E339EA-8D11-CFB6-22BF-4C6060C06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69" y="5543898"/>
            <a:ext cx="11451262" cy="8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26948-58BA-E684-76E3-BC5FF20BE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07" y="1752553"/>
            <a:ext cx="10515600" cy="191811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66CF2C1-4313-3BD8-FE34-5451CD20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ANOVA: are we still missing something?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418B1F-87D8-4A37-F48D-69F4142C14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824"/>
          <a:stretch/>
        </p:blipFill>
        <p:spPr>
          <a:xfrm>
            <a:off x="2446276" y="3837054"/>
            <a:ext cx="7772400" cy="27749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05C51F-CC67-6AE9-EBC5-C2B16CB9AF6D}"/>
              </a:ext>
            </a:extLst>
          </p:cNvPr>
          <p:cNvSpPr txBox="1"/>
          <p:nvPr/>
        </p:nvSpPr>
        <p:spPr>
          <a:xfrm>
            <a:off x="-1802296" y="1855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3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732410-B33F-1BF4-E521-ECD69DBB0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665" y="836023"/>
            <a:ext cx="9663646" cy="6021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94C651-899E-1BBA-00BE-24A16149E3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7888"/>
          <a:stretch/>
        </p:blipFill>
        <p:spPr>
          <a:xfrm>
            <a:off x="145504" y="116477"/>
            <a:ext cx="3058459" cy="71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9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05942E-01EE-7509-F624-EC76047E6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29" y="1620882"/>
            <a:ext cx="27432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6C794-5F8B-BBCB-7D3E-82EDC055C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571" y="2302145"/>
            <a:ext cx="4919563" cy="42396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352333-6986-3AC4-704B-2BF5DF96A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3" y="1746250"/>
            <a:ext cx="5626100" cy="33655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2414A13-93C5-36B9-213B-DA5880CF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226901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B2A7-4F9D-2857-F707-82FED436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without outlier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559B5-F993-4FC6-5771-5134E19F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27" y="1607016"/>
            <a:ext cx="10632776" cy="1821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37D76-92CB-8E87-EB7B-DD388982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27" y="3502526"/>
            <a:ext cx="7169332" cy="176048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28C85CB-A82D-1093-217A-9799930269EC}"/>
              </a:ext>
            </a:extLst>
          </p:cNvPr>
          <p:cNvGrpSpPr/>
          <p:nvPr/>
        </p:nvGrpSpPr>
        <p:grpSpPr>
          <a:xfrm>
            <a:off x="6662057" y="4967202"/>
            <a:ext cx="5529943" cy="1890798"/>
            <a:chOff x="6662057" y="4967202"/>
            <a:chExt cx="5529943" cy="18907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218605-635E-A265-7E35-BD14C9E99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2057" y="5336534"/>
              <a:ext cx="5529943" cy="152146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AF2801-FFBD-0805-F7D2-3CC91B0BBCA5}"/>
                </a:ext>
              </a:extLst>
            </p:cNvPr>
            <p:cNvSpPr txBox="1"/>
            <p:nvPr/>
          </p:nvSpPr>
          <p:spPr>
            <a:xfrm>
              <a:off x="9025475" y="4967202"/>
              <a:ext cx="803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554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E323D4-FFC4-6149-3FFB-CB8D6967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EE97E-FEDC-CA5D-030B-1F7FF144E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60" y="1840852"/>
            <a:ext cx="7234464" cy="5017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E4F06-CB08-93A0-6E10-780EA1268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933303"/>
            <a:ext cx="11001749" cy="49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8384</TotalTime>
  <Words>382</Words>
  <Application>Microsoft Macintosh PowerPoint</Application>
  <PresentationFormat>Widescreen</PresentationFormat>
  <Paragraphs>80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Helvetica</vt:lpstr>
      <vt:lpstr>Wingdings</vt:lpstr>
      <vt:lpstr>Office Theme</vt:lpstr>
      <vt:lpstr>AGST 50104 EXPERIMENTAL DESIGN</vt:lpstr>
      <vt:lpstr>Doses of K vs blackberry sweetness</vt:lpstr>
      <vt:lpstr>Assumptions (on the residuals not the raw data)</vt:lpstr>
      <vt:lpstr>Diagnostic Plots</vt:lpstr>
      <vt:lpstr>Statistical tests</vt:lpstr>
      <vt:lpstr>Interaction</vt:lpstr>
      <vt:lpstr>Interaction</vt:lpstr>
      <vt:lpstr>PowerPoint Presentation</vt:lpstr>
      <vt:lpstr>PowerPoint Presentation</vt:lpstr>
      <vt:lpstr>What design does this model represent?</vt:lpstr>
      <vt:lpstr>Doses of K vs blackberry sweetness</vt:lpstr>
      <vt:lpstr>Design an experiment with one factor</vt:lpstr>
      <vt:lpstr>Design an experiment with multiple factors</vt:lpstr>
      <vt:lpstr>Field layout:</vt:lpstr>
      <vt:lpstr>PowerPoint Presentation</vt:lpstr>
      <vt:lpstr>ANOVA: are we missing something?</vt:lpstr>
      <vt:lpstr>ANOVA: are we still missing something?</vt:lpstr>
      <vt:lpstr>PowerPoint Presentation</vt:lpstr>
      <vt:lpstr>OUTLIER</vt:lpstr>
      <vt:lpstr>ANOVA without outlier</vt:lpstr>
      <vt:lpstr>Interaction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stats</dc:title>
  <dc:creator>Samuel B Fernandes</dc:creator>
  <cp:lastModifiedBy>Samuel B Fernandes</cp:lastModifiedBy>
  <cp:revision>23</cp:revision>
  <dcterms:created xsi:type="dcterms:W3CDTF">2023-01-21T17:19:51Z</dcterms:created>
  <dcterms:modified xsi:type="dcterms:W3CDTF">2026-02-18T16:34:57Z</dcterms:modified>
</cp:coreProperties>
</file>