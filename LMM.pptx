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71" r:id="rId2"/>
    <p:sldId id="345" r:id="rId3"/>
    <p:sldId id="334" r:id="rId4"/>
    <p:sldId id="335" r:id="rId5"/>
    <p:sldId id="336" r:id="rId6"/>
    <p:sldId id="337" r:id="rId7"/>
    <p:sldId id="340" r:id="rId8"/>
    <p:sldId id="339" r:id="rId9"/>
    <p:sldId id="342" r:id="rId10"/>
    <p:sldId id="343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2D9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60AE097-3237-314E-83F4-B272FC84B96A}" v="3" dt="2026-03-18T14:27:51.34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7512"/>
    <p:restoredTop sz="96322"/>
  </p:normalViewPr>
  <p:slideViewPr>
    <p:cSldViewPr snapToGrid="0">
      <p:cViewPr varScale="1">
        <p:scale>
          <a:sx n="93" d="100"/>
          <a:sy n="93" d="100"/>
        </p:scale>
        <p:origin x="232" y="8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muel B Fernandes" userId="6d96ad7d-4ada-4a90-936f-060428e74a02" providerId="ADAL" clId="{EBAE36E1-9894-586F-B819-C899ECA05CC1}"/>
    <pc:docChg chg="custSel modSld">
      <pc:chgData name="Samuel B Fernandes" userId="6d96ad7d-4ada-4a90-936f-060428e74a02" providerId="ADAL" clId="{EBAE36E1-9894-586F-B819-C899ECA05CC1}" dt="2026-03-18T14:29:15.990" v="12" actId="478"/>
      <pc:docMkLst>
        <pc:docMk/>
      </pc:docMkLst>
      <pc:sldChg chg="addSp modSp mod modAnim">
        <pc:chgData name="Samuel B Fernandes" userId="6d96ad7d-4ada-4a90-936f-060428e74a02" providerId="ADAL" clId="{EBAE36E1-9894-586F-B819-C899ECA05CC1}" dt="2026-03-18T14:27:53.567" v="11" actId="1076"/>
        <pc:sldMkLst>
          <pc:docMk/>
          <pc:sldMk cId="2368805611" sldId="339"/>
        </pc:sldMkLst>
        <pc:picChg chg="add mod">
          <ac:chgData name="Samuel B Fernandes" userId="6d96ad7d-4ada-4a90-936f-060428e74a02" providerId="ADAL" clId="{EBAE36E1-9894-586F-B819-C899ECA05CC1}" dt="2026-03-18T14:27:51.340" v="10" actId="571"/>
          <ac:picMkLst>
            <pc:docMk/>
            <pc:sldMk cId="2368805611" sldId="339"/>
            <ac:picMk id="3" creationId="{64C7DA5F-E06E-DD1A-7011-DA0942FD7000}"/>
          </ac:picMkLst>
        </pc:picChg>
        <pc:picChg chg="mod modCrop">
          <ac:chgData name="Samuel B Fernandes" userId="6d96ad7d-4ada-4a90-936f-060428e74a02" providerId="ADAL" clId="{EBAE36E1-9894-586F-B819-C899ECA05CC1}" dt="2026-03-18T14:23:17.370" v="0" actId="732"/>
          <ac:picMkLst>
            <pc:docMk/>
            <pc:sldMk cId="2368805611" sldId="339"/>
            <ac:picMk id="7" creationId="{F3CC61DB-87FE-BE0A-82EC-4FF18C7E8C7A}"/>
          </ac:picMkLst>
        </pc:picChg>
        <pc:picChg chg="mod">
          <ac:chgData name="Samuel B Fernandes" userId="6d96ad7d-4ada-4a90-936f-060428e74a02" providerId="ADAL" clId="{EBAE36E1-9894-586F-B819-C899ECA05CC1}" dt="2026-03-18T14:27:53.567" v="11" actId="1076"/>
          <ac:picMkLst>
            <pc:docMk/>
            <pc:sldMk cId="2368805611" sldId="339"/>
            <ac:picMk id="8" creationId="{DEB5DCAA-3DDD-E994-6F54-1BB415317D3B}"/>
          </ac:picMkLst>
        </pc:picChg>
      </pc:sldChg>
      <pc:sldChg chg="addSp delSp modSp mod delAnim modAnim">
        <pc:chgData name="Samuel B Fernandes" userId="6d96ad7d-4ada-4a90-936f-060428e74a02" providerId="ADAL" clId="{EBAE36E1-9894-586F-B819-C899ECA05CC1}" dt="2026-03-18T14:26:35.918" v="8" actId="14100"/>
        <pc:sldMkLst>
          <pc:docMk/>
          <pc:sldMk cId="3125389724" sldId="340"/>
        </pc:sldMkLst>
        <pc:spChg chg="add mod">
          <ac:chgData name="Samuel B Fernandes" userId="6d96ad7d-4ada-4a90-936f-060428e74a02" providerId="ADAL" clId="{EBAE36E1-9894-586F-B819-C899ECA05CC1}" dt="2026-03-18T14:26:35.918" v="8" actId="14100"/>
          <ac:spMkLst>
            <pc:docMk/>
            <pc:sldMk cId="3125389724" sldId="340"/>
            <ac:spMk id="3" creationId="{A22FB829-1BD1-BA23-CD51-B95CF0C43677}"/>
          </ac:spMkLst>
        </pc:spChg>
        <pc:spChg chg="del">
          <ac:chgData name="Samuel B Fernandes" userId="6d96ad7d-4ada-4a90-936f-060428e74a02" providerId="ADAL" clId="{EBAE36E1-9894-586F-B819-C899ECA05CC1}" dt="2026-03-18T14:25:50.125" v="3" actId="478"/>
          <ac:spMkLst>
            <pc:docMk/>
            <pc:sldMk cId="3125389724" sldId="340"/>
            <ac:spMk id="9" creationId="{D46063EA-2F8A-6BDB-2D61-83BBC5B3DF7A}"/>
          </ac:spMkLst>
        </pc:spChg>
        <pc:spChg chg="del">
          <ac:chgData name="Samuel B Fernandes" userId="6d96ad7d-4ada-4a90-936f-060428e74a02" providerId="ADAL" clId="{EBAE36E1-9894-586F-B819-C899ECA05CC1}" dt="2026-03-18T14:25:50.125" v="3" actId="478"/>
          <ac:spMkLst>
            <pc:docMk/>
            <pc:sldMk cId="3125389724" sldId="340"/>
            <ac:spMk id="10" creationId="{AAC886C9-5FF3-8CC5-FE5F-3BE93F36E1DE}"/>
          </ac:spMkLst>
        </pc:spChg>
        <pc:picChg chg="del mod">
          <ac:chgData name="Samuel B Fernandes" userId="6d96ad7d-4ada-4a90-936f-060428e74a02" providerId="ADAL" clId="{EBAE36E1-9894-586F-B819-C899ECA05CC1}" dt="2026-03-18T14:25:44.197" v="2" actId="478"/>
          <ac:picMkLst>
            <pc:docMk/>
            <pc:sldMk cId="3125389724" sldId="340"/>
            <ac:picMk id="7" creationId="{D05B629F-4C08-1742-A46B-20F65359B966}"/>
          </ac:picMkLst>
        </pc:picChg>
        <pc:picChg chg="del">
          <ac:chgData name="Samuel B Fernandes" userId="6d96ad7d-4ada-4a90-936f-060428e74a02" providerId="ADAL" clId="{EBAE36E1-9894-586F-B819-C899ECA05CC1}" dt="2026-03-18T14:25:50.125" v="3" actId="478"/>
          <ac:picMkLst>
            <pc:docMk/>
            <pc:sldMk cId="3125389724" sldId="340"/>
            <ac:picMk id="8" creationId="{EEAF26F3-CE1C-F488-603E-C0B96421FDB3}"/>
          </ac:picMkLst>
        </pc:picChg>
      </pc:sldChg>
      <pc:sldChg chg="delSp mod delAnim">
        <pc:chgData name="Samuel B Fernandes" userId="6d96ad7d-4ada-4a90-936f-060428e74a02" providerId="ADAL" clId="{EBAE36E1-9894-586F-B819-C899ECA05CC1}" dt="2026-03-18T14:29:15.990" v="12" actId="478"/>
        <pc:sldMkLst>
          <pc:docMk/>
          <pc:sldMk cId="1850176916" sldId="342"/>
        </pc:sldMkLst>
        <pc:picChg chg="del">
          <ac:chgData name="Samuel B Fernandes" userId="6d96ad7d-4ada-4a90-936f-060428e74a02" providerId="ADAL" clId="{EBAE36E1-9894-586F-B819-C899ECA05CC1}" dt="2026-03-18T14:29:15.990" v="12" actId="478"/>
          <ac:picMkLst>
            <pc:docMk/>
            <pc:sldMk cId="1850176916" sldId="342"/>
            <ac:picMk id="6" creationId="{17D6F3F3-9E14-3AAD-206B-14A38E709A25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76F276-EE6D-DF4F-8392-FA3E83168DD8}" type="datetimeFigureOut">
              <a:rPr lang="en-US" smtClean="0"/>
              <a:t>3/18/26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6435B9D-3EDA-0B44-BE90-13B8E384F9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21075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435B9D-3EDA-0B44-BE90-13B8E384F9BE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220428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435B9D-3EDA-0B44-BE90-13B8E384F9BE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550021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435B9D-3EDA-0B44-BE90-13B8E384F9BE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795317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435B9D-3EDA-0B44-BE90-13B8E384F9BE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94752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rgbClr val="A2D9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D6C9F5-46A5-E653-ACEB-98E3E8BCA1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818A73D-E705-8722-ABD6-4C3DC95779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E43EEB-BF3C-0C38-567A-EE22C3EB8D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1399A-5209-EB4E-8D86-43B52F9A823B}" type="datetimeFigureOut">
              <a:rPr lang="en-US" smtClean="0"/>
              <a:t>3/18/26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E05733-F42D-587B-A3E9-FAADA814FF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9F5F9E-66CF-FD89-ADA5-7DFF8F1BD7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41AA28-2B82-134A-9AA5-8F4AA40272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39707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77E441-6BD7-0ECB-9CFF-B3E2CDF770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0D85AD-9B07-A82C-4456-4B0978DF32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882FD0-AC30-733B-65D7-42BC9B78DD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1399A-5209-EB4E-8D86-43B52F9A823B}" type="datetimeFigureOut">
              <a:rPr lang="en-US" smtClean="0"/>
              <a:t>3/18/26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0EFF81-D8DB-8EF2-26B2-DEDF59651D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4AF5FB-E667-C6C6-9BAA-2D7779D8E4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41AA28-2B82-134A-9AA5-8F4AA40272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29588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3877C2-8C0C-CED4-2C3D-DC9A27B273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3ED89E-02F7-2213-D1E7-DA79F625A0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C65A36-7990-B9CD-BFAF-59603572CD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1399A-5209-EB4E-8D86-43B52F9A823B}" type="datetimeFigureOut">
              <a:rPr lang="en-US" smtClean="0"/>
              <a:t>3/18/26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948799-DFB5-F958-59AC-F4395C8D6A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E58546-3C9B-5272-BED6-9863BF3D97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41AA28-2B82-134A-9AA5-8F4AA40272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52483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417884-3EF4-7C0C-C0F0-C89E4705DA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74C622-5669-D61A-4BA7-8C841C053CD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1514FC-7BA8-A86E-E1F6-C9C78AD432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3EC73C-9134-2336-771D-626E6273A1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1399A-5209-EB4E-8D86-43B52F9A823B}" type="datetimeFigureOut">
              <a:rPr lang="en-US" smtClean="0"/>
              <a:t>3/18/26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8D6D73-F61F-BBA0-2B42-B394CFAD1B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3B3EC6-87AA-2BAF-B417-3B7322FFA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41AA28-2B82-134A-9AA5-8F4AA40272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86286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853C3B-289F-A2BD-756F-E3DE140EC0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EA9B30-5D19-50A3-7E96-9C7F090E9F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4D31310-634C-1E53-9F48-FE9AF1104B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58B293D-0718-487B-F8BF-3D7C46E3C43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EBA86BE-3680-095B-ABCC-4C738869655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62D3D9B-9CBF-A94E-6C16-ADB235B3B8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1399A-5209-EB4E-8D86-43B52F9A823B}" type="datetimeFigureOut">
              <a:rPr lang="en-US" smtClean="0"/>
              <a:t>3/18/26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797E7B1-A571-70A9-8D8D-226AFC65C6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7B4F61C-E138-EABD-149F-085314F1B9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41AA28-2B82-134A-9AA5-8F4AA40272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40315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1A1C6D-D7F2-0C84-3F85-39F036ADA1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E28DE3-67E5-9048-7222-7E2F00AB47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1399A-5209-EB4E-8D86-43B52F9A823B}" type="datetimeFigureOut">
              <a:rPr lang="en-US" smtClean="0"/>
              <a:t>3/18/26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A85064C-B08A-7C41-D193-B885D3D64C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C2875FA-D5F3-4CC0-468D-E437334D23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41AA28-2B82-134A-9AA5-8F4AA40272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42674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DBC8E29-A532-A4CD-6681-1996D63792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1399A-5209-EB4E-8D86-43B52F9A823B}" type="datetimeFigureOut">
              <a:rPr lang="en-US" smtClean="0"/>
              <a:t>3/18/26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ABECE6-813E-63D5-980D-78EE0965E4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C56F51-1710-F337-9CD2-D879676EE7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41AA28-2B82-134A-9AA5-8F4AA40272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23662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DC4F62-4911-E925-4BB6-C9EB17379E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B2E16F-93E1-CB4C-34F3-37E8A9F439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C0CC38-AE8A-6866-52E4-7A672074FE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DA3583-CA7E-E3ED-B59E-1C6757C065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1399A-5209-EB4E-8D86-43B52F9A823B}" type="datetimeFigureOut">
              <a:rPr lang="en-US" smtClean="0"/>
              <a:t>3/18/26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D924C6-E994-45B4-275B-9DC613B13C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6B10EA-A019-90CF-D6D5-56E93C5A0F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41AA28-2B82-134A-9AA5-8F4AA40272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12252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592496-3C36-F69C-1DAC-A9C08487A4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203F93A-8BE5-4BF6-786F-F4260C6DECD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295FF9-DB0F-D67B-33DE-5DC9F2A53F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1A3AD1-29CD-3EEB-E109-802D19329D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1399A-5209-EB4E-8D86-43B52F9A823B}" type="datetimeFigureOut">
              <a:rPr lang="en-US" smtClean="0"/>
              <a:t>3/18/26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C5F187-76B5-C72E-080C-AB66C3B23D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B19D24-7EA0-8C42-7CA0-ED5C815993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41AA28-2B82-134A-9AA5-8F4AA40272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57378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BE508E-BF84-2AD1-BA10-960B878582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DD1C68A-979D-A4FA-948F-CA98958B86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CC600E-B5D6-C0A3-C323-DA78E18683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1399A-5209-EB4E-8D86-43B52F9A823B}" type="datetimeFigureOut">
              <a:rPr lang="en-US" smtClean="0"/>
              <a:t>3/18/26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945821-134F-9EDC-BFCC-192D192F57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82C268-062F-5CAA-9750-AA507AC6A7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41AA28-2B82-134A-9AA5-8F4AA40272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33844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552EB96-BEB0-FBB0-B366-CE26CA86F84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4DA2736-26C5-9EA6-9864-7D814B99EA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1EC0A9-5C86-DBDC-82D3-3F45CFFD6B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1399A-5209-EB4E-8D86-43B52F9A823B}" type="datetimeFigureOut">
              <a:rPr lang="en-US" smtClean="0"/>
              <a:t>3/18/26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5FCC23-3A20-12BC-3AA3-D4023D46DA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92EF4D-A3D2-63D8-8EC2-6A6D8688C0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41AA28-2B82-134A-9AA5-8F4AA40272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14374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2D9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8081CB6-BF24-BC74-3EEA-5896BC9122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89A131-00FF-7B74-AFB9-D3922CB2FC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5DC1C6-B3A4-1D64-CE8C-F7D6B749532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51399A-5209-EB4E-8D86-43B52F9A823B}" type="datetimeFigureOut">
              <a:rPr lang="en-US" smtClean="0"/>
              <a:t>3/18/26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42A13B-57FE-44A8-3DBB-60FBC9C2ED3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9D596A-5314-C5B6-EE69-4BA3E5A482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41AA28-2B82-134A-9AA5-8F4AA40272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96291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Helvetica" pitchFamily="2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Helvetica" pitchFamily="2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Helvetica" pitchFamily="2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Helvetica" pitchFamily="2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Helvetica" pitchFamily="2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Helvetica" pitchFamily="2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hyperlink" Target="mailto:samuelbf@uark.edu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vsni.co.uk/blogs/the-great-debate-fixed-vs-random-blocks-in-experimental-design/" TargetMode="External"/><Relationship Id="rId2" Type="http://schemas.openxmlformats.org/officeDocument/2006/relationships/hyperlink" Target="https://schmidtpaul.github.io/MMFAIR/index.html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FAFD8B-91DA-157E-01E6-E68C0246D4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5211" y="3764129"/>
            <a:ext cx="10916365" cy="1637306"/>
          </a:xfrm>
        </p:spPr>
        <p:txBody>
          <a:bodyPr>
            <a:normAutofit fontScale="90000"/>
          </a:bodyPr>
          <a:lstStyle/>
          <a:p>
            <a:r>
              <a:rPr lang="en-US" b="1" i="0" dirty="0">
                <a:solidFill>
                  <a:schemeClr val="bg2">
                    <a:lumMod val="25000"/>
                  </a:schemeClr>
                </a:solidFill>
                <a:effectLst/>
                <a:latin typeface="Helvetica" pitchFamily="2" charset="0"/>
              </a:rPr>
              <a:t>AGST  50104</a:t>
            </a:r>
            <a:br>
              <a:rPr lang="en-US" b="1" i="0" dirty="0">
                <a:solidFill>
                  <a:schemeClr val="bg2">
                    <a:lumMod val="25000"/>
                  </a:schemeClr>
                </a:solidFill>
                <a:effectLst/>
                <a:latin typeface="Helvetica" pitchFamily="2" charset="0"/>
              </a:rPr>
            </a:br>
            <a:r>
              <a:rPr lang="en-US" b="1" i="0" dirty="0">
                <a:solidFill>
                  <a:schemeClr val="bg2">
                    <a:lumMod val="25000"/>
                  </a:schemeClr>
                </a:solidFill>
                <a:effectLst/>
                <a:latin typeface="Helvetica" pitchFamily="2" charset="0"/>
              </a:rPr>
              <a:t> Experimental Design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009207E-67F5-6F20-4B70-1C5C3B9814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67688" y="5401435"/>
            <a:ext cx="9653792" cy="814809"/>
          </a:xfrm>
        </p:spPr>
        <p:txBody>
          <a:bodyPr>
            <a:normAutofit fontScale="92500"/>
          </a:bodyPr>
          <a:lstStyle/>
          <a:p>
            <a:pPr>
              <a:lnSpc>
                <a:spcPct val="110000"/>
              </a:lnSpc>
            </a:pPr>
            <a:r>
              <a:rPr lang="en-US" b="0" i="0">
                <a:solidFill>
                  <a:schemeClr val="bg2">
                    <a:lumMod val="25000"/>
                  </a:schemeClr>
                </a:solidFill>
                <a:effectLst/>
                <a:latin typeface="Helvetica" pitchFamily="2" charset="0"/>
              </a:rPr>
              <a:t>Samuel B. Fernandes, Ph.D.</a:t>
            </a:r>
            <a:br>
              <a:rPr lang="en-US">
                <a:solidFill>
                  <a:schemeClr val="bg2">
                    <a:lumMod val="25000"/>
                  </a:schemeClr>
                </a:solidFill>
                <a:latin typeface="Helvetica" pitchFamily="2" charset="0"/>
              </a:rPr>
            </a:br>
            <a:r>
              <a:rPr lang="en-US" b="0" i="0">
                <a:solidFill>
                  <a:schemeClr val="bg2">
                    <a:lumMod val="25000"/>
                  </a:schemeClr>
                </a:solidFill>
                <a:effectLst/>
                <a:latin typeface="Helvetica" pitchFamily="2" charset="0"/>
              </a:rPr>
              <a:t>E-mail: </a:t>
            </a:r>
            <a:r>
              <a:rPr lang="en-US" b="0" i="0" u="none" strike="noStrike">
                <a:solidFill>
                  <a:schemeClr val="bg2">
                    <a:lumMod val="25000"/>
                  </a:schemeClr>
                </a:solidFill>
                <a:effectLst/>
                <a:latin typeface="Helvetica" pitchFamily="2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samuelbf@uark.edu</a:t>
            </a:r>
            <a:endParaRPr lang="en-US">
              <a:solidFill>
                <a:schemeClr val="bg2">
                  <a:lumMod val="25000"/>
                </a:schemeClr>
              </a:solidFill>
              <a:latin typeface="Helvetica" pitchFamily="2" charset="0"/>
            </a:endParaRPr>
          </a:p>
        </p:txBody>
      </p:sp>
      <p:pic>
        <p:nvPicPr>
          <p:cNvPr id="7" name="Graphic 6" descr="Test Plan">
            <a:extLst>
              <a:ext uri="{FF2B5EF4-FFF2-40B4-BE49-F238E27FC236}">
                <a16:creationId xmlns:a16="http://schemas.microsoft.com/office/drawing/2014/main" id="{DF8DBBA5-BA5F-3617-3EC1-B8CEE4F602D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836412" y="932016"/>
            <a:ext cx="2506511" cy="2506511"/>
          </a:xfrm>
          <a:prstGeom prst="roundRect">
            <a:avLst>
              <a:gd name="adj" fmla="val 5301"/>
            </a:avLst>
          </a:prstGeom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3667987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87E98-EBBE-81E9-F247-ACAA10E482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of ANOVA vs LMM</a:t>
            </a:r>
          </a:p>
        </p:txBody>
      </p:sp>
      <p:pic>
        <p:nvPicPr>
          <p:cNvPr id="5" name="Content Placeholder 4" descr="A group of colorful lines&#10;&#10;AI-generated content may be incorrect.">
            <a:extLst>
              <a:ext uri="{FF2B5EF4-FFF2-40B4-BE49-F238E27FC236}">
                <a16:creationId xmlns:a16="http://schemas.microsoft.com/office/drawing/2014/main" id="{A6507DEA-21C2-1E70-B259-A47E58315B0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35727" y="1529216"/>
            <a:ext cx="6110185" cy="5125132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CD3F1C3-3F6D-4041-86B7-A18B17D9D9E3}"/>
              </a:ext>
            </a:extLst>
          </p:cNvPr>
          <p:cNvSpPr txBox="1"/>
          <p:nvPr/>
        </p:nvSpPr>
        <p:spPr>
          <a:xfrm>
            <a:off x="8645912" y="6492875"/>
            <a:ext cx="2405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Evangelista et al. (2023)</a:t>
            </a:r>
          </a:p>
        </p:txBody>
      </p:sp>
    </p:spTree>
    <p:extLst>
      <p:ext uri="{BB962C8B-B14F-4D97-AF65-F5344CB8AC3E}">
        <p14:creationId xmlns:p14="http://schemas.microsoft.com/office/powerpoint/2010/main" val="36624174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0B81BF-BD70-D740-2F3B-084A9F901D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8978" y="365125"/>
            <a:ext cx="10924822" cy="1325563"/>
          </a:xfrm>
        </p:spPr>
        <p:txBody>
          <a:bodyPr/>
          <a:lstStyle/>
          <a:p>
            <a:r>
              <a:rPr lang="en-US" dirty="0"/>
              <a:t>Variance Estimation (ANOVA vs ML/</a:t>
            </a:r>
            <a:r>
              <a:rPr lang="en-US" b="1" dirty="0"/>
              <a:t>REML</a:t>
            </a:r>
            <a:r>
              <a:rPr lang="en-US" dirty="0"/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4615F0-BDED-C617-19CF-AE9E17A339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Using ANOVA to estimate variances, all of the assumptions still hold.</a:t>
            </a:r>
          </a:p>
          <a:p>
            <a:r>
              <a:rPr lang="en-US" dirty="0"/>
              <a:t>Negative variances (&lt;10 levels)</a:t>
            </a:r>
          </a:p>
          <a:p>
            <a:r>
              <a:rPr lang="en-US" dirty="0"/>
              <a:t>ML and REML don’t generate negative variances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79B5907-EDB0-0610-4C94-12C5A7DB56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6172" y="3654874"/>
            <a:ext cx="7772400" cy="25220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41071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76D686-673B-7E6F-473C-75FED2D093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With balanced data: REML = ANOVA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BC6B6A4-AA38-B60C-72F7-26A4563427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3712777"/>
            <a:ext cx="7772400" cy="152689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D835185-159E-0A89-5124-6E1F43F9C3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1712148"/>
            <a:ext cx="6007100" cy="1917700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F4108601-4134-B30B-9CEA-24B192C0732A}"/>
              </a:ext>
            </a:extLst>
          </p:cNvPr>
          <p:cNvGrpSpPr/>
          <p:nvPr/>
        </p:nvGrpSpPr>
        <p:grpSpPr>
          <a:xfrm>
            <a:off x="8025087" y="2040241"/>
            <a:ext cx="3835400" cy="2063705"/>
            <a:chOff x="7793859" y="2796986"/>
            <a:chExt cx="3835400" cy="2063705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0D5E1495-19C8-DDA9-4772-901F9D51E97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793859" y="2796986"/>
              <a:ext cx="3835400" cy="1181100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F0E95C7E-E1CC-3358-2008-896A7B0B5B7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9129329" y="4073291"/>
              <a:ext cx="1981200" cy="7874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4351840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77D79E5-B843-5649-A3A1-C7234CB430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756" y="1582463"/>
            <a:ext cx="6540500" cy="11049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B92FC89A-62B8-3548-BDF4-279D373003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With balanced data: REML = ANOVA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CFCD458-D21C-2E66-3DB0-586D5AE809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756" y="2687363"/>
            <a:ext cx="6087899" cy="4164806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8AD5B1E6-313D-263E-DD9E-58439C27F9CB}"/>
              </a:ext>
            </a:extLst>
          </p:cNvPr>
          <p:cNvGrpSpPr/>
          <p:nvPr/>
        </p:nvGrpSpPr>
        <p:grpSpPr>
          <a:xfrm>
            <a:off x="6833256" y="1906313"/>
            <a:ext cx="5242566" cy="4127171"/>
            <a:chOff x="6833256" y="1906313"/>
            <a:chExt cx="5242566" cy="4127171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EFAD7024-B775-8CA0-18EC-A941321C9B2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238344" y="1906313"/>
              <a:ext cx="4660900" cy="1562100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7ECEB38F-1ABA-D125-D38F-E49D57F9824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833256" y="4025462"/>
              <a:ext cx="5242566" cy="200802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9326318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C37D89-D7D1-C77C-2A0F-5BE4484E7C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 considerations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F8041E-6A2B-0060-1357-08E2F0753F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Confidence interval very similar with DF &gt;45</a:t>
            </a:r>
          </a:p>
          <a:p>
            <a:r>
              <a:rPr lang="en-US" i="1" dirty="0"/>
              <a:t>a</a:t>
            </a:r>
            <a:r>
              <a:rPr lang="en-US" baseline="-25000" dirty="0"/>
              <a:t>i</a:t>
            </a:r>
            <a:r>
              <a:rPr lang="en-US" dirty="0"/>
              <a:t>, </a:t>
            </a:r>
            <a:r>
              <a:rPr lang="en-US" i="1" dirty="0" err="1"/>
              <a:t>b</a:t>
            </a:r>
            <a:r>
              <a:rPr lang="en-US" baseline="-25000" dirty="0" err="1"/>
              <a:t>j</a:t>
            </a:r>
            <a:r>
              <a:rPr lang="en-US" dirty="0"/>
              <a:t>, and </a:t>
            </a:r>
            <a:r>
              <a:rPr lang="en-US" i="1" dirty="0" err="1"/>
              <a:t>ab</a:t>
            </a:r>
            <a:r>
              <a:rPr lang="en-US" baseline="-25000" dirty="0" err="1"/>
              <a:t>ij</a:t>
            </a:r>
            <a:r>
              <a:rPr lang="en-US" dirty="0"/>
              <a:t> are assumed to be independent</a:t>
            </a:r>
          </a:p>
          <a:p>
            <a:endParaRPr lang="en-US" dirty="0"/>
          </a:p>
          <a:p>
            <a:endParaRPr lang="en-US" dirty="0"/>
          </a:p>
          <a:p>
            <a:r>
              <a:rPr lang="en-US" b="1" dirty="0"/>
              <a:t>If either </a:t>
            </a:r>
            <a:r>
              <a:rPr lang="en-US" b="1" i="1" dirty="0"/>
              <a:t>a</a:t>
            </a:r>
            <a:r>
              <a:rPr lang="en-US" b="1" baseline="-25000" dirty="0"/>
              <a:t>i </a:t>
            </a:r>
            <a:r>
              <a:rPr lang="en-US" b="1" dirty="0"/>
              <a:t>or </a:t>
            </a:r>
            <a:r>
              <a:rPr lang="en-US" b="1" i="1" dirty="0" err="1"/>
              <a:t>b</a:t>
            </a:r>
            <a:r>
              <a:rPr lang="en-US" b="1" baseline="-25000" dirty="0" err="1"/>
              <a:t>j</a:t>
            </a:r>
            <a:r>
              <a:rPr lang="en-US" b="1" dirty="0"/>
              <a:t> is random </a:t>
            </a:r>
            <a:r>
              <a:rPr lang="en-US" b="1" i="1" dirty="0" err="1"/>
              <a:t>ab</a:t>
            </a:r>
            <a:r>
              <a:rPr lang="en-US" b="1" baseline="-25000" dirty="0" err="1"/>
              <a:t>ij</a:t>
            </a:r>
            <a:r>
              <a:rPr lang="en-US" b="1" dirty="0"/>
              <a:t> will be random as well.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FEEEBFB-92C2-3354-9BE9-9A52ACD0DF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7937" y="2955538"/>
            <a:ext cx="7340600" cy="7239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C8108F1-CF84-1C8E-AD30-2691028B0B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3837" y="4809351"/>
            <a:ext cx="4292600" cy="66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80641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3E889A-9F46-A9DF-CD41-8AAF6BA3B0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Interaction vs nesting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C0A585F-78B5-B7F3-1689-BDAC851D4B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8697" y="2004579"/>
            <a:ext cx="3289300" cy="3937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7566CC3-507F-677F-33CD-65A5DF997C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07456" y="1642858"/>
            <a:ext cx="7239000" cy="21209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D480845-C4B2-65C5-E1D6-B6828BF6328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8697" y="2598197"/>
            <a:ext cx="4292600" cy="4572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A22FB829-1BD1-BA23-CD51-B95CF0C43677}"/>
              </a:ext>
            </a:extLst>
          </p:cNvPr>
          <p:cNvSpPr/>
          <p:nvPr/>
        </p:nvSpPr>
        <p:spPr>
          <a:xfrm>
            <a:off x="4907456" y="1597531"/>
            <a:ext cx="7239000" cy="40704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53897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FB5C84-6FD0-3972-B8E5-59F02A1412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Selection (AIC/BIC)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9ED1B111-43C1-2E48-E701-C6F7576297B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090791" y="3817329"/>
            <a:ext cx="8104509" cy="654309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7976EA19-60CE-DF10-C9FB-E0818BB0BD4F}"/>
              </a:ext>
            </a:extLst>
          </p:cNvPr>
          <p:cNvGrpSpPr/>
          <p:nvPr/>
        </p:nvGrpSpPr>
        <p:grpSpPr>
          <a:xfrm>
            <a:off x="604333" y="1690688"/>
            <a:ext cx="3162300" cy="4621212"/>
            <a:chOff x="604333" y="1690688"/>
            <a:chExt cx="3162300" cy="4621212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78C117CA-AF0E-C895-5C3D-C40637E01CA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07431" y="1690688"/>
              <a:ext cx="2413000" cy="800100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93DF5AA9-1C95-2CCA-34AC-93E97586BF2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04333" y="2705100"/>
              <a:ext cx="3162300" cy="3606800"/>
            </a:xfrm>
            <a:prstGeom prst="rect">
              <a:avLst/>
            </a:prstGeom>
          </p:spPr>
        </p:pic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F3CC61DB-87FE-BE0A-82EC-4FF18C7E8C7A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39444"/>
          <a:stretch>
            <a:fillRect/>
          </a:stretch>
        </p:blipFill>
        <p:spPr>
          <a:xfrm>
            <a:off x="4090792" y="2490788"/>
            <a:ext cx="7099603" cy="61417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EB5DCAA-3DDD-E994-6F54-1BB415317D3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90791" y="3257151"/>
            <a:ext cx="7740652" cy="34369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50F8E14-4834-38F1-B39B-92904F7C7C0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090791" y="4650600"/>
            <a:ext cx="2019300" cy="106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88056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883E4E-E494-508F-D90B-AC6ED97B1C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96D6941-7261-26A5-0E75-4AEE6B06112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4589" y="4867275"/>
            <a:ext cx="3517900" cy="16256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0AA6450-1C1C-39B2-0E32-7259DD5938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589" y="1479936"/>
            <a:ext cx="7772400" cy="28635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01769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D031F5-9A5D-C737-0DA9-E7535C5B71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Extra materials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52EE71-3527-5B28-D8A6-5B47B5F95B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1500"/>
              </a:spcBef>
              <a:spcAft>
                <a:spcPts val="750"/>
              </a:spcAft>
            </a:pPr>
            <a:r>
              <a:rPr lang="en-US" b="0" dirty="0">
                <a:solidFill>
                  <a:srgbClr val="333333"/>
                </a:solidFill>
                <a:effectLst/>
                <a:latin typeface="inherit"/>
              </a:rPr>
              <a:t>Mixed Models for Agriculture in R</a:t>
            </a:r>
            <a:endParaRPr lang="en-US" dirty="0">
              <a:hlinkClick r:id="rId2"/>
            </a:endParaRPr>
          </a:p>
          <a:p>
            <a:pPr marL="0" indent="0">
              <a:buNone/>
            </a:pPr>
            <a:r>
              <a:rPr lang="en-US" dirty="0">
                <a:hlinkClick r:id="rId2"/>
              </a:rPr>
              <a:t>https://schmidtpaul.github.io/MMFAIR/index.html</a:t>
            </a:r>
            <a:endParaRPr lang="en-US" dirty="0"/>
          </a:p>
          <a:p>
            <a:r>
              <a:rPr lang="en-US" b="1" i="0" dirty="0">
                <a:solidFill>
                  <a:srgbClr val="3C4B5F"/>
                </a:solidFill>
                <a:effectLst/>
                <a:latin typeface="var( --e-global-typography-primary-font-family )"/>
              </a:rPr>
              <a:t>The great debate: Fixed vs. random blocks in experimental design</a:t>
            </a:r>
          </a:p>
          <a:p>
            <a:pPr marL="0" indent="0">
              <a:buNone/>
            </a:pPr>
            <a:r>
              <a:rPr lang="en-US" dirty="0">
                <a:hlinkClick r:id="rId3"/>
              </a:rPr>
              <a:t>https://vsni.co.uk/blogs/the-great-debate-fixed-vs-random-blocks-in-experimental-design/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540728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79c742c4-e61c-4fa5-be89-a3cb566a80d1}" enabled="0" method="" siteId="{79c742c4-e61c-4fa5-be89-a3cb566a80d1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13046</TotalTime>
  <Words>179</Words>
  <Application>Microsoft Macintosh PowerPoint</Application>
  <PresentationFormat>Widescreen</PresentationFormat>
  <Paragraphs>28</Paragraphs>
  <Slides>10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Calibri</vt:lpstr>
      <vt:lpstr>Helvetica</vt:lpstr>
      <vt:lpstr>inherit</vt:lpstr>
      <vt:lpstr>var( --e-global-typography-primary-font-family )</vt:lpstr>
      <vt:lpstr>Office Theme</vt:lpstr>
      <vt:lpstr>AGST  50104  Experimental Design</vt:lpstr>
      <vt:lpstr>Example of ANOVA vs LMM</vt:lpstr>
      <vt:lpstr>Variance Estimation (ANOVA vs ML/REML)</vt:lpstr>
      <vt:lpstr>With balanced data: REML = ANOVA</vt:lpstr>
      <vt:lpstr>With balanced data: REML = ANOVA</vt:lpstr>
      <vt:lpstr>Some considerations</vt:lpstr>
      <vt:lpstr>Interaction vs nesting</vt:lpstr>
      <vt:lpstr>Model Selection (AIC/BIC)</vt:lpstr>
      <vt:lpstr>Example</vt:lpstr>
      <vt:lpstr>Extra materials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Review of stats</dc:title>
  <dc:creator>Samuel B Fernandes</dc:creator>
  <cp:lastModifiedBy>Samuel B Fernandes</cp:lastModifiedBy>
  <cp:revision>39</cp:revision>
  <dcterms:created xsi:type="dcterms:W3CDTF">2023-01-21T17:19:51Z</dcterms:created>
  <dcterms:modified xsi:type="dcterms:W3CDTF">2026-03-18T14:29:26Z</dcterms:modified>
</cp:coreProperties>
</file>